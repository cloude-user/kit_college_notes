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Welcome students to Day 5! An AI model living only in a Jupyter Notebook or a terminal CLI is useless to enterprises. Today, we bridge the gap between AI backend intelligence and interactive user reality by mastering modern Web UI and React.js from absolute fundamentals to production streaming architectures.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students through the 3 phases. Emphasize that we will not merely teach abstract frontend theory; every concept is directly tied to what an AI engineer builds: streaming chat windows, parameter sliders, document citation drawers, and agent tool execution logs.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to students why full-stack capability is expected of modern AI engineers. If you build a state-of-the-art LangGraph agent, but cannot give your CEO or product team a responsive web interface to test it, your project remains a demo. React is the global lingua franca for enterprise AI interfaces.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Remind students: Do not build an entire app out of nested &lt;div&gt; elements ('div soup'). Use &lt;main&gt;, &lt;aside&gt;, &lt;article&gt;, and &lt;form&gt;. This is critical because when automated AI agents crawl web pages, semantic HTML allows them to parse DOM structures 10x faster.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Common student mistake: Putting overflow-y: auto on the body tag, which causes the prompt box to scroll off the screen when an LLM writes 1,000 words. Explain why the outer container must be height: 100vh with overflow: hidden, and only the message area has overflow-y: auto.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Review array methods with students. Emphasize that .map() is how React renders lists, and the spread operator (...) is the fundamental building block of immutable state updates. If you mutate state with .push(), React will not re-render!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why we do NOT use response.json(). response.json() waits until the ENTIRE 2,000 word response is finished before resolving. By using response.body.getReader() and TextDecoder, tokens appear on screen in real time with zero delay.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Have students open their browser right now, press F12, and type document.children into the console. Show them that document is literally an object with child nodes. This demystifies the DOM instantly!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Reflow and Repaint. When you append a child, the browser must recalculate where every other element sits. When tokens arrive at 50/sec, doing 50 reflows per second drops the framerate to single digits. This is the exact problem React was created to solve!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Teach the Five-Star Restaurant Kitchen Analogy here! Contrast the DIY Buffet where you manually handle hot pans and move 1000-lb marble tables (Real DOM), versus the 5-Star Restaurant where you just order (State) and the automated kitchen (React Virtual DOM) prepares the dish. Refer to notes file 32 for the full script.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Project this slide and walk through the 4 quadrants! When students understand that the Virtual DOM is just the Expeditor's notepad and useEffect is just calling the fish supplier, all intimidation vanishes.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Emphasize that the React component model directly mirrors modular AI architectures. Just as you build modular LangChain tools and LangGraph nodes, in React you build modular ChatBubble, ModelSlider, and CitationDrawer components.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Highlight the Fiber scheduler. Students often wonder why React doesn't lock up when 100 tokens stream in at once. React Fiber prioritizes user typing over incoming token text nodes so the user experience never feels sluggish.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Emphasize to students: JSX is NOT HTML. It looks like HTML, but under the hood Babel turns &lt;h1&gt;Hello&lt;/h1&gt; into React.createElement('h1', null, 'Hello'). That is why class becomes className, and why any JavaScript logic inside curly braces {} executes directly.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Warn students about style={{ ... }}. The double curly braces look like special syntax, but the outer brace enters JS mode, and the inner brace is a plain JavaScript object literal. Also point out template literals inside className=`msg-card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Tell students: If you search StackOverflow or read code from 2017, you will see class ChatBox extends React.Component. Do NOT write class components in new projects. Functional components with Hooks are faster, have smaller bundle sizes, and eliminate the confusing 'this' keyword.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Props make your frontend modular. You write one ParameterSlider component, and use it 3 times: for Temperature, Top-P, and Presence Penalty simply by passing different props. Show students how onChange callbacks are passed as props.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Show the Shift+Enter pattern! Every student who builds an AI chatbot wants Shift+Enter to create a new line while Enter sends the message. Walk them through e.key === 'Enter' &amp;&amp; !e.shiftKey.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#1 bug AI engineers run into when streaming tokens into React. If they write setMsg(msg + chunk), chunks arrive faster than React finishes rendering, causing dropped tokens. By using setMsg(prev =&gt; prev + chunk), every single token is guaranteed to append in order.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Warn students about the {count &amp;&amp; &lt;Component /&gt;} trap in JavaScript! If count is the number 0, JavaScript evaluates 0 as falsy and prints the literal number '0' on screen. Always use {count &gt; 0 &amp;&amp; &lt;Component /&gt;} or Boolean(count).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what happens if someone writes key={Math.random()} inside the map(): On EVERY token arrival, Math.random() changes, forcing React to destroy the entire DOM tree and recreate it from scratch. This causes blinking and 100% CPU spikes.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Demonstrate the computed property name pattern: [field]: value. Instead of creating 5 different onChange handlers for 5 inputs, one unified handleChange function handles all form controls immutably.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Emphasize the definition of side effects. Pure rendering in React should only compute JSX from props and state. Any network calls (calling FastAPI, establishing WebSockets) or browser API touches MUST live inside useEffect.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underlying linked list mechanics. React knows that hook #1 is useState for prompt, and hook #2 is useState for loading. If an if-statement skips hook #1, React mistakenly assigns prompt data to loading! That is why top-level invocation is non-negotiable.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Stress the importance of the cleanup return function. If a user navigates away from a chat page while an LLM is streaming 1,000 tokens, without controller.abort() the backend keeps burning API tokens and the browser attempts to update state on an unmounted component.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through how useContext solves the 'pass-the-parcel' problem. Without Context, if App has the model config and a deep PromptButton 6 levels down needs it, you have to pass config through 5 intermediate components that don't care about it. Context broadcasts it globally.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crucial distinction: useState is for values you WANT the user to see change on screen (prompt text, messages). useRef is for values behind the scenes that should NOT trigger a screen repaint (DOM node handles, timers).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Remind students: useMemo caches a calculated VALUE. useCallback caches a FUNCTION instance. Both exist for one reason: avoiding unnecessary work when other unrelated state variables update.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through the diagram: MessageList needs the messages to display them. PromptBar creates the new message. They are siblings! How do they talk? They cannot talk sideways. You lift the messages state to AIChatApp, which passes the array down to MessageList and passes handleSend down to PromptBar.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students through the assistant placeholder pattern: Notice we append an empty assistant message { id, role: 'assistant', text: '' } BEFORE the loop starts. Then as chunks arrive, we update that specific message by its ID. This delivers a seamless typewriter effect.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Highlight why useDebounce is essential for AI engineers: If a user types 'financial compliance audit', that's 26 keystrokes. Without debounce, you send 26 embedding requests to OpenAI! With debounce(400ms), only 1 request is sent when typing pauses.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why Context can cause performance issues in massive AI dashboards: When a Context value changes, EVERY component that consumes that context re-renders, even if it only cared about a tiny property. Redux Toolkit and Zustand allow selective subscriptions.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Show students how every single concept we covered today directly maps to one of these 4 pillars. No theoretical filler. This is what you build when you get hired as a Full-Stack AI Engineer.</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table is the cheat sheet for students. Whenever someone asks 'Why do I need to learn Controlled Components or useRef?', point them directly to this slide.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Congratulations to the students for completing Day 5 theory! Next, open the hands_on_labs directory and run lab 01, 02 and 06 to test the interactive streaming chat application live in the browser.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731520" y="1188720"/>
            <a:ext cx="109728" cy="4297680"/>
          </a:xfrm>
          <a:prstGeom prst="rect">
            <a:avLst/>
          </a:prstGeom>
          <a:solidFill>
            <a:srgbClr val="0B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332720" cy="4480560"/>
          </a:xfrm>
          <a:prstGeom prst="rect">
            <a:avLst/>
          </a:prstGeom>
          <a:noFill/>
        </p:spPr>
        <p:txBody>
          <a:bodyPr wrap="square">
            <a:spAutoFit/>
          </a:bodyPr>
          <a:lstStyle/>
          <a:p>
            <a:pPr>
              <a:spcAft>
                <a:spcPts val="600"/>
              </a:spcAft>
              <a:defRPr sz="1100" b="1">
                <a:solidFill>
                  <a:srgbClr val="0052CC"/>
                </a:solidFill>
                <a:latin typeface="Segoe UI" panose="020B0502040204020203"/>
              </a:defRPr>
            </a:pPr>
            <a:r>
              <a:t>FULL-STACK AI PRODUCT ENGINEERING · DAY 5</a:t>
            </a:r>
          </a:p>
          <a:p>
            <a:pPr>
              <a:spcAft>
                <a:spcPts val="800"/>
              </a:spcAft>
              <a:defRPr sz="3600" b="1">
                <a:solidFill>
                  <a:srgbClr val="0B5C9E"/>
                </a:solidFill>
                <a:latin typeface="Segoe UI" panose="020B0502040204020203"/>
              </a:defRPr>
            </a:pPr>
            <a:r>
              <a:t>Modern Web UI &amp; React.js for AI Engineers</a:t>
            </a:r>
          </a:p>
          <a:p>
            <a:pPr>
              <a:spcAft>
                <a:spcPts val="2200"/>
              </a:spcAft>
              <a:defRPr sz="1600" b="1">
                <a:solidFill>
                  <a:srgbClr val="334155"/>
                </a:solidFill>
                <a:latin typeface="Segoe UI" panose="020B0502040204020203"/>
              </a:defRPr>
            </a:pPr>
            <a:r>
              <a:t>From HTML/CSS/DOM Internals &amp; Virtual DOM to Streaming LLM Chatbots, Custom Hooks &amp; Redux Architecture</a:t>
            </a:r>
          </a:p>
        </p:txBody>
      </p:sp>
      <p:sp>
        <p:nvSpPr>
          <p:cNvPr id="4" name="Rounded Rectangle 3"/>
          <p:cNvSpPr/>
          <p:nvPr/>
        </p:nvSpPr>
        <p:spPr>
          <a:xfrm>
            <a:off x="1097280" y="3931920"/>
            <a:ext cx="2103120" cy="384048"/>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B5C9E"/>
                </a:solidFill>
                <a:latin typeface="Segoe UI" panose="020B0502040204020203"/>
              </a:defRPr>
            </a:pPr>
            <a:r>
              <a:t>✓ DOM &amp; Virtual DOM</a:t>
            </a:r>
          </a:p>
        </p:txBody>
      </p:sp>
      <p:sp>
        <p:nvSpPr>
          <p:cNvPr id="5" name="Rounded Rectangle 4"/>
          <p:cNvSpPr/>
          <p:nvPr/>
        </p:nvSpPr>
        <p:spPr>
          <a:xfrm>
            <a:off x="3383280" y="3931920"/>
            <a:ext cx="2103120" cy="384048"/>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16A34A"/>
                </a:solidFill>
                <a:latin typeface="Segoe UI" panose="020B0502040204020203"/>
              </a:defRPr>
            </a:pPr>
            <a:r>
              <a:t>✓ JSX, Props &amp; State</a:t>
            </a:r>
          </a:p>
        </p:txBody>
      </p:sp>
      <p:sp>
        <p:nvSpPr>
          <p:cNvPr id="6" name="Rounded Rectangle 5"/>
          <p:cNvSpPr/>
          <p:nvPr/>
        </p:nvSpPr>
        <p:spPr>
          <a:xfrm>
            <a:off x="5669280" y="3931920"/>
            <a:ext cx="2286000" cy="384048"/>
          </a:xfrm>
          <a:prstGeom prst="roundRect">
            <a:avLst/>
          </a:prstGeom>
          <a:solidFill>
            <a:srgbClr val="FAF5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7C3AED"/>
                </a:solidFill>
                <a:latin typeface="Segoe UI" panose="020B0502040204020203"/>
              </a:defRPr>
            </a:pPr>
            <a:r>
              <a:t>✓ Hooks &amp; Streaming Lifecycle</a:t>
            </a:r>
          </a:p>
        </p:txBody>
      </p:sp>
      <p:sp>
        <p:nvSpPr>
          <p:cNvPr id="7" name="Rounded Rectangle 6"/>
          <p:cNvSpPr/>
          <p:nvPr/>
        </p:nvSpPr>
        <p:spPr>
          <a:xfrm>
            <a:off x="8138160" y="3931920"/>
            <a:ext cx="2286000" cy="384048"/>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EA580C"/>
                </a:solidFill>
                <a:latin typeface="Segoe UI" panose="020B0502040204020203"/>
              </a:defRPr>
            </a:pPr>
            <a:r>
              <a:t>✓ Redux &amp; Agent Dashboards</a:t>
            </a:r>
          </a:p>
        </p:txBody>
      </p:sp>
      <p:pic>
        <p:nvPicPr>
          <p:cNvPr id="8" name="Picture 7" descr="fsm_logo.png"/>
          <p:cNvPicPr>
            <a:picLocks noChangeAspect="1"/>
          </p:cNvPicPr>
          <p:nvPr/>
        </p:nvPicPr>
        <p:blipFill>
          <a:blip r:embed="rId1"/>
          <a:stretch>
            <a:fillRect/>
          </a:stretch>
        </p:blipFill>
        <p:spPr>
          <a:xfrm>
            <a:off x="10058400" y="365760"/>
            <a:ext cx="1463040" cy="738110"/>
          </a:xfrm>
          <a:prstGeom prst="rect">
            <a:avLst/>
          </a:prstGeom>
        </p:spPr>
      </p:pic>
      <p:sp>
        <p:nvSpPr>
          <p:cNvPr id="9" name="Rectangle 8"/>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 of 35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DAY 5 ROADMAP</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Course Contents: 3-5 Hour React &amp; Web UI Masterclass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 of 35</a:t>
            </a:r>
          </a:p>
        </p:txBody>
      </p:sp>
      <p:sp>
        <p:nvSpPr>
          <p:cNvPr id="7" name="Rounded Rectangle 6"/>
          <p:cNvSpPr/>
          <p:nvPr/>
        </p:nvSpPr>
        <p:spPr>
          <a:xfrm>
            <a:off x="731520" y="1234440"/>
            <a:ext cx="3410712" cy="292608"/>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B5C9E"/>
                </a:solidFill>
                <a:latin typeface="Segoe UI" panose="020B0502040204020203"/>
              </a:defRPr>
            </a:pPr>
            <a:r>
              <a:t>PHASE 1: WEB &amp; DOM FOUNDATIONS</a:t>
            </a:r>
          </a:p>
        </p:txBody>
      </p:sp>
      <p:sp>
        <p:nvSpPr>
          <p:cNvPr id="8" name="Oval 7"/>
          <p:cNvSpPr/>
          <p:nvPr/>
        </p:nvSpPr>
        <p:spPr>
          <a:xfrm>
            <a:off x="749808" y="164592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a:t>
            </a:r>
          </a:p>
        </p:txBody>
      </p:sp>
      <p:sp>
        <p:nvSpPr>
          <p:cNvPr id="9" name="TextBox 8"/>
          <p:cNvSpPr txBox="1"/>
          <p:nvPr/>
        </p:nvSpPr>
        <p:spPr>
          <a:xfrm>
            <a:off x="1115568" y="162763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Why Web UI Matters for AI Engineers: Beyond Terminal CLIs</a:t>
            </a:r>
          </a:p>
        </p:txBody>
      </p:sp>
      <p:sp>
        <p:nvSpPr>
          <p:cNvPr id="10" name="Oval 9"/>
          <p:cNvSpPr/>
          <p:nvPr/>
        </p:nvSpPr>
        <p:spPr>
          <a:xfrm>
            <a:off x="749808" y="214884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a:t>
            </a:r>
          </a:p>
        </p:txBody>
      </p:sp>
      <p:sp>
        <p:nvSpPr>
          <p:cNvPr id="11" name="TextBox 10"/>
          <p:cNvSpPr txBox="1"/>
          <p:nvPr/>
        </p:nvSpPr>
        <p:spPr>
          <a:xfrm>
            <a:off x="1115568" y="213055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HTML5 Semantic Architecture for Intelligent Applications</a:t>
            </a:r>
          </a:p>
        </p:txBody>
      </p:sp>
      <p:sp>
        <p:nvSpPr>
          <p:cNvPr id="12" name="Oval 11"/>
          <p:cNvSpPr/>
          <p:nvPr/>
        </p:nvSpPr>
        <p:spPr>
          <a:xfrm>
            <a:off x="749808" y="265176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3</a:t>
            </a:r>
          </a:p>
        </p:txBody>
      </p:sp>
      <p:sp>
        <p:nvSpPr>
          <p:cNvPr id="13" name="TextBox 12"/>
          <p:cNvSpPr txBox="1"/>
          <p:nvPr/>
        </p:nvSpPr>
        <p:spPr>
          <a:xfrm>
            <a:off x="1115568" y="263347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Modern CSS: Flexbox &amp; Grid for Chat &amp; Agent Layouts</a:t>
            </a:r>
          </a:p>
        </p:txBody>
      </p:sp>
      <p:sp>
        <p:nvSpPr>
          <p:cNvPr id="14" name="Oval 13"/>
          <p:cNvSpPr/>
          <p:nvPr/>
        </p:nvSpPr>
        <p:spPr>
          <a:xfrm>
            <a:off x="749808" y="315468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4</a:t>
            </a:r>
          </a:p>
        </p:txBody>
      </p:sp>
      <p:sp>
        <p:nvSpPr>
          <p:cNvPr id="15" name="TextBox 14"/>
          <p:cNvSpPr txBox="1"/>
          <p:nvPr/>
        </p:nvSpPr>
        <p:spPr>
          <a:xfrm>
            <a:off x="1115568" y="313639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Essential ES6+ JavaScript: Destructuring, Spread, Map/Filter</a:t>
            </a:r>
          </a:p>
        </p:txBody>
      </p:sp>
      <p:sp>
        <p:nvSpPr>
          <p:cNvPr id="16" name="Oval 15"/>
          <p:cNvSpPr/>
          <p:nvPr/>
        </p:nvSpPr>
        <p:spPr>
          <a:xfrm>
            <a:off x="749808" y="365760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5</a:t>
            </a:r>
          </a:p>
        </p:txBody>
      </p:sp>
      <p:sp>
        <p:nvSpPr>
          <p:cNvPr id="17" name="TextBox 16"/>
          <p:cNvSpPr txBox="1"/>
          <p:nvPr/>
        </p:nvSpPr>
        <p:spPr>
          <a:xfrm>
            <a:off x="1115568" y="363931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Async JS: Promises, Async/Await &amp; ReadableStream Decoders</a:t>
            </a:r>
          </a:p>
        </p:txBody>
      </p:sp>
      <p:sp>
        <p:nvSpPr>
          <p:cNvPr id="18" name="Oval 17"/>
          <p:cNvSpPr/>
          <p:nvPr/>
        </p:nvSpPr>
        <p:spPr>
          <a:xfrm>
            <a:off x="749808" y="416052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6</a:t>
            </a:r>
          </a:p>
        </p:txBody>
      </p:sp>
      <p:sp>
        <p:nvSpPr>
          <p:cNvPr id="19" name="TextBox 18"/>
          <p:cNvSpPr txBox="1"/>
          <p:nvPr/>
        </p:nvSpPr>
        <p:spPr>
          <a:xfrm>
            <a:off x="1115568" y="414223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Anatomy of the Real DOM: The Node Tree in Memory</a:t>
            </a:r>
          </a:p>
        </p:txBody>
      </p:sp>
      <p:sp>
        <p:nvSpPr>
          <p:cNvPr id="20" name="Oval 19"/>
          <p:cNvSpPr/>
          <p:nvPr/>
        </p:nvSpPr>
        <p:spPr>
          <a:xfrm>
            <a:off x="749808" y="466344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7</a:t>
            </a:r>
          </a:p>
        </p:txBody>
      </p:sp>
      <p:sp>
        <p:nvSpPr>
          <p:cNvPr id="21" name="TextBox 20"/>
          <p:cNvSpPr txBox="1"/>
          <p:nvPr/>
        </p:nvSpPr>
        <p:spPr>
          <a:xfrm>
            <a:off x="1115568" y="464515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Live DOM Manipulation: The 6 Core APIs &amp; Reflow Costs</a:t>
            </a:r>
          </a:p>
        </p:txBody>
      </p:sp>
      <p:sp>
        <p:nvSpPr>
          <p:cNvPr id="22" name="Oval 21"/>
          <p:cNvSpPr/>
          <p:nvPr/>
        </p:nvSpPr>
        <p:spPr>
          <a:xfrm>
            <a:off x="749808" y="516636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8</a:t>
            </a:r>
          </a:p>
        </p:txBody>
      </p:sp>
      <p:sp>
        <p:nvSpPr>
          <p:cNvPr id="23" name="TextBox 22"/>
          <p:cNvSpPr txBox="1"/>
          <p:nvPr/>
        </p:nvSpPr>
        <p:spPr>
          <a:xfrm>
            <a:off x="1115568" y="514807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Imperative DOM vs Declarative UI: The Breaking Point</a:t>
            </a:r>
          </a:p>
        </p:txBody>
      </p:sp>
      <p:sp>
        <p:nvSpPr>
          <p:cNvPr id="24" name="Oval 23"/>
          <p:cNvSpPr/>
          <p:nvPr/>
        </p:nvSpPr>
        <p:spPr>
          <a:xfrm>
            <a:off x="749808" y="566928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9</a:t>
            </a:r>
          </a:p>
        </p:txBody>
      </p:sp>
      <p:sp>
        <p:nvSpPr>
          <p:cNvPr id="25" name="TextBox 24"/>
          <p:cNvSpPr txBox="1"/>
          <p:nvPr/>
        </p:nvSpPr>
        <p:spPr>
          <a:xfrm>
            <a:off x="1115568" y="565099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Why Learn React? Components, Declarative, Write Anywhere</a:t>
            </a:r>
          </a:p>
        </p:txBody>
      </p:sp>
      <p:sp>
        <p:nvSpPr>
          <p:cNvPr id="26" name="Rounded Rectangle 25"/>
          <p:cNvSpPr/>
          <p:nvPr/>
        </p:nvSpPr>
        <p:spPr>
          <a:xfrm>
            <a:off x="4389120" y="1234440"/>
            <a:ext cx="3410712" cy="292608"/>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B5C9E"/>
                </a:solidFill>
                <a:latin typeface="Segoe UI" panose="020B0502040204020203"/>
              </a:defRPr>
            </a:pPr>
            <a:r>
              <a:t>PHASE 2: CORE REACT ENGINE</a:t>
            </a:r>
          </a:p>
        </p:txBody>
      </p:sp>
      <p:sp>
        <p:nvSpPr>
          <p:cNvPr id="27" name="Oval 26"/>
          <p:cNvSpPr/>
          <p:nvPr/>
        </p:nvSpPr>
        <p:spPr>
          <a:xfrm>
            <a:off x="4407408" y="164592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10</a:t>
            </a:r>
          </a:p>
        </p:txBody>
      </p:sp>
      <p:sp>
        <p:nvSpPr>
          <p:cNvPr id="28" name="TextBox 27"/>
          <p:cNvSpPr txBox="1"/>
          <p:nvPr/>
        </p:nvSpPr>
        <p:spPr>
          <a:xfrm>
            <a:off x="4773168" y="162763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Virtual DOM &amp; Reconciliation: Fiber Tree &amp; High-FPS Diffing</a:t>
            </a:r>
          </a:p>
        </p:txBody>
      </p:sp>
      <p:sp>
        <p:nvSpPr>
          <p:cNvPr id="29" name="Oval 28"/>
          <p:cNvSpPr/>
          <p:nvPr/>
        </p:nvSpPr>
        <p:spPr>
          <a:xfrm>
            <a:off x="4407408" y="214884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11</a:t>
            </a:r>
          </a:p>
        </p:txBody>
      </p:sp>
      <p:sp>
        <p:nvSpPr>
          <p:cNvPr id="30" name="TextBox 29"/>
          <p:cNvSpPr txBox="1"/>
          <p:nvPr/>
        </p:nvSpPr>
        <p:spPr>
          <a:xfrm>
            <a:off x="4773168" y="213055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Understanding JSX: Single Root, className, Expressions</a:t>
            </a:r>
          </a:p>
        </p:txBody>
      </p:sp>
      <p:sp>
        <p:nvSpPr>
          <p:cNvPr id="31" name="Oval 30"/>
          <p:cNvSpPr/>
          <p:nvPr/>
        </p:nvSpPr>
        <p:spPr>
          <a:xfrm>
            <a:off x="4407408" y="265176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12</a:t>
            </a:r>
          </a:p>
        </p:txBody>
      </p:sp>
      <p:sp>
        <p:nvSpPr>
          <p:cNvPr id="32" name="TextBox 31"/>
          <p:cNvSpPr txBox="1"/>
          <p:nvPr/>
        </p:nvSpPr>
        <p:spPr>
          <a:xfrm>
            <a:off x="4773168" y="263347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Embedding Expressions &amp; Dynamic Logic in JSX</a:t>
            </a:r>
          </a:p>
        </p:txBody>
      </p:sp>
      <p:sp>
        <p:nvSpPr>
          <p:cNvPr id="33" name="Oval 32"/>
          <p:cNvSpPr/>
          <p:nvPr/>
        </p:nvSpPr>
        <p:spPr>
          <a:xfrm>
            <a:off x="4407408" y="315468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13</a:t>
            </a:r>
          </a:p>
        </p:txBody>
      </p:sp>
      <p:sp>
        <p:nvSpPr>
          <p:cNvPr id="34" name="TextBox 33"/>
          <p:cNvSpPr txBox="1"/>
          <p:nvPr/>
        </p:nvSpPr>
        <p:spPr>
          <a:xfrm>
            <a:off x="4773168" y="313639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Functional vs Class Components: The Modern Hooks Standard</a:t>
            </a:r>
          </a:p>
        </p:txBody>
      </p:sp>
      <p:sp>
        <p:nvSpPr>
          <p:cNvPr id="35" name="Oval 34"/>
          <p:cNvSpPr/>
          <p:nvPr/>
        </p:nvSpPr>
        <p:spPr>
          <a:xfrm>
            <a:off x="4407408" y="365760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14</a:t>
            </a:r>
          </a:p>
        </p:txBody>
      </p:sp>
      <p:sp>
        <p:nvSpPr>
          <p:cNvPr id="36" name="TextBox 35"/>
          <p:cNvSpPr txBox="1"/>
          <p:nvPr/>
        </p:nvSpPr>
        <p:spPr>
          <a:xfrm>
            <a:off x="4773168" y="363931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Props &amp; Reusability: Unidirectional Data Flow &amp; Children</a:t>
            </a:r>
          </a:p>
        </p:txBody>
      </p:sp>
      <p:sp>
        <p:nvSpPr>
          <p:cNvPr id="37" name="Oval 36"/>
          <p:cNvSpPr/>
          <p:nvPr/>
        </p:nvSpPr>
        <p:spPr>
          <a:xfrm>
            <a:off x="4407408" y="416052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15</a:t>
            </a:r>
          </a:p>
        </p:txBody>
      </p:sp>
      <p:sp>
        <p:nvSpPr>
          <p:cNvPr id="38" name="TextBox 37"/>
          <p:cNvSpPr txBox="1"/>
          <p:nvPr/>
        </p:nvSpPr>
        <p:spPr>
          <a:xfrm>
            <a:off x="4773168" y="414223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Handling Events: SyntheticEvents, Handlers &amp; Parameters</a:t>
            </a:r>
          </a:p>
        </p:txBody>
      </p:sp>
      <p:sp>
        <p:nvSpPr>
          <p:cNvPr id="39" name="Oval 38"/>
          <p:cNvSpPr/>
          <p:nvPr/>
        </p:nvSpPr>
        <p:spPr>
          <a:xfrm>
            <a:off x="4407408" y="466344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16</a:t>
            </a:r>
          </a:p>
        </p:txBody>
      </p:sp>
      <p:sp>
        <p:nvSpPr>
          <p:cNvPr id="40" name="TextBox 39"/>
          <p:cNvSpPr txBox="1"/>
          <p:nvPr/>
        </p:nvSpPr>
        <p:spPr>
          <a:xfrm>
            <a:off x="4773168" y="464515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State with useState: Immutability, Snapshots &amp; Batching</a:t>
            </a:r>
          </a:p>
        </p:txBody>
      </p:sp>
      <p:sp>
        <p:nvSpPr>
          <p:cNvPr id="41" name="Oval 40"/>
          <p:cNvSpPr/>
          <p:nvPr/>
        </p:nvSpPr>
        <p:spPr>
          <a:xfrm>
            <a:off x="4407408" y="516636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17</a:t>
            </a:r>
          </a:p>
        </p:txBody>
      </p:sp>
      <p:sp>
        <p:nvSpPr>
          <p:cNvPr id="42" name="TextBox 41"/>
          <p:cNvSpPr txBox="1"/>
          <p:nvPr/>
        </p:nvSpPr>
        <p:spPr>
          <a:xfrm>
            <a:off x="4773168" y="514807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Conditional Rendering: Skeletons, Streaming &amp; Error States</a:t>
            </a:r>
          </a:p>
        </p:txBody>
      </p:sp>
      <p:sp>
        <p:nvSpPr>
          <p:cNvPr id="43" name="Oval 42"/>
          <p:cNvSpPr/>
          <p:nvPr/>
        </p:nvSpPr>
        <p:spPr>
          <a:xfrm>
            <a:off x="4407408" y="566928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18</a:t>
            </a:r>
          </a:p>
        </p:txBody>
      </p:sp>
      <p:sp>
        <p:nvSpPr>
          <p:cNvPr id="44" name="TextBox 43"/>
          <p:cNvSpPr txBox="1"/>
          <p:nvPr/>
        </p:nvSpPr>
        <p:spPr>
          <a:xfrm>
            <a:off x="4773168" y="565099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Lists &amp; Keys: Chat Threads &amp; The Critical Index Anti-Pattern</a:t>
            </a:r>
          </a:p>
        </p:txBody>
      </p:sp>
      <p:sp>
        <p:nvSpPr>
          <p:cNvPr id="45" name="Rounded Rectangle 44"/>
          <p:cNvSpPr/>
          <p:nvPr/>
        </p:nvSpPr>
        <p:spPr>
          <a:xfrm>
            <a:off x="8046720" y="1234440"/>
            <a:ext cx="3410712" cy="292608"/>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0B5C9E"/>
                </a:solidFill>
                <a:latin typeface="Segoe UI" panose="020B0502040204020203"/>
              </a:defRPr>
            </a:pPr>
            <a:r>
              <a:t>PHASE 3: HOOKS &amp; ENTERPRISE AI</a:t>
            </a:r>
          </a:p>
        </p:txBody>
      </p:sp>
      <p:sp>
        <p:nvSpPr>
          <p:cNvPr id="46" name="Oval 45"/>
          <p:cNvSpPr/>
          <p:nvPr/>
        </p:nvSpPr>
        <p:spPr>
          <a:xfrm>
            <a:off x="8065008" y="164592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19</a:t>
            </a:r>
          </a:p>
        </p:txBody>
      </p:sp>
      <p:sp>
        <p:nvSpPr>
          <p:cNvPr id="47" name="TextBox 46"/>
          <p:cNvSpPr txBox="1"/>
          <p:nvPr/>
        </p:nvSpPr>
        <p:spPr>
          <a:xfrm>
            <a:off x="8430768" y="162763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Controlled Components &amp; Forms: Two-Way AI Parameter Binding</a:t>
            </a:r>
          </a:p>
        </p:txBody>
      </p:sp>
      <p:sp>
        <p:nvSpPr>
          <p:cNvPr id="48" name="Oval 47"/>
          <p:cNvSpPr/>
          <p:nvPr/>
        </p:nvSpPr>
        <p:spPr>
          <a:xfrm>
            <a:off x="8065008" y="214884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20</a:t>
            </a:r>
          </a:p>
        </p:txBody>
      </p:sp>
      <p:sp>
        <p:nvSpPr>
          <p:cNvPr id="49" name="TextBox 48"/>
          <p:cNvSpPr txBox="1"/>
          <p:nvPr/>
        </p:nvSpPr>
        <p:spPr>
          <a:xfrm>
            <a:off x="8430768" y="213055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Component Lifecycle &amp; useEffect: Mount, Update, Unmount</a:t>
            </a:r>
          </a:p>
        </p:txBody>
      </p:sp>
      <p:sp>
        <p:nvSpPr>
          <p:cNvPr id="50" name="Oval 49"/>
          <p:cNvSpPr/>
          <p:nvPr/>
        </p:nvSpPr>
        <p:spPr>
          <a:xfrm>
            <a:off x="8065008" y="265176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21</a:t>
            </a:r>
          </a:p>
        </p:txBody>
      </p:sp>
      <p:sp>
        <p:nvSpPr>
          <p:cNvPr id="51" name="TextBox 50"/>
          <p:cNvSpPr txBox="1"/>
          <p:nvPr/>
        </p:nvSpPr>
        <p:spPr>
          <a:xfrm>
            <a:off x="8430768" y="263347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Hooks Deep Dive: The Two Golden Rules &amp; Verification</a:t>
            </a:r>
          </a:p>
        </p:txBody>
      </p:sp>
      <p:sp>
        <p:nvSpPr>
          <p:cNvPr id="52" name="Oval 51"/>
          <p:cNvSpPr/>
          <p:nvPr/>
        </p:nvSpPr>
        <p:spPr>
          <a:xfrm>
            <a:off x="8065008" y="315468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22</a:t>
            </a:r>
          </a:p>
        </p:txBody>
      </p:sp>
      <p:sp>
        <p:nvSpPr>
          <p:cNvPr id="53" name="TextBox 52"/>
          <p:cNvSpPr txBox="1"/>
          <p:nvPr/>
        </p:nvSpPr>
        <p:spPr>
          <a:xfrm>
            <a:off x="8430768" y="313639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The useEffect Dependency Array &amp; SSE Stream Cleanup</a:t>
            </a:r>
          </a:p>
        </p:txBody>
      </p:sp>
      <p:sp>
        <p:nvSpPr>
          <p:cNvPr id="54" name="Oval 53"/>
          <p:cNvSpPr/>
          <p:nvPr/>
        </p:nvSpPr>
        <p:spPr>
          <a:xfrm>
            <a:off x="8065008" y="365760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23</a:t>
            </a:r>
          </a:p>
        </p:txBody>
      </p:sp>
      <p:sp>
        <p:nvSpPr>
          <p:cNvPr id="55" name="TextBox 54"/>
          <p:cNvSpPr txBox="1"/>
          <p:nvPr/>
        </p:nvSpPr>
        <p:spPr>
          <a:xfrm>
            <a:off x="8430768" y="363931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useContext: Eliminating Prop Drilling for Global Model Config</a:t>
            </a:r>
          </a:p>
        </p:txBody>
      </p:sp>
      <p:sp>
        <p:nvSpPr>
          <p:cNvPr id="56" name="Oval 55"/>
          <p:cNvSpPr/>
          <p:nvPr/>
        </p:nvSpPr>
        <p:spPr>
          <a:xfrm>
            <a:off x="8065008" y="416052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24</a:t>
            </a:r>
          </a:p>
        </p:txBody>
      </p:sp>
      <p:sp>
        <p:nvSpPr>
          <p:cNvPr id="57" name="TextBox 56"/>
          <p:cNvSpPr txBox="1"/>
          <p:nvPr/>
        </p:nvSpPr>
        <p:spPr>
          <a:xfrm>
            <a:off x="8430768" y="414223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useRef: Direct DOM Access &amp; Non-Rendering State (Auto-Scroll)</a:t>
            </a:r>
          </a:p>
        </p:txBody>
      </p:sp>
      <p:sp>
        <p:nvSpPr>
          <p:cNvPr id="58" name="Oval 57"/>
          <p:cNvSpPr/>
          <p:nvPr/>
        </p:nvSpPr>
        <p:spPr>
          <a:xfrm>
            <a:off x="8065008" y="466344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25</a:t>
            </a:r>
          </a:p>
        </p:txBody>
      </p:sp>
      <p:sp>
        <p:nvSpPr>
          <p:cNvPr id="59" name="TextBox 58"/>
          <p:cNvSpPr txBox="1"/>
          <p:nvPr/>
        </p:nvSpPr>
        <p:spPr>
          <a:xfrm>
            <a:off x="8430768" y="464515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Performance: useMemo &amp; useCallback in High-Throughput Streams</a:t>
            </a:r>
          </a:p>
        </p:txBody>
      </p:sp>
      <p:sp>
        <p:nvSpPr>
          <p:cNvPr id="60" name="Oval 59"/>
          <p:cNvSpPr/>
          <p:nvPr/>
        </p:nvSpPr>
        <p:spPr>
          <a:xfrm>
            <a:off x="8065008" y="516636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26</a:t>
            </a:r>
          </a:p>
        </p:txBody>
      </p:sp>
      <p:sp>
        <p:nvSpPr>
          <p:cNvPr id="61" name="TextBox 60"/>
          <p:cNvSpPr txBox="1"/>
          <p:nvPr/>
        </p:nvSpPr>
        <p:spPr>
          <a:xfrm>
            <a:off x="8430768" y="514807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Lifting State Up: Single Source of Truth &amp; Thinking in React</a:t>
            </a:r>
          </a:p>
        </p:txBody>
      </p:sp>
      <p:sp>
        <p:nvSpPr>
          <p:cNvPr id="62" name="Oval 61"/>
          <p:cNvSpPr/>
          <p:nvPr/>
        </p:nvSpPr>
        <p:spPr>
          <a:xfrm>
            <a:off x="8065008" y="566928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27</a:t>
            </a:r>
          </a:p>
        </p:txBody>
      </p:sp>
      <p:sp>
        <p:nvSpPr>
          <p:cNvPr id="63" name="TextBox 62"/>
          <p:cNvSpPr txBox="1"/>
          <p:nvPr/>
        </p:nvSpPr>
        <p:spPr>
          <a:xfrm>
            <a:off x="8430768" y="565099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Custom Hooks: useStreamingChat, useDebounce, useStorage</a:t>
            </a:r>
          </a:p>
        </p:txBody>
      </p:sp>
      <p:sp>
        <p:nvSpPr>
          <p:cNvPr id="64" name="Oval 63"/>
          <p:cNvSpPr/>
          <p:nvPr/>
        </p:nvSpPr>
        <p:spPr>
          <a:xfrm>
            <a:off x="8065008" y="6172200"/>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28</a:t>
            </a:r>
          </a:p>
        </p:txBody>
      </p:sp>
      <p:sp>
        <p:nvSpPr>
          <p:cNvPr id="65" name="TextBox 64"/>
          <p:cNvSpPr txBox="1"/>
          <p:nvPr/>
        </p:nvSpPr>
        <p:spPr>
          <a:xfrm>
            <a:off x="8430768" y="6153912"/>
            <a:ext cx="3017520" cy="457200"/>
          </a:xfrm>
          <a:prstGeom prst="rect">
            <a:avLst/>
          </a:prstGeom>
          <a:noFill/>
        </p:spPr>
        <p:txBody>
          <a:bodyPr wrap="square" lIns="0" tIns="0" rIns="0" bIns="0">
            <a:spAutoFit/>
          </a:bodyPr>
          <a:lstStyle/>
          <a:p>
            <a:pPr>
              <a:defRPr sz="950">
                <a:solidFill>
                  <a:srgbClr val="0F172A"/>
                </a:solidFill>
                <a:latin typeface="Segoe UI" panose="020B0502040204020203"/>
              </a:defRPr>
            </a:pPr>
            <a:r>
              <a:t>Redux Toolkit &amp; Zustand: Enterprise Multi-Agent State</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 · THE MOTIVATION</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Why Web UI Matters for AI Engineers: Beyond Terminal Scripts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Enterprise AI models are worthless if users cannot interact with them effortlessly, safely, and responsively.</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 of 35</a:t>
            </a:r>
          </a:p>
        </p:txBody>
      </p:sp>
      <p:sp>
        <p:nvSpPr>
          <p:cNvPr id="8" name="Rounded Rectangle 7"/>
          <p:cNvSpPr/>
          <p:nvPr/>
        </p:nvSpPr>
        <p:spPr>
          <a:xfrm>
            <a:off x="731520" y="1645920"/>
            <a:ext cx="2487168" cy="429768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10512"/>
            <a:ext cx="2157984" cy="3968496"/>
          </a:xfrm>
          <a:prstGeom prst="rect">
            <a:avLst/>
          </a:prstGeom>
          <a:noFill/>
        </p:spPr>
        <p:txBody>
          <a:bodyPr wrap="square" lIns="0" tIns="0" rIns="0" bIns="0">
            <a:spAutoFit/>
          </a:bodyPr>
          <a:lstStyle/>
          <a:p>
            <a:pPr>
              <a:defRPr sz="1300" b="1">
                <a:solidFill>
                  <a:srgbClr val="0B5C9E"/>
                </a:solidFill>
                <a:latin typeface="Segoe UI" panose="020B0502040204020203"/>
              </a:defRPr>
            </a:pPr>
            <a:r>
              <a:t>1. Streaming Real-Time UX</a:t>
            </a:r>
          </a:p>
          <a:p>
            <a:pPr>
              <a:spcAft>
                <a:spcPts val="1200"/>
              </a:spcAft>
              <a:defRPr sz="1000">
                <a:solidFill>
                  <a:srgbClr val="64748B"/>
                </a:solidFill>
                <a:latin typeface="Segoe UI" panose="020B0502040204020203"/>
              </a:defRPr>
            </a:pPr>
            <a:r>
              <a:t>Instant Token Feedback</a:t>
            </a:r>
          </a:p>
          <a:p>
            <a:pPr>
              <a:spcAft>
                <a:spcPts val="800"/>
              </a:spcAft>
            </a:pPr>
            <a:r>
              <a:rPr sz="950" b="1">
                <a:solidFill>
                  <a:srgbClr val="0F172A"/>
                </a:solidFill>
                <a:latin typeface="Segoe UI" panose="020B0502040204020203"/>
              </a:rPr>
              <a:t>• Zero Wait Frustration: </a:t>
            </a:r>
            <a:r>
              <a:rPr sz="950">
                <a:solidFill>
                  <a:srgbClr val="334155"/>
                </a:solidFill>
                <a:latin typeface="Segoe UI" panose="020B0502040204020203"/>
              </a:rPr>
              <a:t>Users cannot stare at a spinning loader for 20 seconds while an LLM generates.</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Token-by-Token Streams: </a:t>
            </a:r>
            <a:r>
              <a:rPr sz="950">
                <a:solidFill>
                  <a:srgbClr val="334155"/>
                </a:solidFill>
                <a:latin typeface="Segoe UI" panose="020B0502040204020203"/>
              </a:rPr>
              <a:t>Requires sub-millisecond DOM diffing without freezing the browser thread.</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Auto-Scroll Mechanics: </a:t>
            </a:r>
            <a:r>
              <a:rPr sz="950">
                <a:solidFill>
                  <a:srgbClr val="334155"/>
                </a:solidFill>
                <a:latin typeface="Segoe UI" panose="020B0502040204020203"/>
              </a:rPr>
              <a:t>Smoothly following LLM thoughts as tokens arrive at 50 tokens/sec.</a:t>
            </a:r>
            <a:endParaRPr sz="950">
              <a:solidFill>
                <a:srgbClr val="334155"/>
              </a:solidFill>
              <a:latin typeface="Segoe UI" panose="020B0502040204020203"/>
            </a:endParaRPr>
          </a:p>
        </p:txBody>
      </p:sp>
      <p:sp>
        <p:nvSpPr>
          <p:cNvPr id="10" name="Rounded Rectangle 9"/>
          <p:cNvSpPr/>
          <p:nvPr/>
        </p:nvSpPr>
        <p:spPr>
          <a:xfrm>
            <a:off x="3474720" y="1645920"/>
            <a:ext cx="2487168" cy="429768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810512"/>
            <a:ext cx="2157984" cy="3968496"/>
          </a:xfrm>
          <a:prstGeom prst="rect">
            <a:avLst/>
          </a:prstGeom>
          <a:noFill/>
        </p:spPr>
        <p:txBody>
          <a:bodyPr wrap="square" lIns="0" tIns="0" rIns="0" bIns="0">
            <a:spAutoFit/>
          </a:bodyPr>
          <a:lstStyle/>
          <a:p>
            <a:pPr>
              <a:defRPr sz="1300" b="1">
                <a:solidFill>
                  <a:srgbClr val="7C3AED"/>
                </a:solidFill>
                <a:latin typeface="Segoe UI" panose="020B0502040204020203"/>
              </a:defRPr>
            </a:pPr>
            <a:r>
              <a:t>2. Parameter Orchestration</a:t>
            </a:r>
          </a:p>
          <a:p>
            <a:pPr>
              <a:spcAft>
                <a:spcPts val="1200"/>
              </a:spcAft>
              <a:defRPr sz="1000">
                <a:solidFill>
                  <a:srgbClr val="64748B"/>
                </a:solidFill>
                <a:latin typeface="Segoe UI" panose="020B0502040204020203"/>
              </a:defRPr>
            </a:pPr>
            <a:r>
              <a:t>Dynamic Model Controls</a:t>
            </a:r>
          </a:p>
          <a:p>
            <a:pPr>
              <a:spcAft>
                <a:spcPts val="800"/>
              </a:spcAft>
            </a:pPr>
            <a:r>
              <a:rPr sz="950" b="1">
                <a:solidFill>
                  <a:srgbClr val="0F172A"/>
                </a:solidFill>
                <a:latin typeface="Segoe UI" panose="020B0502040204020203"/>
              </a:rPr>
              <a:t>• Temperature &amp; Top-P: </a:t>
            </a:r>
            <a:r>
              <a:rPr sz="950">
                <a:solidFill>
                  <a:srgbClr val="334155"/>
                </a:solidFill>
                <a:latin typeface="Segoe UI" panose="020B0502040204020203"/>
              </a:rPr>
              <a:t>Intuitive sliders for creativity vs determinism without editing code.</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System Prompt Tuning: </a:t>
            </a:r>
            <a:r>
              <a:rPr sz="950">
                <a:solidFill>
                  <a:srgbClr val="334155"/>
                </a:solidFill>
                <a:latin typeface="Segoe UI" panose="020B0502040204020203"/>
              </a:rPr>
              <a:t>Hot-swapping persona instructions and testing outputs live.</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Model Switching: </a:t>
            </a:r>
            <a:r>
              <a:rPr sz="950">
                <a:solidFill>
                  <a:srgbClr val="334155"/>
                </a:solidFill>
                <a:latin typeface="Segoe UI" panose="020B0502040204020203"/>
              </a:rPr>
              <a:t>Dynamically toggling between Claude, Gemini, GPT-4o, and local Ollama.</a:t>
            </a:r>
            <a:endParaRPr sz="950">
              <a:solidFill>
                <a:srgbClr val="334155"/>
              </a:solidFill>
              <a:latin typeface="Segoe UI" panose="020B0502040204020203"/>
            </a:endParaRPr>
          </a:p>
        </p:txBody>
      </p:sp>
      <p:sp>
        <p:nvSpPr>
          <p:cNvPr id="12" name="Rounded Rectangle 11"/>
          <p:cNvSpPr/>
          <p:nvPr/>
        </p:nvSpPr>
        <p:spPr>
          <a:xfrm>
            <a:off x="6217920" y="1645920"/>
            <a:ext cx="2487168" cy="429768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10512"/>
            <a:ext cx="2157984" cy="3968496"/>
          </a:xfrm>
          <a:prstGeom prst="rect">
            <a:avLst/>
          </a:prstGeom>
          <a:noFill/>
        </p:spPr>
        <p:txBody>
          <a:bodyPr wrap="square" lIns="0" tIns="0" rIns="0" bIns="0">
            <a:spAutoFit/>
          </a:bodyPr>
          <a:lstStyle/>
          <a:p>
            <a:pPr>
              <a:defRPr sz="1300" b="1">
                <a:solidFill>
                  <a:srgbClr val="16A34A"/>
                </a:solidFill>
                <a:latin typeface="Segoe UI" panose="020B0502040204020203"/>
              </a:defRPr>
            </a:pPr>
            <a:r>
              <a:t>3. Grounding &amp; Citations</a:t>
            </a:r>
          </a:p>
          <a:p>
            <a:pPr>
              <a:spcAft>
                <a:spcPts val="1200"/>
              </a:spcAft>
              <a:defRPr sz="1000">
                <a:solidFill>
                  <a:srgbClr val="64748B"/>
                </a:solidFill>
                <a:latin typeface="Segoe UI" panose="020B0502040204020203"/>
              </a:defRPr>
            </a:pPr>
            <a:r>
              <a:t>RAG Observability</a:t>
            </a:r>
          </a:p>
          <a:p>
            <a:pPr>
              <a:spcAft>
                <a:spcPts val="800"/>
              </a:spcAft>
            </a:pPr>
            <a:r>
              <a:rPr sz="950" b="1">
                <a:solidFill>
                  <a:srgbClr val="0F172A"/>
                </a:solidFill>
                <a:latin typeface="Segoe UI" panose="020B0502040204020203"/>
              </a:rPr>
              <a:t>• Chunk Previews: </a:t>
            </a:r>
            <a:r>
              <a:rPr sz="950">
                <a:solidFill>
                  <a:srgbClr val="334155"/>
                </a:solidFill>
                <a:latin typeface="Segoe UI" panose="020B0502040204020203"/>
              </a:rPr>
              <a:t>Clickable footnotes that open the exact retrieved document source chunk.</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Similarity Scores: </a:t>
            </a:r>
            <a:r>
              <a:rPr sz="950">
                <a:solidFill>
                  <a:srgbClr val="334155"/>
                </a:solidFill>
                <a:latin typeface="Segoe UI" panose="020B0502040204020203"/>
              </a:rPr>
              <a:t>Visual confidence meters showing vector cosine distances.</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Hallucination Defense: </a:t>
            </a:r>
            <a:r>
              <a:rPr sz="950">
                <a:solidFill>
                  <a:srgbClr val="334155"/>
                </a:solidFill>
                <a:latin typeface="Segoe UI" panose="020B0502040204020203"/>
              </a:rPr>
              <a:t>Users independently audit retrieved context vs LLM claims.</a:t>
            </a:r>
            <a:endParaRPr sz="950">
              <a:solidFill>
                <a:srgbClr val="334155"/>
              </a:solidFill>
              <a:latin typeface="Segoe UI" panose="020B0502040204020203"/>
            </a:endParaRPr>
          </a:p>
        </p:txBody>
      </p:sp>
      <p:sp>
        <p:nvSpPr>
          <p:cNvPr id="14" name="Rounded Rectangle 13"/>
          <p:cNvSpPr/>
          <p:nvPr/>
        </p:nvSpPr>
        <p:spPr>
          <a:xfrm>
            <a:off x="8961120" y="1645920"/>
            <a:ext cx="2487168" cy="429768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1810512"/>
            <a:ext cx="2157984" cy="3968496"/>
          </a:xfrm>
          <a:prstGeom prst="rect">
            <a:avLst/>
          </a:prstGeom>
          <a:noFill/>
        </p:spPr>
        <p:txBody>
          <a:bodyPr wrap="square" lIns="0" tIns="0" rIns="0" bIns="0">
            <a:spAutoFit/>
          </a:bodyPr>
          <a:lstStyle/>
          <a:p>
            <a:pPr>
              <a:defRPr sz="1300" b="1">
                <a:solidFill>
                  <a:srgbClr val="EA580C"/>
                </a:solidFill>
                <a:latin typeface="Segoe UI" panose="020B0502040204020203"/>
              </a:defRPr>
            </a:pPr>
            <a:r>
              <a:t>4. Human-in-the-Loop</a:t>
            </a:r>
          </a:p>
          <a:p>
            <a:pPr>
              <a:spcAft>
                <a:spcPts val="1200"/>
              </a:spcAft>
              <a:defRPr sz="1000">
                <a:solidFill>
                  <a:srgbClr val="64748B"/>
                </a:solidFill>
                <a:latin typeface="Segoe UI" panose="020B0502040204020203"/>
              </a:defRPr>
            </a:pPr>
            <a:r>
              <a:t>Agent Decision Gates</a:t>
            </a:r>
          </a:p>
          <a:p>
            <a:pPr>
              <a:spcAft>
                <a:spcPts val="800"/>
              </a:spcAft>
            </a:pPr>
            <a:r>
              <a:rPr sz="950" b="1">
                <a:solidFill>
                  <a:srgbClr val="0F172A"/>
                </a:solidFill>
                <a:latin typeface="Segoe UI" panose="020B0502040204020203"/>
              </a:rPr>
              <a:t>• Tool Approval Modals: </a:t>
            </a:r>
            <a:r>
              <a:rPr sz="950">
                <a:solidFill>
                  <a:srgbClr val="334155"/>
                </a:solidFill>
                <a:latin typeface="Segoe UI" panose="020B0502040204020203"/>
              </a:rPr>
              <a:t>Confirming before an agent executes SQL mutations or sends emails.</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Thought Trace Trees: </a:t>
            </a:r>
            <a:r>
              <a:rPr sz="950">
                <a:solidFill>
                  <a:srgbClr val="334155"/>
                </a:solidFill>
                <a:latin typeface="Segoe UI" panose="020B0502040204020203"/>
              </a:rPr>
              <a:t>Inspecting agent reasoning steps, ReAct loops, and retry states.</a:t>
            </a:r>
            <a:endParaRPr sz="950">
              <a:solidFill>
                <a:srgbClr val="334155"/>
              </a:solidFill>
              <a:latin typeface="Segoe UI" panose="020B0502040204020203"/>
            </a:endParaRPr>
          </a:p>
          <a:p>
            <a:pPr>
              <a:spcAft>
                <a:spcPts val="800"/>
              </a:spcAft>
            </a:pPr>
            <a:r>
              <a:rPr sz="950" b="1">
                <a:solidFill>
                  <a:srgbClr val="0F172A"/>
                </a:solidFill>
                <a:latin typeface="Segoe UI" panose="020B0502040204020203"/>
              </a:rPr>
              <a:t>• Feedback &amp; Reinforcement: </a:t>
            </a:r>
            <a:r>
              <a:rPr sz="950">
                <a:solidFill>
                  <a:srgbClr val="334155"/>
                </a:solidFill>
                <a:latin typeface="Segoe UI" panose="020B0502040204020203"/>
              </a:rPr>
              <a:t>Capturing thumbs-up/down feedback to build DPO/RLHF datasets.</a:t>
            </a:r>
            <a:endParaRPr sz="950">
              <a:solidFill>
                <a:srgbClr val="334155"/>
              </a:solidFill>
              <a:latin typeface="Segoe UI" panose="020B0502040204020203"/>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 · HTML5 FOUNDATIONS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Web Foundations: HTML5 Semantic Architecture for AI Apps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Semantic HTML is not just for browsers—it structures content for accessibility, screen readers, and LLM web crawlers.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4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The AI Web Application Blueprint</a:t>
            </a:r>
          </a:p>
          <a:p>
            <a:pPr>
              <a:spcAft>
                <a:spcPts val="600"/>
              </a:spcAft>
            </a:pPr>
            <a:r>
              <a:rPr sz="980" b="1">
                <a:solidFill>
                  <a:srgbClr val="0052CC"/>
                </a:solidFill>
                <a:latin typeface="Consolas" panose="020B0609020204030204"/>
              </a:rPr>
              <a:t>&lt;main&gt; : </a:t>
            </a:r>
            <a:r>
              <a:rPr sz="950">
                <a:solidFill>
                  <a:srgbClr val="334155"/>
                </a:solidFill>
                <a:latin typeface="Segoe UI" panose="020B0502040204020203"/>
              </a:rPr>
              <a:t>The central viewport containing active AI chat messages &amp; streaming outputs.</a:t>
            </a:r>
            <a:endParaRPr sz="950">
              <a:solidFill>
                <a:srgbClr val="334155"/>
              </a:solidFill>
              <a:latin typeface="Segoe UI" panose="020B0502040204020203"/>
            </a:endParaRPr>
          </a:p>
          <a:p>
            <a:pPr>
              <a:spcAft>
                <a:spcPts val="600"/>
              </a:spcAft>
            </a:pPr>
            <a:r>
              <a:rPr sz="980" b="1">
                <a:solidFill>
                  <a:srgbClr val="0052CC"/>
                </a:solidFill>
                <a:latin typeface="Consolas" panose="020B0609020204030204"/>
              </a:rPr>
              <a:t>&lt;aside&gt; : </a:t>
            </a:r>
            <a:r>
              <a:rPr sz="950">
                <a:solidFill>
                  <a:srgbClr val="334155"/>
                </a:solidFill>
                <a:latin typeface="Segoe UI" panose="020B0502040204020203"/>
              </a:rPr>
              <a:t>The collapsible sidebar holding document upload drawers, history &amp; settings.</a:t>
            </a:r>
            <a:endParaRPr sz="950">
              <a:solidFill>
                <a:srgbClr val="334155"/>
              </a:solidFill>
              <a:latin typeface="Segoe UI" panose="020B0502040204020203"/>
            </a:endParaRPr>
          </a:p>
          <a:p>
            <a:pPr>
              <a:spcAft>
                <a:spcPts val="600"/>
              </a:spcAft>
            </a:pPr>
            <a:r>
              <a:rPr sz="980" b="1">
                <a:solidFill>
                  <a:srgbClr val="0052CC"/>
                </a:solidFill>
                <a:latin typeface="Consolas" panose="020B0609020204030204"/>
              </a:rPr>
              <a:t>&lt;article&gt; : </a:t>
            </a:r>
            <a:r>
              <a:rPr sz="950">
                <a:solidFill>
                  <a:srgbClr val="334155"/>
                </a:solidFill>
                <a:latin typeface="Segoe UI" panose="020B0502040204020203"/>
              </a:rPr>
              <a:t>Individual chat message bubbles (User query, Assistant response, Tool output).</a:t>
            </a:r>
            <a:endParaRPr sz="950">
              <a:solidFill>
                <a:srgbClr val="334155"/>
              </a:solidFill>
              <a:latin typeface="Segoe UI" panose="020B0502040204020203"/>
            </a:endParaRPr>
          </a:p>
          <a:p>
            <a:pPr>
              <a:spcAft>
                <a:spcPts val="600"/>
              </a:spcAft>
            </a:pPr>
            <a:r>
              <a:rPr sz="980" b="1">
                <a:solidFill>
                  <a:srgbClr val="0052CC"/>
                </a:solidFill>
                <a:latin typeface="Consolas" panose="020B0609020204030204"/>
              </a:rPr>
              <a:t>&lt;pre&gt; &amp; &lt;code&gt; : </a:t>
            </a:r>
            <a:r>
              <a:rPr sz="950">
                <a:solidFill>
                  <a:srgbClr val="334155"/>
                </a:solidFill>
                <a:latin typeface="Segoe UI" panose="020B0502040204020203"/>
              </a:rPr>
              <a:t>Formatted markdown blocks for LLM Python code generation with copy actions.</a:t>
            </a:r>
            <a:endParaRPr sz="950">
              <a:solidFill>
                <a:srgbClr val="334155"/>
              </a:solidFill>
              <a:latin typeface="Segoe UI" panose="020B0502040204020203"/>
            </a:endParaRPr>
          </a:p>
          <a:p>
            <a:pPr>
              <a:spcAft>
                <a:spcPts val="600"/>
              </a:spcAft>
            </a:pPr>
            <a:r>
              <a:rPr sz="980" b="1">
                <a:solidFill>
                  <a:srgbClr val="0052CC"/>
                </a:solidFill>
                <a:latin typeface="Consolas" panose="020B0609020204030204"/>
              </a:rPr>
              <a:t>&lt;form&gt; : </a:t>
            </a:r>
            <a:r>
              <a:rPr sz="950">
                <a:solidFill>
                  <a:srgbClr val="334155"/>
                </a:solidFill>
                <a:latin typeface="Segoe UI" panose="020B0502040204020203"/>
              </a:rPr>
              <a:t>The input container ensuring Enter-key submission and prompt accessibility.</a:t>
            </a:r>
            <a:endParaRPr sz="950">
              <a:solidFill>
                <a:srgbClr val="334155"/>
              </a:solidFill>
              <a:latin typeface="Segoe UI" panose="020B0502040204020203"/>
            </a:endParaRPr>
          </a:p>
          <a:p>
            <a:pPr>
              <a:spcAft>
                <a:spcPts val="600"/>
              </a:spcAft>
            </a:pPr>
            <a:r>
              <a:rPr sz="980" b="1">
                <a:solidFill>
                  <a:srgbClr val="0052CC"/>
                </a:solidFill>
                <a:latin typeface="Consolas" panose="020B0609020204030204"/>
              </a:rPr>
              <a:t>&lt;button&gt; : </a:t>
            </a:r>
            <a:r>
              <a:rPr sz="950">
                <a:solidFill>
                  <a:srgbClr val="334155"/>
                </a:solidFill>
                <a:latin typeface="Segoe UI" panose="020B0502040204020203"/>
              </a:rPr>
              <a:t>Interactive controls with disabled states when the model is generating tokens.</a:t>
            </a:r>
            <a:endParaRPr sz="95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index.html (Semantic Structure)</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E2E8F0"/>
                </a:solidFill>
                <a:latin typeface="Consolas" panose="020B0609020204030204"/>
              </a:defRPr>
            </a:pPr>
            <a:r>
              <a:t>&lt;!-- Semantic AI Chat Layout --&gt;</a:t>
            </a:r>
          </a:p>
          <a:p>
            <a:pPr>
              <a:defRPr sz="880">
                <a:solidFill>
                  <a:srgbClr val="E2E8F0"/>
                </a:solidFill>
                <a:latin typeface="Consolas" panose="020B0609020204030204"/>
              </a:defRPr>
            </a:pPr>
            <a:r>
              <a:t>&lt;div class="app-container"&gt;</a:t>
            </a:r>
          </a:p>
          <a:p>
            <a:pPr>
              <a:defRPr sz="880">
                <a:solidFill>
                  <a:srgbClr val="E2E8F0"/>
                </a:solidFill>
                <a:latin typeface="Consolas" panose="020B0609020204030204"/>
              </a:defRPr>
            </a:pPr>
            <a:r>
              <a:t>  &lt;aside class="sidebar-drawer"&gt;</a:t>
            </a:r>
          </a:p>
          <a:p>
            <a:pPr>
              <a:defRPr sz="880">
                <a:solidFill>
                  <a:srgbClr val="E2E8F0"/>
                </a:solidFill>
                <a:latin typeface="Consolas" panose="020B0609020204030204"/>
              </a:defRPr>
            </a:pPr>
            <a:r>
              <a:t>    &lt;button id="new-chat-btn"&gt;+ New Session&lt;/button&gt;</a:t>
            </a:r>
          </a:p>
          <a:p>
            <a:pPr>
              <a:defRPr sz="880">
                <a:solidFill>
                  <a:srgbClr val="E2E8F0"/>
                </a:solidFill>
                <a:latin typeface="Consolas" panose="020B0609020204030204"/>
              </a:defRPr>
            </a:pPr>
            <a:r>
              <a:t>    &lt;nav class="chat-history"&gt;&lt;/nav&gt;</a:t>
            </a:r>
          </a:p>
          <a:p>
            <a:pPr>
              <a:defRPr sz="880">
                <a:solidFill>
                  <a:srgbClr val="E2E8F0"/>
                </a:solidFill>
                <a:latin typeface="Consolas" panose="020B0609020204030204"/>
              </a:defRPr>
            </a:pPr>
            <a:r>
              <a:t>  &lt;/aside&gt;</a:t>
            </a:r>
          </a:p>
          <a:p>
            <a:pPr>
              <a:defRPr sz="880">
                <a:solidFill>
                  <a:srgbClr val="E2E8F0"/>
                </a:solidFill>
                <a:latin typeface="Consolas" panose="020B0609020204030204"/>
              </a:defRPr>
            </a:pPr>
          </a:p>
          <a:p>
            <a:pPr>
              <a:defRPr sz="880">
                <a:solidFill>
                  <a:srgbClr val="E2E8F0"/>
                </a:solidFill>
                <a:latin typeface="Consolas" panose="020B0609020204030204"/>
              </a:defRPr>
            </a:pPr>
            <a:r>
              <a:t>  &lt;main class="chat-viewport"&gt;</a:t>
            </a:r>
          </a:p>
          <a:p>
            <a:pPr>
              <a:defRPr sz="880">
                <a:solidFill>
                  <a:srgbClr val="E2E8F0"/>
                </a:solidFill>
                <a:latin typeface="Consolas" panose="020B0609020204030204"/>
              </a:defRPr>
            </a:pPr>
            <a:r>
              <a:t>    &lt;section id="message-list"&gt;</a:t>
            </a:r>
          </a:p>
          <a:p>
            <a:pPr>
              <a:defRPr sz="880">
                <a:solidFill>
                  <a:srgbClr val="E2E8F0"/>
                </a:solidFill>
                <a:latin typeface="Consolas" panose="020B0609020204030204"/>
              </a:defRPr>
            </a:pPr>
            <a:r>
              <a:t>      &lt;article class="msg assistant"&gt;</a:t>
            </a:r>
          </a:p>
          <a:p>
            <a:pPr>
              <a:defRPr sz="880">
                <a:solidFill>
                  <a:srgbClr val="E2E8F0"/>
                </a:solidFill>
                <a:latin typeface="Consolas" panose="020B0609020204030204"/>
              </a:defRPr>
            </a:pPr>
            <a:r>
              <a:t>        &lt;header&gt;&lt;strong&gt;Gemini 1.5 Pro&lt;/strong&gt;&lt;/header&gt;</a:t>
            </a:r>
          </a:p>
          <a:p>
            <a:pPr>
              <a:defRPr sz="880">
                <a:solidFill>
                  <a:srgbClr val="E2E8F0"/>
                </a:solidFill>
                <a:latin typeface="Consolas" panose="020B0609020204030204"/>
              </a:defRPr>
            </a:pPr>
            <a:r>
              <a:t>        &lt;pre&gt;&lt;code&gt;print('Hello AI World!')&lt;/code&gt;&lt;/pre&gt;</a:t>
            </a:r>
          </a:p>
          <a:p>
            <a:pPr>
              <a:defRPr sz="880">
                <a:solidFill>
                  <a:srgbClr val="E2E8F0"/>
                </a:solidFill>
                <a:latin typeface="Consolas" panose="020B0609020204030204"/>
              </a:defRPr>
            </a:pPr>
            <a:r>
              <a:t>      &lt;/article&gt;</a:t>
            </a:r>
          </a:p>
          <a:p>
            <a:pPr>
              <a:defRPr sz="880">
                <a:solidFill>
                  <a:srgbClr val="E2E8F0"/>
                </a:solidFill>
                <a:latin typeface="Consolas" panose="020B0609020204030204"/>
              </a:defRPr>
            </a:pPr>
            <a:r>
              <a:t>    &lt;/section&gt;</a:t>
            </a:r>
          </a:p>
          <a:p>
            <a:pPr>
              <a:defRPr sz="880">
                <a:solidFill>
                  <a:srgbClr val="E2E8F0"/>
                </a:solidFill>
                <a:latin typeface="Consolas" panose="020B0609020204030204"/>
              </a:defRPr>
            </a:pPr>
          </a:p>
          <a:p>
            <a:pPr>
              <a:defRPr sz="880">
                <a:solidFill>
                  <a:srgbClr val="E2E8F0"/>
                </a:solidFill>
                <a:latin typeface="Consolas" panose="020B0609020204030204"/>
              </a:defRPr>
            </a:pPr>
            <a:r>
              <a:t>    &lt;form id="prompt-form"&gt;</a:t>
            </a:r>
          </a:p>
          <a:p>
            <a:pPr>
              <a:defRPr sz="880">
                <a:solidFill>
                  <a:srgbClr val="E2E8F0"/>
                </a:solidFill>
                <a:latin typeface="Consolas" panose="020B0609020204030204"/>
              </a:defRPr>
            </a:pPr>
            <a:r>
              <a:t>      &lt;textarea placeholder="Ask anything..."&gt;&lt;/textarea&gt;</a:t>
            </a:r>
          </a:p>
          <a:p>
            <a:pPr>
              <a:defRPr sz="880">
                <a:solidFill>
                  <a:srgbClr val="E2E8F0"/>
                </a:solidFill>
                <a:latin typeface="Consolas" panose="020B0609020204030204"/>
              </a:defRPr>
            </a:pPr>
            <a:r>
              <a:t>      &lt;button type="submit"&gt;Send Prompt&lt;/button&gt;</a:t>
            </a:r>
          </a:p>
          <a:p>
            <a:pPr>
              <a:defRPr sz="880">
                <a:solidFill>
                  <a:srgbClr val="E2E8F0"/>
                </a:solidFill>
                <a:latin typeface="Consolas" panose="020B0609020204030204"/>
              </a:defRPr>
            </a:pPr>
            <a:r>
              <a:t>    &lt;/form&gt;</a:t>
            </a:r>
          </a:p>
          <a:p>
            <a:pPr>
              <a:defRPr sz="880">
                <a:solidFill>
                  <a:srgbClr val="E2E8F0"/>
                </a:solidFill>
                <a:latin typeface="Consolas" panose="020B0609020204030204"/>
              </a:defRPr>
            </a:pPr>
            <a:r>
              <a:t>  &lt;/main&gt;</a:t>
            </a:r>
          </a:p>
          <a:p>
            <a:pPr>
              <a:defRPr sz="880">
                <a:solidFill>
                  <a:srgbClr val="E2E8F0"/>
                </a:solidFill>
                <a:latin typeface="Consolas" panose="020B0609020204030204"/>
              </a:defRPr>
            </a:pPr>
            <a:r>
              <a:t>&lt;/div&gt;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5.3 · MODERN CSS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Modern CSS: Flexbox &amp; Grid for Streaming Chat Layouts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AI apps require rigid architectural layouts: scrollable message viewports, sticky prompt bars, and responsive drawers.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5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Key Layout Challenges in AI Interfaces</a:t>
            </a:r>
          </a:p>
          <a:p>
            <a:pPr>
              <a:spcAft>
                <a:spcPts val="800"/>
              </a:spcAft>
            </a:pPr>
            <a:r>
              <a:rPr sz="950" b="1">
                <a:solidFill>
                  <a:srgbClr val="0F172A"/>
                </a:solidFill>
                <a:latin typeface="Segoe UI" panose="020B0502040204020203"/>
              </a:rPr>
              <a:t>• CSS Grid for Dashboard Shell: </a:t>
            </a:r>
            <a:r>
              <a:rPr sz="920">
                <a:solidFill>
                  <a:srgbClr val="334155"/>
                </a:solidFill>
                <a:latin typeface="Segoe UI" panose="020B0502040204020203"/>
              </a:rPr>
              <a:t>grid-template-columns: 280px 1fr 340px; divides screen into History Sidebar, Main Chat Viewport, and RAG Citation Inspector.</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Flexbox Column for Chat Flow: </a:t>
            </a:r>
            <a:r>
              <a:rPr sz="920">
                <a:solidFill>
                  <a:srgbClr val="334155"/>
                </a:solidFill>
                <a:latin typeface="Segoe UI" panose="020B0502040204020203"/>
              </a:rPr>
              <a:t>display: flex; flex-direction: column; stacks messages naturally and pushes latest response down.</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Overflow &amp; Scroll Containment: </a:t>
            </a:r>
            <a:r>
              <a:rPr sz="920">
                <a:solidFill>
                  <a:srgbClr val="334155"/>
                </a:solidFill>
                <a:latin typeface="Segoe UI" panose="020B0502040204020203"/>
              </a:rPr>
              <a:t>overflow-y: auto; on the message list ensures ONLY the chat scrolls while header and prompt input remain pinned.</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Sticky Bottom Prompt Composer: </a:t>
            </a:r>
            <a:r>
              <a:rPr sz="920">
                <a:solidFill>
                  <a:srgbClr val="334155"/>
                </a:solidFill>
                <a:latin typeface="Segoe UI" panose="020B0502040204020203"/>
              </a:rPr>
              <a:t>position: sticky; bottom: 0; or flex: 0 0 auto; prevents prompt box from flying off-screen during generation.</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CSS Variables for Dark/Light Mode: </a:t>
            </a:r>
            <a:r>
              <a:rPr sz="920">
                <a:solidFill>
                  <a:srgbClr val="334155"/>
                </a:solidFill>
                <a:latin typeface="Segoe UI" panose="020B0502040204020203"/>
              </a:rPr>
              <a:t>--bg-chat: #0F172A; --token-color: #38BDF8; enables instantaneous AI developer theme toggling.</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styles.css (Flexbox &amp; Grid Pattern)</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94A3B8"/>
                </a:solidFill>
                <a:latin typeface="Consolas" panose="020B0609020204030204"/>
              </a:defRPr>
            </a:pPr>
            <a:r>
              <a:t>/* Production AI Chat Layout */</a:t>
            </a:r>
          </a:p>
          <a:p>
            <a:pPr>
              <a:defRPr sz="880">
                <a:solidFill>
                  <a:srgbClr val="E2E8F0"/>
                </a:solidFill>
                <a:latin typeface="Consolas" panose="020B0609020204030204"/>
              </a:defRPr>
            </a:pPr>
            <a:r>
              <a:t>.app-shell {</a:t>
            </a:r>
          </a:p>
          <a:p>
            <a:pPr>
              <a:defRPr sz="880">
                <a:solidFill>
                  <a:srgbClr val="E2E8F0"/>
                </a:solidFill>
                <a:latin typeface="Consolas" panose="020B0609020204030204"/>
              </a:defRPr>
            </a:pPr>
            <a:r>
              <a:t>  display: grid;</a:t>
            </a:r>
          </a:p>
          <a:p>
            <a:pPr>
              <a:defRPr sz="880">
                <a:solidFill>
                  <a:srgbClr val="E2E8F0"/>
                </a:solidFill>
                <a:latin typeface="Consolas" panose="020B0609020204030204"/>
              </a:defRPr>
            </a:pPr>
            <a:r>
              <a:t>  grid-template-columns: 260px 1fr;</a:t>
            </a:r>
          </a:p>
          <a:p>
            <a:pPr>
              <a:defRPr sz="880">
                <a:solidFill>
                  <a:srgbClr val="E2E8F0"/>
                </a:solidFill>
                <a:latin typeface="Consolas" panose="020B0609020204030204"/>
              </a:defRPr>
            </a:pPr>
            <a:r>
              <a:t>  height: 100vh;</a:t>
            </a:r>
          </a:p>
          <a:p>
            <a:pPr>
              <a:defRPr sz="880">
                <a:solidFill>
                  <a:srgbClr val="E2E8F0"/>
                </a:solidFill>
                <a:latin typeface="Consolas" panose="020B0609020204030204"/>
              </a:defRPr>
            </a:pPr>
            <a:r>
              <a:t>  background: var(--bg-main);</a:t>
            </a:r>
          </a:p>
          <a:p>
            <a:pPr>
              <a:defRPr sz="880">
                <a:solidFill>
                  <a:srgbClr val="E2E8F0"/>
                </a:solidFill>
                <a:latin typeface="Consolas" panose="020B0609020204030204"/>
              </a:defRPr>
            </a:pPr>
            <a:r>
              <a:t>}</a:t>
            </a:r>
          </a:p>
          <a:p>
            <a:pPr>
              <a:defRPr sz="880">
                <a:solidFill>
                  <a:srgbClr val="E2E8F0"/>
                </a:solidFill>
                <a:latin typeface="Consolas" panose="020B0609020204030204"/>
              </a:defRPr>
            </a:pPr>
          </a:p>
          <a:p>
            <a:pPr>
              <a:defRPr sz="880">
                <a:solidFill>
                  <a:srgbClr val="E2E8F0"/>
                </a:solidFill>
                <a:latin typeface="Consolas" panose="020B0609020204030204"/>
              </a:defRPr>
            </a:pPr>
            <a:r>
              <a:t>.chat-viewport {</a:t>
            </a:r>
          </a:p>
          <a:p>
            <a:pPr>
              <a:defRPr sz="880">
                <a:solidFill>
                  <a:srgbClr val="E2E8F0"/>
                </a:solidFill>
                <a:latin typeface="Consolas" panose="020B0609020204030204"/>
              </a:defRPr>
            </a:pPr>
            <a:r>
              <a:t>  display: flex;</a:t>
            </a:r>
          </a:p>
          <a:p>
            <a:pPr>
              <a:defRPr sz="880">
                <a:solidFill>
                  <a:srgbClr val="E2E8F0"/>
                </a:solidFill>
                <a:latin typeface="Consolas" panose="020B0609020204030204"/>
              </a:defRPr>
            </a:pPr>
            <a:r>
              <a:t>  flex-direction: column;</a:t>
            </a:r>
          </a:p>
          <a:p>
            <a:pPr>
              <a:defRPr sz="880">
                <a:solidFill>
                  <a:srgbClr val="E2E8F0"/>
                </a:solidFill>
                <a:latin typeface="Consolas" panose="020B0609020204030204"/>
              </a:defRPr>
            </a:pPr>
            <a:r>
              <a:t>  height: 100%;</a:t>
            </a:r>
          </a:p>
          <a:p>
            <a:pPr>
              <a:defRPr sz="880">
                <a:solidFill>
                  <a:srgbClr val="E2E8F0"/>
                </a:solidFill>
                <a:latin typeface="Consolas" panose="020B0609020204030204"/>
              </a:defRPr>
            </a:pPr>
            <a:r>
              <a:t>  overflow: hidden;</a:t>
            </a:r>
          </a:p>
          <a:p>
            <a:pPr>
              <a:defRPr sz="880">
                <a:solidFill>
                  <a:srgbClr val="E2E8F0"/>
                </a:solidFill>
                <a:latin typeface="Consolas" panose="020B0609020204030204"/>
              </a:defRPr>
            </a:pPr>
            <a:r>
              <a:t>}</a:t>
            </a:r>
          </a:p>
          <a:p>
            <a:pPr>
              <a:defRPr sz="880">
                <a:solidFill>
                  <a:srgbClr val="E2E8F0"/>
                </a:solidFill>
                <a:latin typeface="Consolas" panose="020B0609020204030204"/>
              </a:defRPr>
            </a:pPr>
          </a:p>
          <a:p>
            <a:pPr>
              <a:defRPr sz="880">
                <a:solidFill>
                  <a:srgbClr val="E2E8F0"/>
                </a:solidFill>
                <a:latin typeface="Consolas" panose="020B0609020204030204"/>
              </a:defRPr>
            </a:pPr>
            <a:r>
              <a:t>.message-scroll-area {</a:t>
            </a:r>
          </a:p>
          <a:p>
            <a:pPr>
              <a:defRPr sz="880">
                <a:solidFill>
                  <a:srgbClr val="E2E8F0"/>
                </a:solidFill>
                <a:latin typeface="Consolas" panose="020B0609020204030204"/>
              </a:defRPr>
            </a:pPr>
            <a:r>
              <a:t>  flex: 1 1 auto;</a:t>
            </a:r>
          </a:p>
          <a:p>
            <a:pPr>
              <a:defRPr sz="880">
                <a:solidFill>
                  <a:srgbClr val="E2E8F0"/>
                </a:solidFill>
                <a:latin typeface="Consolas" panose="020B0609020204030204"/>
              </a:defRPr>
            </a:pPr>
            <a:r>
              <a:t>  overflow-y: auto;</a:t>
            </a:r>
          </a:p>
          <a:p>
            <a:pPr>
              <a:defRPr sz="880">
                <a:solidFill>
                  <a:srgbClr val="E2E8F0"/>
                </a:solidFill>
                <a:latin typeface="Consolas" panose="020B0609020204030204"/>
              </a:defRPr>
            </a:pPr>
            <a:r>
              <a:t>  padding: 1.5rem;</a:t>
            </a:r>
          </a:p>
          <a:p>
            <a:pPr>
              <a:defRPr sz="880">
                <a:solidFill>
                  <a:srgbClr val="E2E8F0"/>
                </a:solidFill>
                <a:latin typeface="Consolas" panose="020B0609020204030204"/>
              </a:defRPr>
            </a:pPr>
            <a:r>
              <a:t>  scroll-behavior: smooth;</a:t>
            </a:r>
          </a:p>
          <a:p>
            <a:pPr>
              <a:defRPr sz="880">
                <a:solidFill>
                  <a:srgbClr val="E2E8F0"/>
                </a:solidFill>
                <a:latin typeface="Consolas" panose="020B0609020204030204"/>
              </a:defRPr>
            </a:pPr>
            <a:r>
              <a:t>}</a:t>
            </a:r>
          </a:p>
          <a:p>
            <a:pPr>
              <a:defRPr sz="880">
                <a:solidFill>
                  <a:srgbClr val="E2E8F0"/>
                </a:solidFill>
                <a:latin typeface="Consolas" panose="020B0609020204030204"/>
              </a:defRPr>
            </a:pPr>
          </a:p>
          <a:p>
            <a:pPr>
              <a:defRPr sz="880">
                <a:solidFill>
                  <a:srgbClr val="E2E8F0"/>
                </a:solidFill>
                <a:latin typeface="Consolas" panose="020B0609020204030204"/>
              </a:defRPr>
            </a:pPr>
            <a:r>
              <a:t>.prompt-footer {</a:t>
            </a:r>
          </a:p>
          <a:p>
            <a:pPr>
              <a:defRPr sz="880">
                <a:solidFill>
                  <a:srgbClr val="E2E8F0"/>
                </a:solidFill>
                <a:latin typeface="Consolas" panose="020B0609020204030204"/>
              </a:defRPr>
            </a:pPr>
            <a:r>
              <a:t>  flex: 0 0 auto;</a:t>
            </a:r>
          </a:p>
          <a:p>
            <a:pPr>
              <a:defRPr sz="880">
                <a:solidFill>
                  <a:srgbClr val="E2E8F0"/>
                </a:solidFill>
                <a:latin typeface="Consolas" panose="020B0609020204030204"/>
              </a:defRPr>
            </a:pPr>
            <a:r>
              <a:t>  padding: 1rem;</a:t>
            </a:r>
          </a:p>
          <a:p>
            <a:pPr>
              <a:defRPr sz="880">
                <a:solidFill>
                  <a:srgbClr val="E2E8F0"/>
                </a:solidFill>
                <a:latin typeface="Consolas" panose="020B0609020204030204"/>
              </a:defRPr>
            </a:pPr>
            <a:r>
              <a:t>  border-top: 1px solid var(--border-color);</a:t>
            </a:r>
          </a:p>
          <a:p>
            <a:pPr>
              <a:defRPr sz="880">
                <a:solidFill>
                  <a:srgbClr val="E2E8F0"/>
                </a:solidFill>
                <a:latin typeface="Consolas" panose="020B0609020204030204"/>
              </a:defRPr>
            </a:pPr>
            <a:r>
              <a: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5.4 · MODERN JAVASCRIPT</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Essential ES6+ JavaScript for AI Engineers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Modern React is 100% powered by modern JavaScript: arrow functions, destructuring, and functional pipelines.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6 of 35</a:t>
            </a:r>
          </a:p>
        </p:txBody>
      </p:sp>
      <p:sp>
        <p:nvSpPr>
          <p:cNvPr id="8" name="Rounded Rectangle 7"/>
          <p:cNvSpPr/>
          <p:nvPr/>
        </p:nvSpPr>
        <p:spPr>
          <a:xfrm>
            <a:off x="731520" y="1645920"/>
            <a:ext cx="3383280" cy="438912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3017520" cy="4023360"/>
          </a:xfrm>
          <a:prstGeom prst="rect">
            <a:avLst/>
          </a:prstGeom>
          <a:noFill/>
        </p:spPr>
        <p:txBody>
          <a:bodyPr wrap="square" lIns="0" tIns="0" rIns="0" bIns="0">
            <a:spAutoFit/>
          </a:bodyPr>
          <a:lstStyle/>
          <a:p>
            <a:pPr>
              <a:defRPr sz="1300" b="1">
                <a:solidFill>
                  <a:srgbClr val="0B5C9E"/>
                </a:solidFill>
                <a:latin typeface="Segoe UI" panose="020B0502040204020203"/>
              </a:defRPr>
            </a:pPr>
            <a:r>
              <a:t>Arrow Functions &amp; Scope</a:t>
            </a:r>
          </a:p>
          <a:p>
            <a:pPr>
              <a:spcAft>
                <a:spcPts val="1200"/>
              </a:spcAft>
              <a:defRPr sz="950">
                <a:solidFill>
                  <a:srgbClr val="64748B"/>
                </a:solidFill>
                <a:latin typeface="Segoe UI" panose="020B0502040204020203"/>
              </a:defRPr>
            </a:pPr>
            <a:r>
              <a:t>Concise, Lexical 'this'</a:t>
            </a:r>
          </a:p>
          <a:p>
            <a:pPr>
              <a:spcAft>
                <a:spcPts val="800"/>
              </a:spcAft>
            </a:pPr>
            <a:r>
              <a:rPr sz="950" b="1">
                <a:solidFill>
                  <a:srgbClr val="0F172A"/>
                </a:solidFill>
                <a:latin typeface="Segoe UI" panose="020B0502040204020203"/>
              </a:rPr>
              <a:t>• Implicit Return: </a:t>
            </a:r>
            <a:r>
              <a:rPr sz="920">
                <a:solidFill>
                  <a:srgbClr val="334155"/>
                </a:solidFill>
                <a:latin typeface="Segoe UI" panose="020B0502040204020203"/>
              </a:rPr>
              <a:t>const getTokens = (p) =&gt; p.split(' ').length;</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Lexical 'this': </a:t>
            </a:r>
            <a:r>
              <a:rPr sz="920">
                <a:solidFill>
                  <a:srgbClr val="334155"/>
                </a:solidFill>
                <a:latin typeface="Segoe UI" panose="020B0502040204020203"/>
              </a:rPr>
              <a:t>Arrow functions do not bind their own 'this', avoiding legacy .bind(this) bugs in handlers.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Event Handlers: </a:t>
            </a:r>
            <a:r>
              <a:rPr sz="920">
                <a:solidFill>
                  <a:srgbClr val="334155"/>
                </a:solidFill>
                <a:latin typeface="Segoe UI" panose="020B0502040204020203"/>
              </a:rPr>
              <a:t>Perfect for inline callback passing: onClick={() =&gt; handleSend(msg.id)}</a:t>
            </a:r>
            <a:endParaRPr sz="920">
              <a:solidFill>
                <a:srgbClr val="334155"/>
              </a:solidFill>
              <a:latin typeface="Segoe UI" panose="020B0502040204020203"/>
            </a:endParaRPr>
          </a:p>
        </p:txBody>
      </p:sp>
      <p:sp>
        <p:nvSpPr>
          <p:cNvPr id="10" name="Rounded Rectangle 9"/>
          <p:cNvSpPr/>
          <p:nvPr/>
        </p:nvSpPr>
        <p:spPr>
          <a:xfrm>
            <a:off x="4398264" y="1645920"/>
            <a:ext cx="3383280" cy="438912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1828800"/>
            <a:ext cx="3017520" cy="4023360"/>
          </a:xfrm>
          <a:prstGeom prst="rect">
            <a:avLst/>
          </a:prstGeom>
          <a:noFill/>
        </p:spPr>
        <p:txBody>
          <a:bodyPr wrap="square" lIns="0" tIns="0" rIns="0" bIns="0">
            <a:spAutoFit/>
          </a:bodyPr>
          <a:lstStyle/>
          <a:p>
            <a:pPr>
              <a:defRPr sz="1300" b="1">
                <a:solidFill>
                  <a:srgbClr val="7C3AED"/>
                </a:solidFill>
                <a:latin typeface="Segoe UI" panose="020B0502040204020203"/>
              </a:defRPr>
            </a:pPr>
            <a:r>
              <a:t>Destructuring &amp; Spread</a:t>
            </a:r>
          </a:p>
          <a:p>
            <a:pPr>
              <a:spcAft>
                <a:spcPts val="1200"/>
              </a:spcAft>
              <a:defRPr sz="950">
                <a:solidFill>
                  <a:srgbClr val="64748B"/>
                </a:solidFill>
                <a:latin typeface="Segoe UI" panose="020B0502040204020203"/>
              </a:defRPr>
            </a:pPr>
            <a:r>
              <a:t>Clean Data Manipulation</a:t>
            </a:r>
          </a:p>
          <a:p>
            <a:pPr>
              <a:spcAft>
                <a:spcPts val="800"/>
              </a:spcAft>
            </a:pPr>
            <a:r>
              <a:rPr sz="950" b="1">
                <a:solidFill>
                  <a:srgbClr val="0F172A"/>
                </a:solidFill>
                <a:latin typeface="Segoe UI" panose="020B0502040204020203"/>
              </a:rPr>
              <a:t>• Object Destructuring: </a:t>
            </a:r>
            <a:r>
              <a:rPr sz="920">
                <a:solidFill>
                  <a:srgbClr val="334155"/>
                </a:solidFill>
                <a:latin typeface="Segoe UI" panose="020B0502040204020203"/>
              </a:rPr>
              <a:t>const { model, temp } = config; avoids repeating 'config.model' everywhere.</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Array Destructuring: </a:t>
            </a:r>
            <a:r>
              <a:rPr sz="920">
                <a:solidFill>
                  <a:srgbClr val="334155"/>
                </a:solidFill>
                <a:latin typeface="Segoe UI" panose="020B0502040204020203"/>
              </a:rPr>
              <a:t>const [state, setState] = useState() unpacks values cleanly.</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Immutable Spread (...): </a:t>
            </a:r>
            <a:r>
              <a:rPr sz="920">
                <a:solidFill>
                  <a:srgbClr val="334155"/>
                </a:solidFill>
                <a:latin typeface="Segoe UI" panose="020B0502040204020203"/>
              </a:rPr>
              <a:t>setChat(prev =&gt; [...prev, newMsg]); adds items without mutating original state!</a:t>
            </a:r>
            <a:endParaRPr sz="920">
              <a:solidFill>
                <a:srgbClr val="334155"/>
              </a:solidFill>
              <a:latin typeface="Segoe UI" panose="020B0502040204020203"/>
            </a:endParaRPr>
          </a:p>
        </p:txBody>
      </p:sp>
      <p:sp>
        <p:nvSpPr>
          <p:cNvPr id="12" name="Rounded Rectangle 11"/>
          <p:cNvSpPr/>
          <p:nvPr/>
        </p:nvSpPr>
        <p:spPr>
          <a:xfrm>
            <a:off x="8065008" y="1645920"/>
            <a:ext cx="3383280" cy="438912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828800"/>
            <a:ext cx="3017520" cy="4023360"/>
          </a:xfrm>
          <a:prstGeom prst="rect">
            <a:avLst/>
          </a:prstGeom>
          <a:noFill/>
        </p:spPr>
        <p:txBody>
          <a:bodyPr wrap="square" lIns="0" tIns="0" rIns="0" bIns="0">
            <a:spAutoFit/>
          </a:bodyPr>
          <a:lstStyle/>
          <a:p>
            <a:pPr>
              <a:defRPr sz="1300" b="1">
                <a:solidFill>
                  <a:srgbClr val="16A34A"/>
                </a:solidFill>
                <a:latin typeface="Segoe UI" panose="020B0502040204020203"/>
              </a:defRPr>
            </a:pPr>
            <a:r>
              <a:t>Map, Filter, &amp; Reduce</a:t>
            </a:r>
          </a:p>
          <a:p>
            <a:pPr>
              <a:spcAft>
                <a:spcPts val="1200"/>
              </a:spcAft>
              <a:defRPr sz="950">
                <a:solidFill>
                  <a:srgbClr val="64748B"/>
                </a:solidFill>
                <a:latin typeface="Segoe UI" panose="020B0502040204020203"/>
              </a:defRPr>
            </a:pPr>
            <a:r>
              <a:t>Functional Stream Pipelines</a:t>
            </a:r>
          </a:p>
          <a:p>
            <a:pPr>
              <a:spcAft>
                <a:spcPts val="800"/>
              </a:spcAft>
            </a:pPr>
            <a:r>
              <a:rPr sz="950" b="1">
                <a:solidFill>
                  <a:srgbClr val="0F172A"/>
                </a:solidFill>
                <a:latin typeface="Segoe UI" panose="020B0502040204020203"/>
              </a:rPr>
              <a:t>• .map() Transformation: </a:t>
            </a:r>
            <a:r>
              <a:rPr sz="920">
                <a:solidFill>
                  <a:srgbClr val="334155"/>
                </a:solidFill>
                <a:latin typeface="Segoe UI" panose="020B0502040204020203"/>
              </a:rPr>
              <a:t>Transforms raw message objects directly into JSX cards.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.filter() Curation: </a:t>
            </a:r>
            <a:r>
              <a:rPr sz="920">
                <a:solidFill>
                  <a:srgbClr val="334155"/>
                </a:solidFill>
                <a:latin typeface="Segoe UI" panose="020B0502040204020203"/>
              </a:rPr>
              <a:t>Removes system messages or deleted queries instantaneously.</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.reduce() Aggregation: </a:t>
            </a:r>
            <a:r>
              <a:rPr sz="920">
                <a:solidFill>
                  <a:srgbClr val="334155"/>
                </a:solidFill>
                <a:latin typeface="Segoe UI" panose="020B0502040204020203"/>
              </a:rPr>
              <a:t>Sums total token usage across all conversation turns: messages.reduce((acc, m) =&gt; acc + m.tokens, 0)</a:t>
            </a:r>
            <a:endParaRPr sz="920">
              <a:solidFill>
                <a:srgbClr val="334155"/>
              </a:solidFill>
              <a:latin typeface="Segoe UI" panose="020B0502040204020203"/>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5.5 · ASYNCHRONOUS JS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Asynchronous JS: Handling SSE &amp; Token Streams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LLMs stream tokens via Server-Sent Events (SSE) or HTTP chunked transfers. AI engineers must master stream decoders.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7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The Modern AI Stream Pipeline</a:t>
            </a:r>
          </a:p>
          <a:p>
            <a:pPr>
              <a:spcAft>
                <a:spcPts val="800"/>
              </a:spcAft>
            </a:pPr>
            <a:r>
              <a:rPr sz="950" b="1">
                <a:solidFill>
                  <a:srgbClr val="0F172A"/>
                </a:solidFill>
                <a:latin typeface="Segoe UI" panose="020B0502040204020203"/>
              </a:rPr>
              <a:t>1. fetch() with POST: </a:t>
            </a:r>
            <a:r>
              <a:rPr sz="920">
                <a:solidFill>
                  <a:srgbClr val="334155"/>
                </a:solidFill>
                <a:latin typeface="Segoe UI" panose="020B0502040204020203"/>
              </a:rPr>
              <a:t>Send prompt, model parameters, and stream: true to FastAPI or OpenAI/Gemini endpoints.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response.body.getReader(): </a:t>
            </a:r>
            <a:r>
              <a:rPr sz="920">
                <a:solidFill>
                  <a:srgbClr val="334155"/>
                </a:solidFill>
                <a:latin typeface="Segoe UI" panose="020B0502040204020203"/>
              </a:rPr>
              <a:t>Acquire a ReadableStreamDefaultReader to stream binary chunks without buffering full payload.</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TextDecoder('utf-8'): </a:t>
            </a:r>
            <a:r>
              <a:rPr sz="920">
                <a:solidFill>
                  <a:srgbClr val="334155"/>
                </a:solidFill>
                <a:latin typeface="Segoe UI" panose="020B0502040204020203"/>
              </a:rPr>
              <a:t>Decodes incoming Uint8Array binary chunks into human-readable text strings.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while (true) Loop: </a:t>
            </a:r>
            <a:r>
              <a:rPr sz="920">
                <a:solidFill>
                  <a:srgbClr val="334155"/>
                </a:solidFill>
                <a:latin typeface="Segoe UI" panose="020B0502040204020203"/>
              </a:rPr>
              <a:t>Continuously await reader.read() until { done: true } signals stream completion.</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AbortController: </a:t>
            </a:r>
            <a:r>
              <a:rPr sz="920">
                <a:solidFill>
                  <a:srgbClr val="334155"/>
                </a:solidFill>
                <a:latin typeface="Segoe UI" panose="020B0502040204020203"/>
              </a:rPr>
              <a:t>Essential tool to allow users to click 'Stop Generating' and cancel the in-flight HTTP connection.</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stream_reader.js (Token Streaming Implementation)</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94A3B8"/>
                </a:solidFill>
                <a:latin typeface="Consolas" panose="020B0609020204030204"/>
              </a:defRPr>
            </a:pPr>
            <a:r>
              <a:t>// Production Token Streaming Reader</a:t>
            </a:r>
          </a:p>
          <a:p>
            <a:pPr>
              <a:defRPr sz="880">
                <a:solidFill>
                  <a:srgbClr val="38BDF8"/>
                </a:solidFill>
                <a:latin typeface="Consolas" panose="020B0609020204030204"/>
              </a:defRPr>
            </a:pPr>
            <a:r>
              <a:t>async function streamPrompt(prompt, onToken, signal) {</a:t>
            </a:r>
          </a:p>
          <a:p>
            <a:pPr>
              <a:defRPr sz="880">
                <a:solidFill>
                  <a:srgbClr val="38BDF8"/>
                </a:solidFill>
                <a:latin typeface="Consolas" panose="020B0609020204030204"/>
              </a:defRPr>
            </a:pPr>
            <a:r>
              <a:t>  const response = await fetch('/api/chat/stream', {</a:t>
            </a:r>
          </a:p>
          <a:p>
            <a:pPr>
              <a:defRPr sz="880">
                <a:solidFill>
                  <a:srgbClr val="E2E8F0"/>
                </a:solidFill>
                <a:latin typeface="Consolas" panose="020B0609020204030204"/>
              </a:defRPr>
            </a:pPr>
            <a:r>
              <a:t>    method: 'POST',</a:t>
            </a:r>
          </a:p>
          <a:p>
            <a:pPr>
              <a:defRPr sz="880">
                <a:solidFill>
                  <a:srgbClr val="E2E8F0"/>
                </a:solidFill>
                <a:latin typeface="Consolas" panose="020B0609020204030204"/>
              </a:defRPr>
            </a:pPr>
            <a:r>
              <a:t>    headers: { 'Content-Type': 'application/json' },</a:t>
            </a:r>
          </a:p>
          <a:p>
            <a:pPr>
              <a:defRPr sz="880">
                <a:solidFill>
                  <a:srgbClr val="E2E8F0"/>
                </a:solidFill>
                <a:latin typeface="Consolas" panose="020B0609020204030204"/>
              </a:defRPr>
            </a:pPr>
            <a:r>
              <a:t>    body: JSON.stringify({ prompt }),</a:t>
            </a:r>
          </a:p>
          <a:p>
            <a:pPr>
              <a:defRPr sz="880">
                <a:solidFill>
                  <a:srgbClr val="E2E8F0"/>
                </a:solidFill>
                <a:latin typeface="Consolas" panose="020B0609020204030204"/>
              </a:defRPr>
            </a:pPr>
            <a:r>
              <a:t>    signal // Supports AbortController cancellation!</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const reader = response.body.getReader();</a:t>
            </a:r>
          </a:p>
          <a:p>
            <a:pPr>
              <a:defRPr sz="880">
                <a:solidFill>
                  <a:srgbClr val="38BDF8"/>
                </a:solidFill>
                <a:latin typeface="Consolas" panose="020B0609020204030204"/>
              </a:defRPr>
            </a:pPr>
            <a:r>
              <a:t>  const decoder = new TextDecoder('utf-8');</a:t>
            </a:r>
          </a:p>
          <a:p>
            <a:pPr>
              <a:defRPr sz="880">
                <a:solidFill>
                  <a:srgbClr val="E2E8F0"/>
                </a:solidFill>
                <a:latin typeface="Consolas" panose="020B0609020204030204"/>
              </a:defRPr>
            </a:pPr>
          </a:p>
          <a:p>
            <a:pPr>
              <a:defRPr sz="880">
                <a:solidFill>
                  <a:srgbClr val="E2E8F0"/>
                </a:solidFill>
                <a:latin typeface="Consolas" panose="020B0609020204030204"/>
              </a:defRPr>
            </a:pPr>
            <a:r>
              <a:t>  while (true) {</a:t>
            </a:r>
          </a:p>
          <a:p>
            <a:pPr>
              <a:defRPr sz="880">
                <a:solidFill>
                  <a:srgbClr val="38BDF8"/>
                </a:solidFill>
                <a:latin typeface="Consolas" panose="020B0609020204030204"/>
              </a:defRPr>
            </a:pPr>
            <a:r>
              <a:t>    const { done, value } = await reader.read();</a:t>
            </a:r>
          </a:p>
          <a:p>
            <a:pPr>
              <a:defRPr sz="880">
                <a:solidFill>
                  <a:srgbClr val="38BDF8"/>
                </a:solidFill>
                <a:latin typeface="Consolas" panose="020B0609020204030204"/>
              </a:defRPr>
            </a:pPr>
            <a:r>
              <a:t>    if (done) break;</a:t>
            </a:r>
          </a:p>
          <a:p>
            <a:pPr>
              <a:defRPr sz="880">
                <a:solidFill>
                  <a:srgbClr val="38BDF8"/>
                </a:solidFill>
                <a:latin typeface="Consolas" panose="020B0609020204030204"/>
              </a:defRPr>
            </a:pPr>
            <a:r>
              <a:t>    const chunk = decoder.decode(value, { stream: true });</a:t>
            </a:r>
          </a:p>
          <a:p>
            <a:pPr>
              <a:defRPr sz="880">
                <a:solidFill>
                  <a:srgbClr val="E2E8F0"/>
                </a:solidFill>
                <a:latin typeface="Consolas" panose="020B0609020204030204"/>
              </a:defRPr>
            </a:pPr>
            <a:r>
              <a:t>    onToken(chunk); // Feed chunk directly into state!</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5.6 · DOM INTERNALS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Anatomy of the Real DOM: The Live Node Tree in RAM</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The browser turns dead HTML text into a live, interactive C++ Object Tree in computer memory.</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8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How the Browser Views Your Web Page</a:t>
            </a:r>
          </a:p>
          <a:p>
            <a:pPr>
              <a:spcAft>
                <a:spcPts val="600"/>
              </a:spcAft>
            </a:pPr>
            <a:r>
              <a:rPr sz="950" b="1">
                <a:solidFill>
                  <a:srgbClr val="0F172A"/>
                </a:solidFill>
                <a:latin typeface="Segoe UI" panose="020B0502040204020203"/>
              </a:rPr>
              <a:t>1. Window &amp; Document Root
</a:t>
            </a:r>
            <a:r>
              <a:rPr sz="900">
                <a:solidFill>
                  <a:srgbClr val="334155"/>
                </a:solidFill>
                <a:latin typeface="Segoe UI" panose="020B0502040204020203"/>
              </a:rPr>
              <a:t>window is the global browser object; document is the root gateway into the HTML DOM tree.</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2. Node Relationships
</a:t>
            </a:r>
            <a:r>
              <a:rPr sz="900">
                <a:solidFill>
                  <a:srgbClr val="334155"/>
                </a:solidFill>
                <a:latin typeface="Segoe UI" panose="020B0502040204020203"/>
              </a:rPr>
              <a:t>Every element has parentNode, children, firstElementChild, and nextElementSibling pointers.</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3. Heavyweight C++ Objects
</a:t>
            </a:r>
            <a:r>
              <a:rPr sz="900">
                <a:solidFill>
                  <a:srgbClr val="334155"/>
                </a:solidFill>
                <a:latin typeface="Segoe UI" panose="020B0502040204020203"/>
              </a:rPr>
              <a:t>A simple &lt;div&gt; is not just text! It is a massive object in RAM with 200+ properties (geometry, styles, event listeners).</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4. Live HTMLCollections
</a:t>
            </a:r>
            <a:r>
              <a:rPr sz="900">
                <a:solidFill>
                  <a:srgbClr val="334155"/>
                </a:solidFill>
                <a:latin typeface="Segoe UI" panose="020B0502040204020203"/>
              </a:rPr>
              <a:t>document.children returns a live HTMLCollection that auto-updates when children are inserted or removed.</a:t>
            </a:r>
            <a:endParaRPr sz="90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DevTools Console (Inspecting the Live DOM)</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94A3B8"/>
                </a:solidFill>
                <a:latin typeface="Consolas" panose="020B0609020204030204"/>
              </a:defRPr>
            </a:pPr>
            <a:r>
              <a:t>// Testing DOM Tree Live in Chrome DevTools Console:</a:t>
            </a:r>
          </a:p>
          <a:p>
            <a:pPr>
              <a:defRPr sz="880" b="1">
                <a:solidFill>
                  <a:srgbClr val="38BDF8"/>
                </a:solidFill>
                <a:latin typeface="Consolas" panose="020B0609020204030204"/>
              </a:defRPr>
            </a:pPr>
            <a:r>
              <a:t>&gt; document.children</a:t>
            </a:r>
          </a:p>
          <a:p>
            <a:pPr>
              <a:defRPr sz="880">
                <a:solidFill>
                  <a:srgbClr val="FBBF24"/>
                </a:solidFill>
                <a:latin typeface="Consolas" panose="020B0609020204030204"/>
              </a:defRPr>
            </a:pPr>
            <a:r>
              <a:t>&lt; HTMLCollection [html]</a:t>
            </a:r>
          </a:p>
          <a:p>
            <a:pPr>
              <a:defRPr sz="880">
                <a:solidFill>
                  <a:srgbClr val="E2E8F0"/>
                </a:solidFill>
                <a:latin typeface="Consolas" panose="020B0609020204030204"/>
              </a:defRPr>
            </a:pPr>
            <a:r>
              <a:t>  0: html</a:t>
            </a:r>
          </a:p>
          <a:p>
            <a:pPr>
              <a:defRPr sz="880">
                <a:solidFill>
                  <a:srgbClr val="E2E8F0"/>
                </a:solidFill>
                <a:latin typeface="Consolas" panose="020B0609020204030204"/>
              </a:defRPr>
            </a:pPr>
            <a:r>
              <a:t>  length: 1</a:t>
            </a:r>
          </a:p>
          <a:p>
            <a:pPr>
              <a:defRPr sz="880">
                <a:solidFill>
                  <a:srgbClr val="E2E8F0"/>
                </a:solidFill>
                <a:latin typeface="Consolas" panose="020B0609020204030204"/>
              </a:defRPr>
            </a:pPr>
          </a:p>
          <a:p>
            <a:pPr>
              <a:defRPr sz="880" b="1">
                <a:solidFill>
                  <a:srgbClr val="38BDF8"/>
                </a:solidFill>
                <a:latin typeface="Consolas" panose="020B0609020204030204"/>
              </a:defRPr>
            </a:pPr>
            <a:r>
              <a:t>&gt; document.getElementById('chat').children</a:t>
            </a:r>
          </a:p>
          <a:p>
            <a:pPr>
              <a:defRPr sz="880">
                <a:solidFill>
                  <a:srgbClr val="FBBF24"/>
                </a:solidFill>
                <a:latin typeface="Consolas" panose="020B0609020204030204"/>
              </a:defRPr>
            </a:pPr>
            <a:r>
              <a:t>&lt; HTMLCollection (3 elements) [div.msg, div.msg, div.msg]</a:t>
            </a:r>
          </a:p>
          <a:p>
            <a:pPr>
              <a:defRPr sz="880">
                <a:solidFill>
                  <a:srgbClr val="E2E8F0"/>
                </a:solidFill>
                <a:latin typeface="Consolas" panose="020B0609020204030204"/>
              </a:defRPr>
            </a:pPr>
          </a:p>
          <a:p>
            <a:pPr>
              <a:defRPr sz="880" b="1">
                <a:solidFill>
                  <a:srgbClr val="38BDF8"/>
                </a:solidFill>
                <a:latin typeface="Consolas" panose="020B0609020204030204"/>
              </a:defRPr>
            </a:pPr>
            <a:r>
              <a:t>&gt; document.querySelector('.msg').parentElement</a:t>
            </a:r>
          </a:p>
          <a:p>
            <a:pPr>
              <a:defRPr sz="880">
                <a:solidFill>
                  <a:srgbClr val="FBBF24"/>
                </a:solidFill>
                <a:latin typeface="Consolas" panose="020B0609020204030204"/>
              </a:defRPr>
            </a:pPr>
            <a:r>
              <a:t>&lt; &lt;div id="chat" class="chat-viewport"&gt;</a:t>
            </a:r>
          </a:p>
          <a:p>
            <a:pPr>
              <a:defRPr sz="880">
                <a:solidFill>
                  <a:srgbClr val="E2E8F0"/>
                </a:solidFill>
                <a:latin typeface="Consolas" panose="020B0609020204030204"/>
              </a:defRPr>
            </a:pPr>
          </a:p>
          <a:p>
            <a:pPr>
              <a:defRPr sz="880" b="1">
                <a:solidFill>
                  <a:srgbClr val="38BDF8"/>
                </a:solidFill>
                <a:latin typeface="Consolas" panose="020B0609020204030204"/>
              </a:defRPr>
            </a:pPr>
            <a:r>
              <a:t>&gt; document.getSelection</a:t>
            </a:r>
          </a:p>
          <a:p>
            <a:pPr>
              <a:defRPr sz="880">
                <a:solidFill>
                  <a:srgbClr val="FBBF24"/>
                </a:solidFill>
                <a:latin typeface="Consolas" panose="020B0609020204030204"/>
              </a:defRPr>
            </a:pPr>
            <a:r>
              <a:t>&lt; ƒ getSelection() { [native code]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5.7 · DOM MANIPULATION</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Live DOM Manipulation: The 6 Core APIs &amp; Why They Break</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Selecting, creating, and attaching nodes—and why manual DOM updates cause fatal Layout Thrashing in AI apps.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9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600"/>
              </a:spcAft>
              <a:defRPr sz="1300" b="1">
                <a:solidFill>
                  <a:srgbClr val="0B5C9E"/>
                </a:solidFill>
                <a:latin typeface="Segoe UI" panose="020B0502040204020203"/>
              </a:defRPr>
            </a:pPr>
            <a:r>
              <a:t>The 6 Core Vanilla DOM APIs</a:t>
            </a:r>
          </a:p>
          <a:p>
            <a:pPr>
              <a:spcAft>
                <a:spcPts val="400"/>
              </a:spcAft>
            </a:pPr>
            <a:r>
              <a:rPr sz="900" b="1">
                <a:solidFill>
                  <a:srgbClr val="0052CC"/>
                </a:solidFill>
                <a:latin typeface="Consolas" panose="020B0609020204030204"/>
              </a:rPr>
              <a:t>• document.getElementById('id'): </a:t>
            </a:r>
            <a:r>
              <a:rPr sz="880">
                <a:solidFill>
                  <a:srgbClr val="334155"/>
                </a:solidFill>
                <a:latin typeface="Segoe UI" panose="020B0502040204020203"/>
              </a:rPr>
              <a:t>O(1) direct lookup by ID.</a:t>
            </a:r>
            <a:endParaRPr sz="880">
              <a:solidFill>
                <a:srgbClr val="334155"/>
              </a:solidFill>
              <a:latin typeface="Segoe UI" panose="020B0502040204020203"/>
            </a:endParaRPr>
          </a:p>
          <a:p>
            <a:pPr>
              <a:spcAft>
                <a:spcPts val="400"/>
              </a:spcAft>
            </a:pPr>
            <a:r>
              <a:rPr sz="900" b="1">
                <a:solidFill>
                  <a:srgbClr val="0052CC"/>
                </a:solidFill>
                <a:latin typeface="Consolas" panose="020B0609020204030204"/>
              </a:rPr>
              <a:t>• document.querySelector('.class'): </a:t>
            </a:r>
            <a:r>
              <a:rPr sz="880">
                <a:solidFill>
                  <a:srgbClr val="334155"/>
                </a:solidFill>
                <a:latin typeface="Segoe UI" panose="020B0502040204020203"/>
              </a:rPr>
              <a:t>CSS selector search (returns first match).</a:t>
            </a:r>
            <a:endParaRPr sz="880">
              <a:solidFill>
                <a:srgbClr val="334155"/>
              </a:solidFill>
              <a:latin typeface="Segoe UI" panose="020B0502040204020203"/>
            </a:endParaRPr>
          </a:p>
          <a:p>
            <a:pPr>
              <a:spcAft>
                <a:spcPts val="400"/>
              </a:spcAft>
            </a:pPr>
            <a:r>
              <a:rPr sz="900" b="1">
                <a:solidFill>
                  <a:srgbClr val="0052CC"/>
                </a:solidFill>
                <a:latin typeface="Consolas" panose="020B0609020204030204"/>
              </a:rPr>
              <a:t>• document.createElement('div'): </a:t>
            </a:r>
            <a:r>
              <a:rPr sz="880">
                <a:solidFill>
                  <a:srgbClr val="334155"/>
                </a:solidFill>
                <a:latin typeface="Segoe UI" panose="020B0502040204020203"/>
              </a:rPr>
              <a:t>Instantiates a new node in computer RAM.</a:t>
            </a:r>
            <a:endParaRPr sz="880">
              <a:solidFill>
                <a:srgbClr val="334155"/>
              </a:solidFill>
              <a:latin typeface="Segoe UI" panose="020B0502040204020203"/>
            </a:endParaRPr>
          </a:p>
          <a:p>
            <a:pPr>
              <a:spcAft>
                <a:spcPts val="400"/>
              </a:spcAft>
            </a:pPr>
            <a:r>
              <a:rPr sz="900" b="1">
                <a:solidFill>
                  <a:srgbClr val="0052CC"/>
                </a:solidFill>
                <a:latin typeface="Consolas" panose="020B0609020204030204"/>
              </a:rPr>
              <a:t>• parent.appendChild(node): </a:t>
            </a:r>
            <a:r>
              <a:rPr sz="880">
                <a:solidFill>
                  <a:srgbClr val="334155"/>
                </a:solidFill>
                <a:latin typeface="Segoe UI" panose="020B0502040204020203"/>
              </a:rPr>
              <a:t>Inserts node into Real DOM (triggers Reflow &amp; Paint!).</a:t>
            </a:r>
            <a:endParaRPr sz="880">
              <a:solidFill>
                <a:srgbClr val="334155"/>
              </a:solidFill>
              <a:latin typeface="Segoe UI" panose="020B0502040204020203"/>
            </a:endParaRPr>
          </a:p>
          <a:p>
            <a:pPr>
              <a:spcAft>
                <a:spcPts val="400"/>
              </a:spcAft>
            </a:pPr>
            <a:r>
              <a:rPr sz="900" b="1">
                <a:solidFill>
                  <a:srgbClr val="0052CC"/>
                </a:solidFill>
                <a:latin typeface="Consolas" panose="020B0609020204030204"/>
              </a:rPr>
              <a:t>• node.textContent = 'text': </a:t>
            </a:r>
            <a:r>
              <a:rPr sz="880">
                <a:solidFill>
                  <a:srgbClr val="334155"/>
                </a:solidFill>
                <a:latin typeface="Segoe UI" panose="020B0502040204020203"/>
              </a:rPr>
              <a:t>Fast, safe string assignment (no HTML parsing).</a:t>
            </a:r>
            <a:endParaRPr sz="880">
              <a:solidFill>
                <a:srgbClr val="334155"/>
              </a:solidFill>
              <a:latin typeface="Segoe UI" panose="020B0502040204020203"/>
            </a:endParaRPr>
          </a:p>
          <a:p>
            <a:pPr>
              <a:spcAft>
                <a:spcPts val="400"/>
              </a:spcAft>
            </a:pPr>
            <a:r>
              <a:rPr sz="900" b="1">
                <a:solidFill>
                  <a:srgbClr val="0052CC"/>
                </a:solidFill>
                <a:latin typeface="Consolas" panose="020B0609020204030204"/>
              </a:rPr>
              <a:t>• node.innerHTML = '&lt;p&gt;...&lt;/p&gt;': </a:t>
            </a:r>
            <a:r>
              <a:rPr sz="880">
                <a:solidFill>
                  <a:srgbClr val="334155"/>
                </a:solidFill>
                <a:latin typeface="Segoe UI" panose="020B0502040204020203"/>
              </a:rPr>
              <a:t>Parses HTML string (high CPU cost + XSS risk).</a:t>
            </a:r>
            <a:endParaRPr sz="88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Manual DOM Mutation Lifecycle</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a:solidFill>
                  <a:srgbClr val="94A3B8"/>
                </a:solidFill>
                <a:latin typeface="Consolas" panose="020B0609020204030204"/>
              </a:defRPr>
            </a:pPr>
            <a:r>
              <a:t>// 1. Create a node in computer memory (RAM)</a:t>
            </a:r>
          </a:p>
          <a:p>
            <a:pPr>
              <a:defRPr sz="880">
                <a:solidFill>
                  <a:srgbClr val="38BDF8"/>
                </a:solidFill>
                <a:latin typeface="Consolas" panose="020B0609020204030204"/>
              </a:defRPr>
            </a:pPr>
            <a:r>
              <a:t>const chatBox = document.getElementById('chat-window');</a:t>
            </a:r>
          </a:p>
          <a:p>
            <a:pPr>
              <a:defRPr sz="880">
                <a:solidFill>
                  <a:srgbClr val="38BDF8"/>
                </a:solidFill>
                <a:latin typeface="Consolas" panose="020B0609020204030204"/>
              </a:defRPr>
            </a:pPr>
            <a:r>
              <a:t>const bubble = document.createElement('div');</a:t>
            </a:r>
          </a:p>
          <a:p>
            <a:pPr>
              <a:defRPr sz="880">
                <a:solidFill>
                  <a:srgbClr val="E2E8F0"/>
                </a:solidFill>
                <a:latin typeface="Consolas" panose="020B0609020204030204"/>
              </a:defRPr>
            </a:pPr>
          </a:p>
          <a:p>
            <a:pPr>
              <a:defRPr sz="880">
                <a:solidFill>
                  <a:srgbClr val="94A3B8"/>
                </a:solidFill>
                <a:latin typeface="Consolas" panose="020B0609020204030204"/>
              </a:defRPr>
            </a:pPr>
            <a:r>
              <a:t>// 2. Configure properties</a:t>
            </a:r>
          </a:p>
          <a:p>
            <a:pPr>
              <a:defRPr sz="880">
                <a:solidFill>
                  <a:srgbClr val="E2E8F0"/>
                </a:solidFill>
                <a:latin typeface="Consolas" panose="020B0609020204030204"/>
              </a:defRPr>
            </a:pPr>
            <a:r>
              <a:t>bubble.className = 'chat-bubble assistant';</a:t>
            </a:r>
          </a:p>
          <a:p>
            <a:pPr>
              <a:defRPr sz="880">
                <a:solidFill>
                  <a:srgbClr val="E2E8F0"/>
                </a:solidFill>
                <a:latin typeface="Consolas" panose="020B0609020204030204"/>
              </a:defRPr>
            </a:pPr>
            <a:r>
              <a:t>bubble.textContent = 'Streaming token...';</a:t>
            </a:r>
          </a:p>
          <a:p>
            <a:pPr>
              <a:defRPr sz="880">
                <a:solidFill>
                  <a:srgbClr val="E2E8F0"/>
                </a:solidFill>
                <a:latin typeface="Consolas" panose="020B0609020204030204"/>
              </a:defRPr>
            </a:pPr>
          </a:p>
          <a:p>
            <a:pPr>
              <a:defRPr sz="880">
                <a:solidFill>
                  <a:srgbClr val="94A3B8"/>
                </a:solidFill>
                <a:latin typeface="Consolas" panose="020B0609020204030204"/>
              </a:defRPr>
            </a:pPr>
            <a:r>
              <a:t>// 3. Attach to Real DOM (Triggers Reflow &amp; Paint!)</a:t>
            </a:r>
          </a:p>
          <a:p>
            <a:pPr>
              <a:defRPr sz="880">
                <a:solidFill>
                  <a:srgbClr val="E2E8F0"/>
                </a:solidFill>
                <a:latin typeface="Consolas" panose="020B0609020204030204"/>
              </a:defRPr>
            </a:pPr>
            <a:r>
              <a:t>chatBox.appendChild(bubble);</a:t>
            </a:r>
          </a:p>
          <a:p>
            <a:pPr>
              <a:defRPr sz="880">
                <a:solidFill>
                  <a:srgbClr val="E2E8F0"/>
                </a:solidFill>
                <a:latin typeface="Consolas" panose="020B0609020204030204"/>
              </a:defRPr>
            </a:pPr>
          </a:p>
          <a:p>
            <a:pPr>
              <a:defRPr sz="880">
                <a:solidFill>
                  <a:srgbClr val="94A3B8"/>
                </a:solidFill>
                <a:latin typeface="Consolas" panose="020B0609020204030204"/>
              </a:defRPr>
            </a:pPr>
            <a:r>
              <a:t>// ⚠️ DANGER: Layout Thrashing during AI Streaming</a:t>
            </a:r>
          </a:p>
          <a:p>
            <a:pPr>
              <a:defRPr sz="880">
                <a:solidFill>
                  <a:srgbClr val="94A3B8"/>
                </a:solidFill>
                <a:latin typeface="Consolas" panose="020B0609020204030204"/>
              </a:defRPr>
            </a:pPr>
            <a:r>
              <a:t>// If done 50x per second, the browser freezes!</a:t>
            </a:r>
          </a:p>
          <a:p>
            <a:pPr>
              <a:defRPr sz="880">
                <a:solidFill>
                  <a:srgbClr val="E2E8F0"/>
                </a:solidFill>
                <a:latin typeface="Consolas" panose="020B0609020204030204"/>
              </a:defRPr>
            </a:pPr>
            <a:r>
              <a:t>bubble.textContent += nextToken;</a:t>
            </a:r>
          </a:p>
          <a:p>
            <a:pPr>
              <a:defRPr sz="880">
                <a:solidFill>
                  <a:srgbClr val="38BDF8"/>
                </a:solidFill>
                <a:latin typeface="Consolas" panose="020B0609020204030204"/>
              </a:defRPr>
            </a:pPr>
            <a:r>
              <a:t>const h = chatBox.scrollHeight; // Forces instant reflow!</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The Layout Thrashing Trap: Mutating the DOM (textContent) and then reading geometry (scrollHeight) forces the browser to halt everything and recalculate pixel coordinates on every token.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5.8 · PARADIGM SHIFT</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Imperative DOM vs Declarative UI: The Breaking Point</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Why vanilla JavaScript DOM manipulation collapses when building high-frequency AI streaming interfaces.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10 of 35</a:t>
            </a:r>
          </a:p>
        </p:txBody>
      </p:sp>
      <p:sp>
        <p:nvSpPr>
          <p:cNvPr id="8" name="Rounded Rectangle 7"/>
          <p:cNvSpPr/>
          <p:nvPr/>
        </p:nvSpPr>
        <p:spPr>
          <a:xfrm>
            <a:off x="731520" y="1554480"/>
            <a:ext cx="5120640" cy="393192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600"/>
              </a:spcAft>
              <a:defRPr sz="1300" b="1">
                <a:solidFill>
                  <a:srgbClr val="DC2626"/>
                </a:solidFill>
                <a:latin typeface="Segoe UI" panose="020B0502040204020203"/>
              </a:defRPr>
            </a:pPr>
            <a:r>
              <a:t>Vanilla JS: The Chaotic DIY Buffet</a:t>
            </a:r>
          </a:p>
          <a:p>
            <a:pPr>
              <a:spcAft>
                <a:spcPts val="600"/>
              </a:spcAft>
            </a:pPr>
            <a:r>
              <a:rPr sz="950" b="1">
                <a:solidFill>
                  <a:srgbClr val="0F172A"/>
                </a:solidFill>
                <a:latin typeface="Segoe UI" panose="020B0502040204020203"/>
              </a:rPr>
              <a:t>❌ DIY Micromanagement: </a:t>
            </a:r>
            <a:r>
              <a:rPr sz="920">
                <a:solidFill>
                  <a:srgbClr val="334155"/>
                </a:solidFill>
                <a:latin typeface="Segoe UI" panose="020B0502040204020203"/>
              </a:rPr>
              <a:t>You enter the kitchen, light the stove, slice tomatoes by hand, and carry 1,000-lb marble tables (Real DOM).</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High Reflow Thrashing: </a:t>
            </a:r>
            <a:r>
              <a:rPr sz="920">
                <a:solidFill>
                  <a:srgbClr val="334155"/>
                </a:solidFill>
                <a:latin typeface="Segoe UI" panose="020B0502040204020203"/>
              </a:rPr>
              <a:t>Mutating innerHTML 50x/sec causes layout thrashing, dropping framerates and locking the browser thread.</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Scraping Cold Pizza: </a:t>
            </a:r>
            <a:r>
              <a:rPr sz="920">
                <a:solidFill>
                  <a:srgbClr val="334155"/>
                </a:solidFill>
                <a:latin typeface="Segoe UI" panose="020B0502040204020203"/>
              </a:rPr>
              <a:t>Mutating state directly (messages.push) causes desynchronized bugs where the UI misses updates.</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XSS Injection Risk: </a:t>
            </a:r>
            <a:r>
              <a:rPr sz="920">
                <a:solidFill>
                  <a:srgbClr val="334155"/>
                </a:solidFill>
                <a:latin typeface="Segoe UI" panose="020B0502040204020203"/>
              </a:rPr>
              <a:t>Manually pasting innerHTML opens fatal security vulnerabilities when streaming raw LLM tokens.</a:t>
            </a:r>
            <a:endParaRPr sz="92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3657600"/>
          </a:xfrm>
          <a:prstGeom prst="rect">
            <a:avLst/>
          </a:prstGeom>
          <a:noFill/>
        </p:spPr>
        <p:txBody>
          <a:bodyPr wrap="square" lIns="0" tIns="0" rIns="0" bIns="0">
            <a:spAutoFit/>
          </a:bodyPr>
          <a:lstStyle/>
          <a:p>
            <a:pPr>
              <a:spcAft>
                <a:spcPts val="600"/>
              </a:spcAft>
              <a:defRPr sz="1300" b="1">
                <a:solidFill>
                  <a:srgbClr val="16A34A"/>
                </a:solidFill>
                <a:latin typeface="Segoe UI" panose="020B0502040204020203"/>
              </a:defRPr>
            </a:pPr>
            <a:r>
              <a:t>React: The 5-Star Michelin Kitchen</a:t>
            </a:r>
          </a:p>
          <a:p>
            <a:pPr>
              <a:spcAft>
                <a:spcPts val="600"/>
              </a:spcAft>
            </a:pPr>
            <a:r>
              <a:rPr sz="950" b="1">
                <a:solidFill>
                  <a:srgbClr val="0F172A"/>
                </a:solidFill>
                <a:latin typeface="Segoe UI" panose="020B0502040204020203"/>
              </a:rPr>
              <a:t>✅ Declarative Orders: </a:t>
            </a:r>
            <a:r>
              <a:rPr sz="920">
                <a:solidFill>
                  <a:srgbClr val="334155"/>
                </a:solidFill>
                <a:latin typeface="Segoe UI" panose="020B0502040204020203"/>
              </a:rPr>
              <a:t>Customer states the order ticket (State); the kitchen cooks it. UI is a pure function: UI = f(State).</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Master Recipe Cards: </a:t>
            </a:r>
            <a:r>
              <a:rPr sz="920">
                <a:solidFill>
                  <a:srgbClr val="334155"/>
                </a:solidFill>
                <a:latin typeface="Segoe UI" panose="020B0502040204020203"/>
              </a:rPr>
              <a:t>Components are reusable recipe cards executed with fresh props for 1 or 1,000 customers.</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Expeditor's Notepad (Virtual DOM): </a:t>
            </a:r>
            <a:r>
              <a:rPr sz="920">
                <a:solidFill>
                  <a:srgbClr val="334155"/>
                </a:solidFill>
                <a:latin typeface="Segoe UI" panose="020B0502040204020203"/>
              </a:rPr>
              <a:t>Diffs the paper sketch against the table in microseconds and surgically updates only the water glass.</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Buttery 60 FPS Streams: </a:t>
            </a:r>
            <a:r>
              <a:rPr sz="920">
                <a:solidFill>
                  <a:srgbClr val="334155"/>
                </a:solidFill>
                <a:latin typeface="Segoe UI" panose="020B0502040204020203"/>
              </a:rPr>
              <a:t>Automatically batches 50 incoming LLM tokens per second with zero screen flicker or layout lag.</a:t>
            </a:r>
            <a:endParaRPr sz="920">
              <a:solidFill>
                <a:srgbClr val="334155"/>
              </a:solidFill>
              <a:latin typeface="Segoe UI" panose="020B0502040204020203"/>
            </a:endParaRPr>
          </a:p>
        </p:txBody>
      </p:sp>
      <p:sp>
        <p:nvSpPr>
          <p:cNvPr id="12" name="Rounded Rectangle 11"/>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The Grand Kitchen Formula: State = Order Ticket · Component = Recipe Card · Virtual DOM = Expeditor Notepad · Screen = The Dining Room Table.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5.9 · MENTAL MODEL</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The Five-Star Restaurant: Master React Metaphor Map</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How every core concept in React maps directly to a Michelin-star kitchen—from the expeditor to the delivery truck.</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11 of 35</a:t>
            </a:r>
          </a:p>
        </p:txBody>
      </p:sp>
      <p:sp>
        <p:nvSpPr>
          <p:cNvPr id="8" name="Rounded Rectangle 7"/>
          <p:cNvSpPr/>
          <p:nvPr/>
        </p:nvSpPr>
        <p:spPr>
          <a:xfrm>
            <a:off x="731520" y="1371600"/>
            <a:ext cx="5212080" cy="205740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63040"/>
            <a:ext cx="4846320" cy="1874519"/>
          </a:xfrm>
          <a:prstGeom prst="rect">
            <a:avLst/>
          </a:prstGeom>
          <a:noFill/>
        </p:spPr>
        <p:txBody>
          <a:bodyPr wrap="square" lIns="0" tIns="0" rIns="0" bIns="0">
            <a:spAutoFit/>
          </a:bodyPr>
          <a:lstStyle/>
          <a:p>
            <a:pPr>
              <a:spcAft>
                <a:spcPts val="400"/>
              </a:spcAft>
              <a:defRPr sz="1200" b="1">
                <a:solidFill>
                  <a:srgbClr val="0B5C9E"/>
                </a:solidFill>
                <a:latin typeface="Segoe UI" panose="020B0502040204020203"/>
              </a:defRPr>
            </a:pPr>
            <a:r>
              <a:t>1. Front of House: User and Data Flow</a:t>
            </a:r>
          </a:p>
          <a:p>
            <a:pPr>
              <a:spcAft>
                <a:spcPts val="200"/>
              </a:spcAft>
            </a:pPr>
            <a:r>
              <a:rPr sz="900" b="1">
                <a:solidFill>
                  <a:srgbClr val="0B5C9E"/>
                </a:solidFill>
                <a:latin typeface="Segoe UI" panose="020B0502040204020203"/>
              </a:rPr>
              <a:t>• Customer Order: </a:t>
            </a:r>
            <a:r>
              <a:rPr sz="880">
                <a:solidFill>
                  <a:srgbClr val="334155"/>
                </a:solidFill>
                <a:latin typeface="Segoe UI" panose="020B0502040204020203"/>
              </a:rPr>
              <a:t>User Prompt and Hyperparameters. Drives all kitchen actions.</a:t>
            </a:r>
            <a:endParaRPr sz="880">
              <a:solidFill>
                <a:srgbClr val="334155"/>
              </a:solidFill>
              <a:latin typeface="Segoe UI" panose="020B0502040204020203"/>
            </a:endParaRPr>
          </a:p>
          <a:p>
            <a:pPr>
              <a:spcAft>
                <a:spcPts val="200"/>
              </a:spcAft>
            </a:pPr>
            <a:r>
              <a:rPr sz="900" b="1">
                <a:solidFill>
                  <a:srgbClr val="0B5C9E"/>
                </a:solidFill>
                <a:latin typeface="Segoe UI" panose="020B0502040204020203"/>
              </a:rPr>
              <a:t>• The Waiter: </a:t>
            </a:r>
            <a:r>
              <a:rPr sz="880">
                <a:solidFill>
                  <a:srgbClr val="334155"/>
                </a:solidFill>
                <a:latin typeface="Segoe UI" panose="020B0502040204020203"/>
              </a:rPr>
              <a:t>Event Handlers (onClick, onChange) carrying orders to the kitchen.</a:t>
            </a:r>
            <a:endParaRPr sz="880">
              <a:solidFill>
                <a:srgbClr val="334155"/>
              </a:solidFill>
              <a:latin typeface="Segoe UI" panose="020B0502040204020203"/>
            </a:endParaRPr>
          </a:p>
          <a:p>
            <a:pPr>
              <a:spcAft>
                <a:spcPts val="200"/>
              </a:spcAft>
            </a:pPr>
            <a:r>
              <a:rPr sz="900" b="1">
                <a:solidFill>
                  <a:srgbClr val="0B5C9E"/>
                </a:solidFill>
                <a:latin typeface="Segoe UI" panose="020B0502040204020203"/>
              </a:rPr>
              <a:t>• The Order Ticket: </a:t>
            </a:r>
            <a:r>
              <a:rPr sz="880">
                <a:solidFill>
                  <a:srgbClr val="334155"/>
                </a:solidFill>
                <a:latin typeface="Segoe UI" panose="020B0502040204020203"/>
              </a:rPr>
              <a:t>Props (Read-Only). Cook cannot alter customer requests.</a:t>
            </a:r>
            <a:endParaRPr sz="880">
              <a:solidFill>
                <a:srgbClr val="334155"/>
              </a:solidFill>
              <a:latin typeface="Segoe UI" panose="020B0502040204020203"/>
            </a:endParaRPr>
          </a:p>
          <a:p>
            <a:pPr>
              <a:spcAft>
                <a:spcPts val="200"/>
              </a:spcAft>
            </a:pPr>
            <a:r>
              <a:rPr sz="900" b="1">
                <a:solidFill>
                  <a:srgbClr val="0B5C9E"/>
                </a:solidFill>
                <a:latin typeface="Segoe UI" panose="020B0502040204020203"/>
              </a:rPr>
              <a:t>• The Dining Table: </a:t>
            </a:r>
            <a:r>
              <a:rPr sz="880">
                <a:solidFill>
                  <a:srgbClr val="334155"/>
                </a:solidFill>
                <a:latin typeface="Segoe UI" panose="020B0502040204020203"/>
              </a:rPr>
              <a:t>The Screen (Real DOM). Where the final plated dish is presented.</a:t>
            </a:r>
            <a:endParaRPr sz="880">
              <a:solidFill>
                <a:srgbClr val="334155"/>
              </a:solidFill>
              <a:latin typeface="Segoe UI" panose="020B0502040204020203"/>
            </a:endParaRPr>
          </a:p>
        </p:txBody>
      </p:sp>
      <p:sp>
        <p:nvSpPr>
          <p:cNvPr id="10" name="Rounded Rectangle 9"/>
          <p:cNvSpPr/>
          <p:nvPr/>
        </p:nvSpPr>
        <p:spPr>
          <a:xfrm>
            <a:off x="6217920" y="1371600"/>
            <a:ext cx="5242255" cy="20574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463040"/>
            <a:ext cx="4846320" cy="1874519"/>
          </a:xfrm>
          <a:prstGeom prst="rect">
            <a:avLst/>
          </a:prstGeom>
          <a:noFill/>
        </p:spPr>
        <p:txBody>
          <a:bodyPr wrap="square" lIns="0" tIns="0" rIns="0" bIns="0">
            <a:spAutoFit/>
          </a:bodyPr>
          <a:lstStyle/>
          <a:p>
            <a:pPr>
              <a:spcAft>
                <a:spcPts val="400"/>
              </a:spcAft>
              <a:defRPr sz="1200" b="1">
                <a:solidFill>
                  <a:srgbClr val="16A34A"/>
                </a:solidFill>
                <a:latin typeface="Segoe UI" panose="020B0502040204020203"/>
              </a:defRPr>
            </a:pPr>
            <a:r>
              <a:t>2. Kitchen Station: Components and State</a:t>
            </a:r>
          </a:p>
          <a:p>
            <a:pPr>
              <a:spcAft>
                <a:spcPts val="200"/>
              </a:spcAft>
            </a:pPr>
            <a:r>
              <a:rPr sz="900" b="1">
                <a:solidFill>
                  <a:srgbClr val="16A34A"/>
                </a:solidFill>
                <a:latin typeface="Segoe UI" panose="020B0502040204020203"/>
              </a:rPr>
              <a:t>• Master Recipe Card: </a:t>
            </a:r>
            <a:r>
              <a:rPr sz="880">
                <a:solidFill>
                  <a:srgbClr val="334155"/>
                </a:solidFill>
                <a:latin typeface="Segoe UI" panose="020B0502040204020203"/>
              </a:rPr>
              <a:t>Component. Pure function taking props and returning UI.</a:t>
            </a:r>
            <a:endParaRPr sz="880">
              <a:solidFill>
                <a:srgbClr val="334155"/>
              </a:solidFill>
              <a:latin typeface="Segoe UI" panose="020B0502040204020203"/>
            </a:endParaRPr>
          </a:p>
          <a:p>
            <a:pPr>
              <a:spcAft>
                <a:spcPts val="200"/>
              </a:spcAft>
            </a:pPr>
            <a:r>
              <a:rPr sz="900" b="1">
                <a:solidFill>
                  <a:srgbClr val="16A34A"/>
                </a:solidFill>
                <a:latin typeface="Segoe UI" panose="020B0502040204020203"/>
              </a:rPr>
              <a:t>• Counter Prep Bowl: </a:t>
            </a:r>
            <a:r>
              <a:rPr sz="880">
                <a:solidFill>
                  <a:srgbClr val="334155"/>
                </a:solidFill>
                <a:latin typeface="Segoe UI" panose="020B0502040204020203"/>
              </a:rPr>
              <a:t>State (useState). Live ingredients; updates trigger re-plating.</a:t>
            </a:r>
            <a:endParaRPr sz="880">
              <a:solidFill>
                <a:srgbClr val="334155"/>
              </a:solidFill>
              <a:latin typeface="Segoe UI" panose="020B0502040204020203"/>
            </a:endParaRPr>
          </a:p>
          <a:p>
            <a:pPr>
              <a:spcAft>
                <a:spcPts val="200"/>
              </a:spcAft>
            </a:pPr>
            <a:r>
              <a:rPr sz="900" b="1">
                <a:solidFill>
                  <a:srgbClr val="16A34A"/>
                </a:solidFill>
                <a:latin typeface="Segoe UI" panose="020B0502040204020203"/>
              </a:rPr>
              <a:t>• Fresh Pizza Rule: </a:t>
            </a:r>
            <a:r>
              <a:rPr sz="880">
                <a:solidFill>
                  <a:srgbClr val="334155"/>
                </a:solidFill>
                <a:latin typeface="Segoe UI" panose="020B0502040204020203"/>
              </a:rPr>
              <a:t>Immutability. Never scrape old crust; bake fresh [...prev, new].</a:t>
            </a:r>
            <a:endParaRPr sz="880">
              <a:solidFill>
                <a:srgbClr val="334155"/>
              </a:solidFill>
              <a:latin typeface="Segoe UI" panose="020B0502040204020203"/>
            </a:endParaRPr>
          </a:p>
          <a:p>
            <a:pPr>
              <a:spcAft>
                <a:spcPts val="200"/>
              </a:spcAft>
            </a:pPr>
            <a:r>
              <a:rPr sz="900" b="1">
                <a:solidFill>
                  <a:srgbClr val="16A34A"/>
                </a:solidFill>
                <a:latin typeface="Segoe UI" panose="020B0502040204020203"/>
              </a:rPr>
              <a:t>• Pass-Through Window: </a:t>
            </a:r>
            <a:r>
              <a:rPr sz="880">
                <a:solidFill>
                  <a:srgbClr val="334155"/>
                </a:solidFill>
                <a:latin typeface="Segoe UI" panose="020B0502040204020203"/>
              </a:rPr>
              <a:t>JSX Expressions {}. Passes live JS computations to the dish.</a:t>
            </a:r>
            <a:endParaRPr sz="880">
              <a:solidFill>
                <a:srgbClr val="334155"/>
              </a:solidFill>
              <a:latin typeface="Segoe UI" panose="020B0502040204020203"/>
            </a:endParaRPr>
          </a:p>
        </p:txBody>
      </p:sp>
      <p:sp>
        <p:nvSpPr>
          <p:cNvPr id="12" name="Rounded Rectangle 11"/>
          <p:cNvSpPr/>
          <p:nvPr/>
        </p:nvSpPr>
        <p:spPr>
          <a:xfrm>
            <a:off x="731520" y="3566160"/>
            <a:ext cx="5212080" cy="205740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57600"/>
            <a:ext cx="4846320" cy="1874519"/>
          </a:xfrm>
          <a:prstGeom prst="rect">
            <a:avLst/>
          </a:prstGeom>
          <a:noFill/>
        </p:spPr>
        <p:txBody>
          <a:bodyPr wrap="square" lIns="0" tIns="0" rIns="0" bIns="0">
            <a:spAutoFit/>
          </a:bodyPr>
          <a:lstStyle/>
          <a:p>
            <a:pPr>
              <a:spcAft>
                <a:spcPts val="400"/>
              </a:spcAft>
              <a:defRPr sz="1200" b="1">
                <a:solidFill>
                  <a:srgbClr val="7C3AED"/>
                </a:solidFill>
                <a:latin typeface="Segoe UI" panose="020B0502040204020203"/>
              </a:defRPr>
            </a:pPr>
            <a:r>
              <a:t>3. Expeditor and Performance: Virtual DOM and Refs</a:t>
            </a:r>
          </a:p>
          <a:p>
            <a:pPr>
              <a:spcAft>
                <a:spcPts val="200"/>
              </a:spcAft>
            </a:pPr>
            <a:r>
              <a:rPr sz="900" b="1">
                <a:solidFill>
                  <a:srgbClr val="7C3AED"/>
                </a:solidFill>
                <a:latin typeface="Segoe UI" panose="020B0502040204020203"/>
              </a:rPr>
              <a:t>• Expeditor's Notepad: </a:t>
            </a:r>
            <a:r>
              <a:rPr sz="880">
                <a:solidFill>
                  <a:srgbClr val="334155"/>
                </a:solidFill>
                <a:latin typeface="Segoe UI" panose="020B0502040204020203"/>
              </a:rPr>
              <a:t>Virtual DOM. Lightweight paper sketch compared in RAM.</a:t>
            </a:r>
            <a:endParaRPr sz="880">
              <a:solidFill>
                <a:srgbClr val="334155"/>
              </a:solidFill>
              <a:latin typeface="Segoe UI" panose="020B0502040204020203"/>
            </a:endParaRPr>
          </a:p>
          <a:p>
            <a:pPr>
              <a:spcAft>
                <a:spcPts val="200"/>
              </a:spcAft>
            </a:pPr>
            <a:r>
              <a:rPr sz="900" b="1">
                <a:solidFill>
                  <a:srgbClr val="7C3AED"/>
                </a:solidFill>
                <a:latin typeface="Segoe UI" panose="020B0502040204020203"/>
              </a:rPr>
              <a:t>• Reconciliation Diff: </a:t>
            </a:r>
            <a:r>
              <a:rPr sz="880">
                <a:solidFill>
                  <a:srgbClr val="334155"/>
                </a:solidFill>
                <a:latin typeface="Segoe UI" panose="020B0502040204020203"/>
              </a:rPr>
              <a:t>Updates only the changed water glass; never moves the marble table.</a:t>
            </a:r>
            <a:endParaRPr sz="880">
              <a:solidFill>
                <a:srgbClr val="334155"/>
              </a:solidFill>
              <a:latin typeface="Segoe UI" panose="020B0502040204020203"/>
            </a:endParaRPr>
          </a:p>
          <a:p>
            <a:pPr>
              <a:spcAft>
                <a:spcPts val="200"/>
              </a:spcAft>
            </a:pPr>
            <a:r>
              <a:rPr sz="900" b="1">
                <a:solidFill>
                  <a:srgbClr val="7C3AED"/>
                </a:solidFill>
                <a:latin typeface="Segoe UI" panose="020B0502040204020203"/>
              </a:rPr>
              <a:t>• Order Buzzer IDs: </a:t>
            </a:r>
            <a:r>
              <a:rPr sz="880">
                <a:solidFill>
                  <a:srgbClr val="334155"/>
                </a:solidFill>
                <a:latin typeface="Segoe UI" panose="020B0502040204020203"/>
              </a:rPr>
              <a:t>Unique key={id}. Prevents serving wrong food when diners leave.</a:t>
            </a:r>
            <a:endParaRPr sz="880">
              <a:solidFill>
                <a:srgbClr val="334155"/>
              </a:solidFill>
              <a:latin typeface="Segoe UI" panose="020B0502040204020203"/>
            </a:endParaRPr>
          </a:p>
          <a:p>
            <a:pPr>
              <a:spcAft>
                <a:spcPts val="200"/>
              </a:spcAft>
            </a:pPr>
            <a:r>
              <a:rPr sz="900" b="1">
                <a:solidFill>
                  <a:srgbClr val="7C3AED"/>
                </a:solidFill>
                <a:latin typeface="Segoe UI" panose="020B0502040204020203"/>
              </a:rPr>
              <a:t>• Chef's Ear Pencil: </a:t>
            </a:r>
            <a:r>
              <a:rPr sz="880">
                <a:solidFill>
                  <a:srgbClr val="334155"/>
                </a:solidFill>
                <a:latin typeface="Segoe UI" panose="020B0502040204020203"/>
              </a:rPr>
              <a:t>useRef. Quick notes (auto-scroll) without re-cooking dinner.</a:t>
            </a:r>
            <a:endParaRPr sz="880">
              <a:solidFill>
                <a:srgbClr val="334155"/>
              </a:solidFill>
              <a:latin typeface="Segoe UI" panose="020B0502040204020203"/>
            </a:endParaRPr>
          </a:p>
        </p:txBody>
      </p:sp>
      <p:sp>
        <p:nvSpPr>
          <p:cNvPr id="14" name="Rounded Rectangle 13"/>
          <p:cNvSpPr/>
          <p:nvPr/>
        </p:nvSpPr>
        <p:spPr>
          <a:xfrm>
            <a:off x="6217920" y="3566160"/>
            <a:ext cx="5242255" cy="205740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657600"/>
            <a:ext cx="4846320" cy="1874519"/>
          </a:xfrm>
          <a:prstGeom prst="rect">
            <a:avLst/>
          </a:prstGeom>
          <a:noFill/>
        </p:spPr>
        <p:txBody>
          <a:bodyPr wrap="square" lIns="0" tIns="0" rIns="0" bIns="0">
            <a:spAutoFit/>
          </a:bodyPr>
          <a:lstStyle/>
          <a:p>
            <a:pPr>
              <a:spcAft>
                <a:spcPts val="400"/>
              </a:spcAft>
              <a:defRPr sz="1200" b="1">
                <a:solidFill>
                  <a:srgbClr val="EA580C"/>
                </a:solidFill>
                <a:latin typeface="Segoe UI" panose="020B0502040204020203"/>
              </a:defRPr>
            </a:pPr>
            <a:r>
              <a:t>4. External Suppliers and Banquets: Effects and Store</a:t>
            </a:r>
          </a:p>
          <a:p>
            <a:pPr>
              <a:spcAft>
                <a:spcPts val="200"/>
              </a:spcAft>
            </a:pPr>
            <a:r>
              <a:rPr sz="900" b="1">
                <a:solidFill>
                  <a:srgbClr val="EA580C"/>
                </a:solidFill>
                <a:latin typeface="Segoe UI" panose="020B0502040204020203"/>
              </a:rPr>
              <a:t>• Harbor Supplier: </a:t>
            </a:r>
            <a:r>
              <a:rPr sz="880">
                <a:solidFill>
                  <a:srgbClr val="334155"/>
                </a:solidFill>
                <a:latin typeface="Segoe UI" panose="020B0502040204020203"/>
              </a:rPr>
              <a:t>useEffect. Calls external APIs, SSE token streams and WebSockets.</a:t>
            </a:r>
            <a:endParaRPr sz="880">
              <a:solidFill>
                <a:srgbClr val="334155"/>
              </a:solidFill>
              <a:latin typeface="Segoe UI" panose="020B0502040204020203"/>
            </a:endParaRPr>
          </a:p>
          <a:p>
            <a:pPr>
              <a:spcAft>
                <a:spcPts val="200"/>
              </a:spcAft>
            </a:pPr>
            <a:r>
              <a:rPr sz="900" b="1">
                <a:solidFill>
                  <a:srgbClr val="EA580C"/>
                </a:solidFill>
                <a:latin typeface="Segoe UI" panose="020B0502040204020203"/>
              </a:rPr>
              <a:t>• Cancel Delivery Truck: </a:t>
            </a:r>
            <a:r>
              <a:rPr sz="880">
                <a:solidFill>
                  <a:srgbClr val="334155"/>
                </a:solidFill>
                <a:latin typeface="Segoe UI" panose="020B0502040204020203"/>
              </a:rPr>
              <a:t>AbortController. Kills TCP stream if diner walks out.</a:t>
            </a:r>
            <a:endParaRPr sz="880">
              <a:solidFill>
                <a:srgbClr val="334155"/>
              </a:solidFill>
              <a:latin typeface="Segoe UI" panose="020B0502040204020203"/>
            </a:endParaRPr>
          </a:p>
          <a:p>
            <a:pPr>
              <a:spcAft>
                <a:spcPts val="200"/>
              </a:spcAft>
            </a:pPr>
            <a:r>
              <a:rPr sz="900" b="1">
                <a:solidFill>
                  <a:srgbClr val="EA580C"/>
                </a:solidFill>
                <a:latin typeface="Segoe UI" panose="020B0502040204020203"/>
              </a:rPr>
              <a:t>• Central Spice Rack: </a:t>
            </a:r>
            <a:r>
              <a:rPr sz="880">
                <a:solidFill>
                  <a:srgbClr val="334155"/>
                </a:solidFill>
                <a:latin typeface="Segoe UI" panose="020B0502040204020203"/>
              </a:rPr>
              <a:t>useContext. Eliminates passing salt through 8 waiters.</a:t>
            </a:r>
            <a:endParaRPr sz="880">
              <a:solidFill>
                <a:srgbClr val="334155"/>
              </a:solidFill>
              <a:latin typeface="Segoe UI" panose="020B0502040204020203"/>
            </a:endParaRPr>
          </a:p>
          <a:p>
            <a:pPr>
              <a:spcAft>
                <a:spcPts val="200"/>
              </a:spcAft>
            </a:pPr>
            <a:r>
              <a:rPr sz="900" b="1">
                <a:solidFill>
                  <a:srgbClr val="EA580C"/>
                </a:solidFill>
                <a:latin typeface="Segoe UI" panose="020B0502040204020203"/>
              </a:rPr>
              <a:t>• Banquet Whiteboard: </a:t>
            </a:r>
            <a:r>
              <a:rPr sz="880">
                <a:solidFill>
                  <a:srgbClr val="334155"/>
                </a:solidFill>
                <a:latin typeface="Segoe UI" panose="020B0502040204020203"/>
              </a:rPr>
              <a:t>Redux/Zustand. Multi-agent state and Head Chef approval gates.</a:t>
            </a:r>
            <a:endParaRPr sz="880">
              <a:solidFill>
                <a:srgbClr val="334155"/>
              </a:solidFill>
              <a:latin typeface="Segoe UI" panose="020B0502040204020203"/>
            </a:endParaRPr>
          </a:p>
        </p:txBody>
      </p:sp>
      <p:sp>
        <p:nvSpPr>
          <p:cNvPr id="16" name="Rounded Rectangle 15"/>
          <p:cNvSpPr/>
          <p:nvPr/>
        </p:nvSpPr>
        <p:spPr>
          <a:xfrm>
            <a:off x="731520" y="5715000"/>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60720"/>
            <a:ext cx="10362895" cy="475488"/>
          </a:xfrm>
          <a:prstGeom prst="rect">
            <a:avLst/>
          </a:prstGeom>
          <a:noFill/>
        </p:spPr>
        <p:txBody>
          <a:bodyPr wrap="square" anchor="ctr">
            <a:spAutoFit/>
          </a:bodyPr>
          <a:lstStyle/>
          <a:p>
            <a:pPr algn="ctr">
              <a:defRPr sz="1050" b="1">
                <a:solidFill>
                  <a:srgbClr val="0B5C9E"/>
                </a:solidFill>
                <a:latin typeface="Segoe UI" panose="020B0502040204020203"/>
              </a:defRPr>
            </a:pPr>
            <a:r>
              <a:t>The Grand Takeaway: Stop thinking about moving physical HTML elements. In React, you manage the Order Ticket (State) and Recipe Cards (Components); the Expeditor handles the rest.</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5.9 · REACT FOUNDATIONS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Why Learn React?</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12 of 35</a:t>
            </a:r>
          </a:p>
        </p:txBody>
      </p:sp>
      <p:sp>
        <p:nvSpPr>
          <p:cNvPr id="7" name="Rounded Rectangle 6"/>
          <p:cNvSpPr/>
          <p:nvPr/>
        </p:nvSpPr>
        <p:spPr>
          <a:xfrm>
            <a:off x="731520" y="1371600"/>
            <a:ext cx="4114800" cy="475488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83080" y="1645920"/>
            <a:ext cx="2011680" cy="2011680"/>
          </a:xfrm>
          <a:prstGeom prst="ellipse">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0B5C9E"/>
                </a:solidFill>
                <a:latin typeface="Segoe UI" panose="020B0502040204020203"/>
              </a:defRPr>
            </a:pPr>
            <a:r>
              <a:t>⚛</a:t>
            </a:r>
            <a:br/>
            <a:r>
              <a:t>React</a:t>
            </a:r>
          </a:p>
        </p:txBody>
      </p:sp>
      <p:sp>
        <p:nvSpPr>
          <p:cNvPr id="9" name="TextBox 8"/>
          <p:cNvSpPr txBox="1"/>
          <p:nvPr/>
        </p:nvSpPr>
        <p:spPr>
          <a:xfrm>
            <a:off x="914400" y="3931920"/>
            <a:ext cx="3749039" cy="1828800"/>
          </a:xfrm>
          <a:prstGeom prst="rect">
            <a:avLst/>
          </a:prstGeom>
          <a:noFill/>
        </p:spPr>
        <p:txBody>
          <a:bodyPr wrap="square" lIns="0" tIns="0" rIns="0" bIns="0">
            <a:spAutoFit/>
          </a:bodyPr>
          <a:lstStyle/>
          <a:p>
            <a:pPr algn="ctr">
              <a:defRPr sz="2400" b="1">
                <a:solidFill>
                  <a:srgbClr val="0B5C9E"/>
                </a:solidFill>
                <a:latin typeface="Segoe UI" panose="020B0502040204020203"/>
              </a:defRPr>
            </a:pPr>
            <a:r>
              <a:t>Learn React.js</a:t>
            </a:r>
          </a:p>
          <a:p>
            <a:pPr algn="ctr">
              <a:defRPr sz="1300">
                <a:solidFill>
                  <a:srgbClr val="64748B"/>
                </a:solidFill>
                <a:latin typeface="Segoe UI" panose="020B0502040204020203"/>
              </a:defRPr>
            </a:pPr>
            <a:r>
              <a:t>Build modern web apps &amp; AI interfaces</a:t>
            </a:r>
          </a:p>
        </p:txBody>
      </p:sp>
      <p:sp>
        <p:nvSpPr>
          <p:cNvPr id="10" name="Rounded Rectangle 9"/>
          <p:cNvSpPr/>
          <p:nvPr/>
        </p:nvSpPr>
        <p:spPr>
          <a:xfrm>
            <a:off x="5120640" y="1371600"/>
            <a:ext cx="6339535" cy="107899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1481328"/>
            <a:ext cx="5943600" cy="859536"/>
          </a:xfrm>
          <a:prstGeom prst="rect">
            <a:avLst/>
          </a:prstGeom>
          <a:noFill/>
        </p:spPr>
        <p:txBody>
          <a:bodyPr wrap="square" lIns="0" tIns="0" rIns="0" bIns="0">
            <a:spAutoFit/>
          </a:bodyPr>
          <a:lstStyle/>
          <a:p>
            <a:pPr>
              <a:spcAft>
                <a:spcPts val="300"/>
              </a:spcAft>
              <a:defRPr sz="1400" b="1">
                <a:solidFill>
                  <a:srgbClr val="0B5C9E"/>
                </a:solidFill>
                <a:latin typeface="Segoe UI" panose="020B0502040204020203"/>
              </a:defRPr>
            </a:pPr>
            <a:r>
              <a:t>Component-Based</a:t>
            </a:r>
          </a:p>
          <a:p>
            <a:pPr>
              <a:defRPr sz="1000">
                <a:solidFill>
                  <a:srgbClr val="334155"/>
                </a:solidFill>
                <a:latin typeface="Segoe UI" panose="020B0502040204020203"/>
              </a:defRPr>
            </a:pPr>
            <a:r>
              <a:t>Build your app from small, reusable LEGO-like pieces. A button, a prompt form, and an entire dashboard are all independent components.</a:t>
            </a:r>
          </a:p>
        </p:txBody>
      </p:sp>
      <p:sp>
        <p:nvSpPr>
          <p:cNvPr id="12" name="Rounded Rectangle 11"/>
          <p:cNvSpPr/>
          <p:nvPr/>
        </p:nvSpPr>
        <p:spPr>
          <a:xfrm>
            <a:off x="5120640" y="2596896"/>
            <a:ext cx="6339535" cy="107899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2706624"/>
            <a:ext cx="5943600" cy="859536"/>
          </a:xfrm>
          <a:prstGeom prst="rect">
            <a:avLst/>
          </a:prstGeom>
          <a:noFill/>
        </p:spPr>
        <p:txBody>
          <a:bodyPr wrap="square" lIns="0" tIns="0" rIns="0" bIns="0">
            <a:spAutoFit/>
          </a:bodyPr>
          <a:lstStyle/>
          <a:p>
            <a:pPr>
              <a:spcAft>
                <a:spcPts val="300"/>
              </a:spcAft>
              <a:defRPr sz="1400" b="1">
                <a:solidFill>
                  <a:srgbClr val="0B5C9E"/>
                </a:solidFill>
                <a:latin typeface="Segoe UI" panose="020B0502040204020203"/>
              </a:defRPr>
            </a:pPr>
            <a:r>
              <a:t>Declarative</a:t>
            </a:r>
          </a:p>
          <a:p>
            <a:pPr>
              <a:defRPr sz="1000">
                <a:solidFill>
                  <a:srgbClr val="334155"/>
                </a:solidFill>
                <a:latin typeface="Segoe UI" panose="020B0502040204020203"/>
              </a:defRPr>
            </a:pPr>
            <a:r>
              <a:t>Describe what the UI should look like for a given state. React efficiently handles all DOM updates for you behind the scenes.</a:t>
            </a:r>
          </a:p>
        </p:txBody>
      </p:sp>
      <p:sp>
        <p:nvSpPr>
          <p:cNvPr id="14" name="Rounded Rectangle 13"/>
          <p:cNvSpPr/>
          <p:nvPr/>
        </p:nvSpPr>
        <p:spPr>
          <a:xfrm>
            <a:off x="5120640" y="3822192"/>
            <a:ext cx="6339535" cy="107899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0" y="3931920"/>
            <a:ext cx="5943600" cy="859536"/>
          </a:xfrm>
          <a:prstGeom prst="rect">
            <a:avLst/>
          </a:prstGeom>
          <a:noFill/>
        </p:spPr>
        <p:txBody>
          <a:bodyPr wrap="square" lIns="0" tIns="0" rIns="0" bIns="0">
            <a:spAutoFit/>
          </a:bodyPr>
          <a:lstStyle/>
          <a:p>
            <a:pPr>
              <a:spcAft>
                <a:spcPts val="300"/>
              </a:spcAft>
              <a:defRPr sz="1400" b="1">
                <a:solidFill>
                  <a:srgbClr val="0B5C9E"/>
                </a:solidFill>
                <a:latin typeface="Segoe UI" panose="020B0502040204020203"/>
              </a:defRPr>
            </a:pPr>
            <a:r>
              <a:t>Write Anywhere</a:t>
            </a:r>
          </a:p>
          <a:p>
            <a:pPr>
              <a:defRPr sz="1000">
                <a:solidFill>
                  <a:srgbClr val="334155"/>
                </a:solidFill>
                <a:latin typeface="Segoe UI" panose="020B0502040204020203"/>
              </a:defRPr>
            </a:pPr>
            <a:r>
              <a:t>React renders on the web (React DOM), mobile devices (React Native), and servers (Next.js, Remix) from one unified skill set.</a:t>
            </a:r>
          </a:p>
        </p:txBody>
      </p:sp>
      <p:sp>
        <p:nvSpPr>
          <p:cNvPr id="16" name="Rounded Rectangle 15"/>
          <p:cNvSpPr/>
          <p:nvPr/>
        </p:nvSpPr>
        <p:spPr>
          <a:xfrm>
            <a:off x="5120640" y="5047488"/>
            <a:ext cx="6339535" cy="107899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5157216"/>
            <a:ext cx="5943600" cy="859536"/>
          </a:xfrm>
          <a:prstGeom prst="rect">
            <a:avLst/>
          </a:prstGeom>
          <a:noFill/>
        </p:spPr>
        <p:txBody>
          <a:bodyPr wrap="square" lIns="0" tIns="0" rIns="0" bIns="0">
            <a:spAutoFit/>
          </a:bodyPr>
          <a:lstStyle/>
          <a:p>
            <a:pPr>
              <a:spcAft>
                <a:spcPts val="300"/>
              </a:spcAft>
              <a:defRPr sz="1400" b="1">
                <a:solidFill>
                  <a:srgbClr val="0B5C9E"/>
                </a:solidFill>
                <a:latin typeface="Segoe UI" panose="020B0502040204020203"/>
              </a:defRPr>
            </a:pPr>
            <a:r>
              <a:t>Huge Ecosystem</a:t>
            </a:r>
          </a:p>
          <a:p>
            <a:pPr>
              <a:defRPr sz="1000">
                <a:solidFill>
                  <a:srgbClr val="334155"/>
                </a:solidFill>
                <a:latin typeface="Segoe UI" panose="020B0502040204020203"/>
              </a:defRPr>
            </a:pPr>
            <a:r>
              <a:t>Massive global community, tens of thousands of production libraries, and the #1 most sought-after frontend skill in AI engineering.</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5.10 · CORE ENGINE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The Virtual DOM &amp; Reconciliation: High-FPS Token Diffing</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How React achieves lightning-fast updates without freezing the browser during token-by-token LLM generation.</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13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365760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How the Diffing Algorithm Works</a:t>
            </a:r>
          </a:p>
          <a:p>
            <a:pPr>
              <a:spcAft>
                <a:spcPts val="600"/>
              </a:spcAft>
            </a:pPr>
            <a:r>
              <a:rPr sz="950" b="1">
                <a:solidFill>
                  <a:srgbClr val="0F172A"/>
                </a:solidFill>
                <a:latin typeface="Segoe UI" panose="020B0502040204020203"/>
              </a:rPr>
              <a:t>1. Virtual DOM Tree (In-Memory JS)
</a:t>
            </a:r>
            <a:r>
              <a:rPr sz="900">
                <a:solidFill>
                  <a:srgbClr val="334155"/>
                </a:solidFill>
                <a:latin typeface="Segoe UI" panose="020B0502040204020203"/>
              </a:rPr>
              <a:t>A lightweight JavaScript representation of the actual DOM stored in memory as a tree of objects.</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2. State Change Occurs
</a:t>
            </a:r>
            <a:r>
              <a:rPr sz="900">
                <a:solidFill>
                  <a:srgbClr val="334155"/>
                </a:solidFill>
                <a:latin typeface="Segoe UI" panose="020B0502040204020203"/>
              </a:rPr>
              <a:t>A new token arrives via SSE. setState() creates a brand new Virtual DOM snapshot.</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3. The Diffing Phase (Reconciliation)
</a:t>
            </a:r>
            <a:r>
              <a:rPr sz="900">
                <a:solidFill>
                  <a:srgbClr val="334155"/>
                </a:solidFill>
                <a:latin typeface="Segoe UI" panose="020B0502040204020203"/>
              </a:rPr>
              <a:t>React compares the new Virtual DOM tree with previous snapshot using Fiber heuristic algorithm O(n).</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4. Batched Patching of Real DOM
</a:t>
            </a:r>
            <a:r>
              <a:rPr sz="900">
                <a:solidFill>
                  <a:srgbClr val="334155"/>
                </a:solidFill>
                <a:latin typeface="Segoe UI" panose="020B0502040204020203"/>
              </a:rPr>
              <a:t>React computes the minimum delta: ONLY the text node containing the new token is updated in the real browser DOM.</a:t>
            </a:r>
            <a:endParaRPr sz="90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365760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Why Virtual DOM Wins for AI Streaming</a:t>
            </a:r>
          </a:p>
          <a:p>
            <a:pPr>
              <a:spcAft>
                <a:spcPts val="800"/>
              </a:spcAft>
            </a:pPr>
            <a:r>
              <a:rPr sz="950" b="1">
                <a:solidFill>
                  <a:srgbClr val="0B5C9E"/>
                </a:solidFill>
                <a:latin typeface="Segoe UI" panose="020B0502040204020203"/>
              </a:rPr>
              <a:t>• Eliminating Browser Layout Thrashing: </a:t>
            </a:r>
            <a:r>
              <a:rPr sz="920">
                <a:solidFill>
                  <a:srgbClr val="334155"/>
                </a:solidFill>
                <a:latin typeface="Segoe UI" panose="020B0502040204020203"/>
              </a:rPr>
              <a:t>Real DOM updates are expensive because the browser re-calculates styles, layouts, and paints. React minimizes real DOM touches.</a:t>
            </a:r>
            <a:endParaRPr sz="920">
              <a:solidFill>
                <a:srgbClr val="334155"/>
              </a:solidFill>
              <a:latin typeface="Segoe UI" panose="020B0502040204020203"/>
            </a:endParaRPr>
          </a:p>
          <a:p>
            <a:pPr>
              <a:spcAft>
                <a:spcPts val="800"/>
              </a:spcAft>
            </a:pPr>
            <a:r>
              <a:rPr sz="950" b="1">
                <a:solidFill>
                  <a:srgbClr val="0B5C9E"/>
                </a:solidFill>
                <a:latin typeface="Segoe UI" panose="020B0502040204020203"/>
              </a:rPr>
              <a:t>• React Fiber Concurrent Schedular: </a:t>
            </a:r>
            <a:r>
              <a:rPr sz="920">
                <a:solidFill>
                  <a:srgbClr val="334155"/>
                </a:solidFill>
                <a:latin typeface="Segoe UI" panose="020B0502040204020203"/>
              </a:rPr>
              <a:t>Fiber allows React to pause, resume, and prioritize work. High-priority user keystrokes in the prompt box can interrupt low-priority streaming token renders!</a:t>
            </a:r>
            <a:endParaRPr sz="920">
              <a:solidFill>
                <a:srgbClr val="334155"/>
              </a:solidFill>
              <a:latin typeface="Segoe UI" panose="020B0502040204020203"/>
            </a:endParaRPr>
          </a:p>
          <a:p>
            <a:pPr>
              <a:spcAft>
                <a:spcPts val="800"/>
              </a:spcAft>
            </a:pPr>
            <a:r>
              <a:rPr sz="950" b="1">
                <a:solidFill>
                  <a:srgbClr val="0B5C9E"/>
                </a:solidFill>
                <a:latin typeface="Segoe UI" panose="020B0502040204020203"/>
              </a:rPr>
              <a:t>• Time-Slicing Under Heavy Load: </a:t>
            </a:r>
            <a:r>
              <a:rPr sz="920">
                <a:solidFill>
                  <a:srgbClr val="334155"/>
                </a:solidFill>
                <a:latin typeface="Segoe UI" panose="020B0502040204020203"/>
              </a:rPr>
              <a:t>Even if rendering a 10,000-word document, Fiber chunks the render work across 16ms frames to keep the screen running at 60 FPS.</a:t>
            </a:r>
            <a:endParaRPr sz="920">
              <a:solidFill>
                <a:srgbClr val="334155"/>
              </a:solidFill>
              <a:latin typeface="Segoe UI" panose="020B0502040204020203"/>
            </a:endParaRPr>
          </a:p>
        </p:txBody>
      </p:sp>
      <p:sp>
        <p:nvSpPr>
          <p:cNvPr id="12" name="Rounded Rectangle 11"/>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The Expeditor's Notepad. Why carry a 1,000-lb marble table when only the water glass is empty? React compares two paper sketches in RAM and updates only the changed token.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5.11 · SYNTAX</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Understanding JSX</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JSX (JavaScript XML) is a syntax extension that lets you write HTML-like markup inside JavaScript. It is compiled down to standard React.createElement() calls by Babel.</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14 of 35</a:t>
            </a:r>
          </a:p>
        </p:txBody>
      </p:sp>
      <p:sp>
        <p:nvSpPr>
          <p:cNvPr id="8" name="Rounded Rectangle 7"/>
          <p:cNvSpPr/>
          <p:nvPr/>
        </p:nvSpPr>
        <p:spPr>
          <a:xfrm>
            <a:off x="731520" y="164592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20"/>
            <a:ext cx="2926080" cy="3931920"/>
          </a:xfrm>
          <a:prstGeom prst="rect">
            <a:avLst/>
          </a:prstGeom>
          <a:noFill/>
        </p:spPr>
        <p:txBody>
          <a:bodyPr wrap="square" lIns="0" tIns="0" rIns="0" bIns="0">
            <a:spAutoFit/>
          </a:bodyPr>
          <a:lstStyle/>
          <a:p>
            <a:pPr>
              <a:spcAft>
                <a:spcPts val="1200"/>
              </a:spcAft>
              <a:defRPr sz="1400" b="1">
                <a:solidFill>
                  <a:srgbClr val="0B5C9E"/>
                </a:solidFill>
                <a:latin typeface="Segoe UI" panose="020B0502040204020203"/>
              </a:defRPr>
            </a:pPr>
            <a:r>
              <a:t>Single Root Element</a:t>
            </a:r>
          </a:p>
          <a:p>
            <a:pPr>
              <a:spcAft>
                <a:spcPts val="1000"/>
              </a:spcAft>
            </a:pPr>
            <a:r>
              <a:rPr sz="1000" b="1">
                <a:solidFill>
                  <a:srgbClr val="0F172A"/>
                </a:solidFill>
                <a:latin typeface="Segoe UI" panose="020B0502040204020203"/>
              </a:rPr>
              <a:t>One Parent Wrapper: </a:t>
            </a:r>
            <a:r>
              <a:rPr sz="1000">
                <a:solidFill>
                  <a:srgbClr val="334155"/>
                </a:solidFill>
                <a:latin typeface="Segoe UI" panose="020B0502040204020203"/>
              </a:rPr>
              <a:t>A component must return one single parent element.</a:t>
            </a:r>
            <a:endParaRPr sz="1000">
              <a:solidFill>
                <a:srgbClr val="334155"/>
              </a:solidFill>
              <a:latin typeface="Segoe UI" panose="020B0502040204020203"/>
            </a:endParaRPr>
          </a:p>
          <a:p>
            <a:pPr>
              <a:spcAft>
                <a:spcPts val="1000"/>
              </a:spcAft>
            </a:pPr>
            <a:r>
              <a:rPr sz="1000" b="1">
                <a:solidFill>
                  <a:srgbClr val="0F172A"/>
                </a:solidFill>
                <a:latin typeface="Segoe UI" panose="020B0502040204020203"/>
              </a:rPr>
              <a:t>React Fragments (&lt;&gt;...&lt;/&gt;): </a:t>
            </a:r>
            <a:r>
              <a:rPr sz="1000">
                <a:solidFill>
                  <a:srgbClr val="334155"/>
                </a:solidFill>
                <a:latin typeface="Segoe UI" panose="020B0502040204020203"/>
              </a:rPr>
              <a:t>Use &lt;div&gt; or an empty Fragment &lt;&gt;...&lt;/&gt; to group siblings without adding unnecessary extra nodes to the real HTML DOM.</a:t>
            </a:r>
            <a:endParaRPr sz="1000">
              <a:solidFill>
                <a:srgbClr val="334155"/>
              </a:solidFill>
              <a:latin typeface="Segoe UI" panose="020B0502040204020203"/>
            </a:endParaRPr>
          </a:p>
        </p:txBody>
      </p:sp>
      <p:sp>
        <p:nvSpPr>
          <p:cNvPr id="10" name="Rounded Rectangle 9"/>
          <p:cNvSpPr/>
          <p:nvPr/>
        </p:nvSpPr>
        <p:spPr>
          <a:xfrm>
            <a:off x="4398264" y="164592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1874520"/>
            <a:ext cx="2926080" cy="3931920"/>
          </a:xfrm>
          <a:prstGeom prst="rect">
            <a:avLst/>
          </a:prstGeom>
          <a:noFill/>
        </p:spPr>
        <p:txBody>
          <a:bodyPr wrap="square" lIns="0" tIns="0" rIns="0" bIns="0">
            <a:spAutoFit/>
          </a:bodyPr>
          <a:lstStyle/>
          <a:p>
            <a:pPr>
              <a:spcAft>
                <a:spcPts val="1200"/>
              </a:spcAft>
              <a:defRPr sz="1400" b="1">
                <a:solidFill>
                  <a:srgbClr val="0B5C9E"/>
                </a:solidFill>
                <a:latin typeface="Segoe UI" panose="020B0502040204020203"/>
              </a:defRPr>
            </a:pPr>
            <a:r>
              <a:t>className, Not class</a:t>
            </a:r>
          </a:p>
          <a:p>
            <a:pPr>
              <a:spcAft>
                <a:spcPts val="1000"/>
              </a:spcAft>
            </a:pPr>
            <a:r>
              <a:rPr sz="1000" b="1">
                <a:solidFill>
                  <a:srgbClr val="0F172A"/>
                </a:solidFill>
                <a:latin typeface="Segoe UI" panose="020B0502040204020203"/>
              </a:rPr>
              <a:t>JavaScript Collision: </a:t>
            </a:r>
            <a:r>
              <a:rPr sz="1000">
                <a:solidFill>
                  <a:srgbClr val="334155"/>
                </a:solidFill>
                <a:latin typeface="Segoe UI" panose="020B0502040204020203"/>
              </a:rPr>
              <a:t>Because 'class' is a reserved keyword in JavaScript (used for ES6 classes), React uses 'className' for CSS styling.</a:t>
            </a:r>
            <a:endParaRPr sz="1000">
              <a:solidFill>
                <a:srgbClr val="334155"/>
              </a:solidFill>
              <a:latin typeface="Segoe UI" panose="020B0502040204020203"/>
            </a:endParaRPr>
          </a:p>
          <a:p>
            <a:pPr>
              <a:spcAft>
                <a:spcPts val="1000"/>
              </a:spcAft>
            </a:pPr>
            <a:r>
              <a:rPr sz="1000" b="1">
                <a:solidFill>
                  <a:srgbClr val="0F172A"/>
                </a:solidFill>
                <a:latin typeface="Segoe UI" panose="020B0502040204020203"/>
              </a:rPr>
              <a:t>camelCase Attributes: </a:t>
            </a:r>
            <a:r>
              <a:rPr sz="1000">
                <a:solidFill>
                  <a:srgbClr val="334155"/>
                </a:solidFill>
                <a:latin typeface="Segoe UI" panose="020B0502040204020203"/>
              </a:rPr>
              <a:t>HTML attributes become camelCase in JSX: onclick -&gt; onClick, tabindex -&gt; tabIndex, for -&gt; htmlFor.</a:t>
            </a:r>
            <a:endParaRPr sz="1000">
              <a:solidFill>
                <a:srgbClr val="334155"/>
              </a:solidFill>
              <a:latin typeface="Segoe UI" panose="020B0502040204020203"/>
            </a:endParaRPr>
          </a:p>
        </p:txBody>
      </p:sp>
      <p:sp>
        <p:nvSpPr>
          <p:cNvPr id="12" name="Rounded Rectangle 11"/>
          <p:cNvSpPr/>
          <p:nvPr/>
        </p:nvSpPr>
        <p:spPr>
          <a:xfrm>
            <a:off x="8065008" y="164592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874520"/>
            <a:ext cx="2926080" cy="3931920"/>
          </a:xfrm>
          <a:prstGeom prst="rect">
            <a:avLst/>
          </a:prstGeom>
          <a:noFill/>
        </p:spPr>
        <p:txBody>
          <a:bodyPr wrap="square" lIns="0" tIns="0" rIns="0" bIns="0">
            <a:spAutoFit/>
          </a:bodyPr>
          <a:lstStyle/>
          <a:p>
            <a:pPr>
              <a:spcAft>
                <a:spcPts val="1200"/>
              </a:spcAft>
              <a:defRPr sz="1400" b="1">
                <a:solidFill>
                  <a:srgbClr val="0B5C9E"/>
                </a:solidFill>
                <a:latin typeface="Segoe UI" panose="020B0502040204020203"/>
              </a:defRPr>
            </a:pPr>
            <a:r>
              <a:t>Embedding Logic</a:t>
            </a:r>
          </a:p>
          <a:p>
            <a:pPr>
              <a:spcAft>
                <a:spcPts val="1000"/>
              </a:spcAft>
            </a:pPr>
            <a:r>
              <a:rPr sz="1000" b="1">
                <a:solidFill>
                  <a:srgbClr val="0F172A"/>
                </a:solidFill>
                <a:latin typeface="Segoe UI" panose="020B0502040204020203"/>
              </a:rPr>
              <a:t>The Magic Curly Braces {}: </a:t>
            </a:r>
            <a:r>
              <a:rPr sz="1000">
                <a:solidFill>
                  <a:srgbClr val="334155"/>
                </a:solidFill>
                <a:latin typeface="Segoe UI" panose="020B0502040204020203"/>
              </a:rPr>
              <a:t>Any valid JavaScript expression goes inside {} - variables, function calls, math calculations, or ternaries.</a:t>
            </a:r>
            <a:endParaRPr sz="1000">
              <a:solidFill>
                <a:srgbClr val="334155"/>
              </a:solidFill>
              <a:latin typeface="Segoe UI" panose="020B0502040204020203"/>
            </a:endParaRPr>
          </a:p>
          <a:p>
            <a:pPr>
              <a:spcAft>
                <a:spcPts val="1000"/>
              </a:spcAft>
            </a:pPr>
            <a:r>
              <a:rPr sz="1000" b="1">
                <a:solidFill>
                  <a:srgbClr val="0F172A"/>
                </a:solidFill>
                <a:latin typeface="Segoe UI" panose="020B0502040204020203"/>
              </a:rPr>
              <a:t>No Statements Inside {}: </a:t>
            </a:r>
            <a:r>
              <a:rPr sz="1000">
                <a:solidFill>
                  <a:srgbClr val="334155"/>
                </a:solidFill>
                <a:latin typeface="Segoe UI" panose="020B0502040204020203"/>
              </a:rPr>
              <a:t>You cannot put if/else statements or for-loops directly inside JSX curlies; use ternaries (? :) and .map().</a:t>
            </a:r>
            <a:endParaRPr sz="1000">
              <a:solidFill>
                <a:srgbClr val="334155"/>
              </a:solidFill>
              <a:latin typeface="Segoe UI" panose="020B0502040204020203"/>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5.12 · DYNAMIC MARKUP</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Embedding Expressions &amp; Logic in JSX</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Curly braces {} are the portal between markup and JavaScript evaluation.</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15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What Can Go Inside Curly Braces {}?</a:t>
            </a:r>
          </a:p>
          <a:p>
            <a:pPr>
              <a:spcAft>
                <a:spcPts val="600"/>
              </a:spcAft>
            </a:pPr>
            <a:r>
              <a:rPr sz="950" b="1">
                <a:solidFill>
                  <a:srgbClr val="0F172A"/>
                </a:solidFill>
                <a:latin typeface="Segoe UI" panose="020B0502040204020203"/>
              </a:rPr>
              <a:t>• Variables &amp; State:
  </a:t>
            </a:r>
            <a:r>
              <a:rPr sz="920">
                <a:solidFill>
                  <a:srgbClr val="0052CC"/>
                </a:solidFill>
                <a:latin typeface="Consolas" panose="020B0609020204030204"/>
              </a:rPr>
              <a:t>{userName}, {modelName}, {tokenCount}</a:t>
            </a:r>
            <a:endParaRPr sz="920">
              <a:solidFill>
                <a:srgbClr val="0052CC"/>
              </a:solidFill>
              <a:latin typeface="Consolas" panose="020B0609020204030204"/>
            </a:endParaRPr>
          </a:p>
          <a:p>
            <a:pPr>
              <a:spcAft>
                <a:spcPts val="600"/>
              </a:spcAft>
            </a:pPr>
            <a:r>
              <a:rPr sz="950" b="1">
                <a:solidFill>
                  <a:srgbClr val="0F172A"/>
                </a:solidFill>
                <a:latin typeface="Segoe UI" panose="020B0502040204020203"/>
              </a:rPr>
              <a:t>• Function &amp; Method Calls:
  </a:t>
            </a:r>
            <a:r>
              <a:rPr sz="920">
                <a:solidFill>
                  <a:srgbClr val="0052CC"/>
                </a:solidFill>
                <a:latin typeface="Consolas" panose="020B0609020204030204"/>
              </a:rPr>
              <a:t>{formatTimestamp(msg.createdAt)}, {calcCost(tokens)}</a:t>
            </a:r>
            <a:endParaRPr sz="920">
              <a:solidFill>
                <a:srgbClr val="0052CC"/>
              </a:solidFill>
              <a:latin typeface="Consolas" panose="020B0609020204030204"/>
            </a:endParaRPr>
          </a:p>
          <a:p>
            <a:pPr>
              <a:spcAft>
                <a:spcPts val="600"/>
              </a:spcAft>
            </a:pPr>
            <a:r>
              <a:rPr sz="950" b="1">
                <a:solidFill>
                  <a:srgbClr val="0F172A"/>
                </a:solidFill>
                <a:latin typeface="Segoe UI" panose="020B0502040204020203"/>
              </a:rPr>
              <a:t>• Ternary Operators:
  </a:t>
            </a:r>
            <a:r>
              <a:rPr sz="920">
                <a:solidFill>
                  <a:srgbClr val="0052CC"/>
                </a:solidFill>
                <a:latin typeface="Consolas" panose="020B0609020204030204"/>
              </a:rPr>
              <a:t>{isStreaming ? &lt;Spinner /&gt; : &lt;Checkmark /&gt;}</a:t>
            </a:r>
            <a:endParaRPr sz="920">
              <a:solidFill>
                <a:srgbClr val="0052CC"/>
              </a:solidFill>
              <a:latin typeface="Consolas" panose="020B0609020204030204"/>
            </a:endParaRPr>
          </a:p>
          <a:p>
            <a:pPr>
              <a:spcAft>
                <a:spcPts val="600"/>
              </a:spcAft>
            </a:pPr>
            <a:r>
              <a:rPr sz="950" b="1">
                <a:solidFill>
                  <a:srgbClr val="0F172A"/>
                </a:solidFill>
                <a:latin typeface="Segoe UI" panose="020B0502040204020203"/>
              </a:rPr>
              <a:t>• Logical AND (&amp;&amp;):
  </a:t>
            </a:r>
            <a:r>
              <a:rPr sz="920">
                <a:solidFill>
                  <a:srgbClr val="0052CC"/>
                </a:solidFill>
                <a:latin typeface="Consolas" panose="020B0609020204030204"/>
              </a:rPr>
              <a:t>{error &amp;&amp; &lt;ErrorBanner message={error} /&gt;}</a:t>
            </a:r>
            <a:endParaRPr sz="920">
              <a:solidFill>
                <a:srgbClr val="0052CC"/>
              </a:solidFill>
              <a:latin typeface="Consolas" panose="020B0609020204030204"/>
            </a:endParaRPr>
          </a:p>
          <a:p>
            <a:pPr>
              <a:spcAft>
                <a:spcPts val="600"/>
              </a:spcAft>
            </a:pPr>
            <a:r>
              <a:rPr sz="950" b="1">
                <a:solidFill>
                  <a:srgbClr val="0F172A"/>
                </a:solidFill>
                <a:latin typeface="Segoe UI" panose="020B0502040204020203"/>
              </a:rPr>
              <a:t>• Dynamic Attributes:
  </a:t>
            </a:r>
            <a:r>
              <a:rPr sz="920">
                <a:solidFill>
                  <a:srgbClr val="0052CC"/>
                </a:solidFill>
                <a:latin typeface="Consolas" panose="020B0609020204030204"/>
              </a:rPr>
              <a:t>&lt;img src={avatarUrl} alt={role} /&gt;</a:t>
            </a:r>
            <a:endParaRPr sz="920">
              <a:solidFill>
                <a:srgbClr val="0052CC"/>
              </a:solidFill>
              <a:latin typeface="Consolas" panose="020B0609020204030204"/>
            </a:endParaRPr>
          </a:p>
          <a:p>
            <a:pPr>
              <a:spcAft>
                <a:spcPts val="600"/>
              </a:spcAft>
            </a:pPr>
            <a:r>
              <a:rPr sz="950" b="1">
                <a:solidFill>
                  <a:srgbClr val="0F172A"/>
                </a:solidFill>
                <a:latin typeface="Segoe UI" panose="020B0502040204020203"/>
              </a:rPr>
              <a:t>• Inline Style Objects:
  </a:t>
            </a:r>
            <a:r>
              <a:rPr sz="920">
                <a:solidFill>
                  <a:srgbClr val="0052CC"/>
                </a:solidFill>
                <a:latin typeface="Consolas" panose="020B0609020204030204"/>
              </a:rPr>
              <a:t>style={{ color: isError ? 'red' : 'white', opacity: 0.9 }}</a:t>
            </a:r>
            <a:endParaRPr sz="920">
              <a:solidFill>
                <a:srgbClr val="0052CC"/>
              </a:solidFill>
              <a:latin typeface="Consolas" panose="020B0609020204030204"/>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ChatMessage.jsx (Dynamic Expressions)</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94A3B8"/>
                </a:solidFill>
                <a:latin typeface="Consolas" panose="020B0609020204030204"/>
              </a:defRPr>
            </a:pPr>
            <a:r>
              <a:t>// Embedding Expressions in an AI Message Card</a:t>
            </a:r>
          </a:p>
          <a:p>
            <a:pPr>
              <a:defRPr sz="880">
                <a:solidFill>
                  <a:srgbClr val="38BDF8"/>
                </a:solidFill>
                <a:latin typeface="Consolas" panose="020B0609020204030204"/>
              </a:defRPr>
            </a:pPr>
            <a:r>
              <a:t>function ChatMessage({ message, isStreaming }) {</a:t>
            </a:r>
          </a:p>
          <a:p>
            <a:pPr>
              <a:defRPr sz="880">
                <a:solidFill>
                  <a:srgbClr val="38BDF8"/>
                </a:solidFill>
                <a:latin typeface="Consolas" panose="020B0609020204030204"/>
              </a:defRPr>
            </a:pPr>
            <a:r>
              <a:t>  const isAI = message.role === 'assistant';</a:t>
            </a:r>
          </a:p>
          <a:p>
            <a:pPr>
              <a:defRPr sz="880">
                <a:solidFill>
                  <a:srgbClr val="38BDF8"/>
                </a:solidFill>
                <a:latin typeface="Consolas" panose="020B0609020204030204"/>
              </a:defRPr>
            </a:pPr>
            <a:r>
              <a:t>  const cost = (message.tokens * 0.000002).toFixed(5);</a:t>
            </a:r>
          </a:p>
          <a:p>
            <a:pPr>
              <a:defRPr sz="880">
                <a:solidFill>
                  <a:srgbClr val="E2E8F0"/>
                </a:solidFill>
                <a:latin typeface="Consolas" panose="020B0609020204030204"/>
              </a:defRPr>
            </a:pP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&lt;div className={`msg-card ${isAI ? 'ai' : 'user'}`}&gt;</a:t>
            </a:r>
          </a:p>
          <a:p>
            <a:pPr>
              <a:defRPr sz="880">
                <a:solidFill>
                  <a:srgbClr val="E2E8F0"/>
                </a:solidFill>
                <a:latin typeface="Consolas" panose="020B0609020204030204"/>
              </a:defRPr>
            </a:pPr>
            <a:r>
              <a:t>      &lt;div className="msg-header"&gt;</a:t>
            </a:r>
          </a:p>
          <a:p>
            <a:pPr>
              <a:defRPr sz="880">
                <a:solidFill>
                  <a:srgbClr val="E2E8F0"/>
                </a:solidFill>
                <a:latin typeface="Consolas" panose="020B0609020204030204"/>
              </a:defRPr>
            </a:pPr>
            <a:r>
              <a:t>        &lt;strong&gt;{isAI ? '🤖 Agent' : '👤 User'}&lt;/strong&gt;</a:t>
            </a:r>
          </a:p>
          <a:p>
            <a:pPr>
              <a:defRPr sz="880">
                <a:solidFill>
                  <a:srgbClr val="E2E8F0"/>
                </a:solidFill>
                <a:latin typeface="Consolas" panose="020B0609020204030204"/>
              </a:defRPr>
            </a:pPr>
            <a:r>
              <a:t>        &lt;span className="timestamp"&gt;</a:t>
            </a:r>
          </a:p>
          <a:p>
            <a:pPr>
              <a:defRPr sz="880">
                <a:solidFill>
                  <a:srgbClr val="E2E8F0"/>
                </a:solidFill>
                <a:latin typeface="Consolas" panose="020B0609020204030204"/>
              </a:defRPr>
            </a:pPr>
            <a:r>
              <a:t>          {new Date(message.timestamp).toLocaleTimeString()}</a:t>
            </a:r>
          </a:p>
          <a:p>
            <a:pPr>
              <a:defRPr sz="880">
                <a:solidFill>
                  <a:srgbClr val="E2E8F0"/>
                </a:solidFill>
                <a:latin typeface="Consolas" panose="020B0609020204030204"/>
              </a:defRPr>
            </a:pPr>
            <a:r>
              <a:t>        &lt;/span&gt;</a:t>
            </a:r>
          </a:p>
          <a:p>
            <a:pPr>
              <a:defRPr sz="880">
                <a:solidFill>
                  <a:srgbClr val="E2E8F0"/>
                </a:solidFill>
                <a:latin typeface="Consolas" panose="020B0609020204030204"/>
              </a:defRPr>
            </a:pPr>
            <a:r>
              <a:t>      &lt;/div&gt;</a:t>
            </a:r>
          </a:p>
          <a:p>
            <a:pPr>
              <a:defRPr sz="880">
                <a:solidFill>
                  <a:srgbClr val="E2E8F0"/>
                </a:solidFill>
                <a:latin typeface="Consolas" panose="020B0609020204030204"/>
              </a:defRPr>
            </a:pPr>
          </a:p>
          <a:p>
            <a:pPr>
              <a:defRPr sz="880">
                <a:solidFill>
                  <a:srgbClr val="E2E8F0"/>
                </a:solidFill>
                <a:latin typeface="Consolas" panose="020B0609020204030204"/>
              </a:defRPr>
            </a:pPr>
            <a:r>
              <a:t>      &lt;div className="content"&gt;{message.text}&lt;/div&gt;</a:t>
            </a:r>
          </a:p>
          <a:p>
            <a:pPr>
              <a:defRPr sz="880">
                <a:solidFill>
                  <a:srgbClr val="E2E8F0"/>
                </a:solidFill>
                <a:latin typeface="Consolas" panose="020B0609020204030204"/>
              </a:defRPr>
            </a:pPr>
          </a:p>
          <a:p>
            <a:pPr>
              <a:defRPr sz="880">
                <a:solidFill>
                  <a:srgbClr val="E2E8F0"/>
                </a:solidFill>
                <a:latin typeface="Consolas" panose="020B0609020204030204"/>
              </a:defRPr>
            </a:pPr>
            <a:r>
              <a:t>      {/* Conditional rendering with &amp;&amp; */}</a:t>
            </a:r>
          </a:p>
          <a:p>
            <a:pPr>
              <a:defRPr sz="880">
                <a:solidFill>
                  <a:srgbClr val="E2E8F0"/>
                </a:solidFill>
                <a:latin typeface="Consolas" panose="020B0609020204030204"/>
              </a:defRPr>
            </a:pPr>
            <a:r>
              <a:t>      {isAI &amp;&amp; (</a:t>
            </a:r>
          </a:p>
          <a:p>
            <a:pPr>
              <a:defRPr sz="880">
                <a:solidFill>
                  <a:srgbClr val="E2E8F0"/>
                </a:solidFill>
                <a:latin typeface="Consolas" panose="020B0609020204030204"/>
              </a:defRPr>
            </a:pPr>
            <a:r>
              <a:t>        &lt;div className="meta"&gt;Tokens: {message.tokens} | Est: ${cost}&lt;/div&gt;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    &lt;/div&gt;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5.13 · ARCHITECTURE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Functional Components vs Class Components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Modern React is 100% functional. Understand the evolution from legacy OOP classes to modern Hooks.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16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4297680"/>
          </a:xfrm>
          <a:prstGeom prst="rect">
            <a:avLst/>
          </a:prstGeom>
          <a:noFill/>
        </p:spPr>
        <p:txBody>
          <a:bodyPr wrap="square" lIns="0" tIns="0" rIns="0" bIns="0">
            <a:spAutoFit/>
          </a:bodyPr>
          <a:lstStyle/>
          <a:p>
            <a:pPr>
              <a:spcAft>
                <a:spcPts val="400"/>
              </a:spcAft>
              <a:defRPr sz="1200" b="1">
                <a:solidFill>
                  <a:srgbClr val="64748B"/>
                </a:solidFill>
                <a:latin typeface="Segoe UI" panose="020B0502040204020203"/>
              </a:defRPr>
            </a:pPr>
            <a:r>
              <a:t>Legacy: Class Components (Pre-2019)</a:t>
            </a:r>
          </a:p>
          <a:p>
            <a:pPr>
              <a:defRPr sz="850">
                <a:solidFill>
                  <a:srgbClr val="0F172A"/>
                </a:solidFill>
                <a:latin typeface="Consolas" panose="020B0609020204030204"/>
              </a:defRPr>
            </a:pPr>
            <a:r>
              <a:t>class ChatBox extends React.Component {</a:t>
            </a:r>
          </a:p>
          <a:p>
            <a:pPr>
              <a:defRPr sz="850">
                <a:solidFill>
                  <a:srgbClr val="0F172A"/>
                </a:solidFill>
                <a:latin typeface="Consolas" panose="020B0609020204030204"/>
              </a:defRPr>
            </a:pPr>
            <a:r>
              <a:t>  constructor(props) {</a:t>
            </a:r>
          </a:p>
          <a:p>
            <a:pPr>
              <a:defRPr sz="850">
                <a:solidFill>
                  <a:srgbClr val="0F172A"/>
                </a:solidFill>
                <a:latin typeface="Consolas" panose="020B0609020204030204"/>
              </a:defRPr>
            </a:pPr>
            <a:r>
              <a:t>    super(props);</a:t>
            </a:r>
          </a:p>
          <a:p>
            <a:pPr>
              <a:defRPr sz="850">
                <a:solidFill>
                  <a:srgbClr val="0F172A"/>
                </a:solidFill>
                <a:latin typeface="Consolas" panose="020B0609020204030204"/>
              </a:defRPr>
            </a:pPr>
            <a:r>
              <a:t>    this.state = { prompt: '' };</a:t>
            </a:r>
          </a:p>
          <a:p>
            <a:pPr>
              <a:defRPr sz="850">
                <a:solidFill>
                  <a:srgbClr val="0F172A"/>
                </a:solidFill>
                <a:latin typeface="Consolas" panose="020B0609020204030204"/>
              </a:defRPr>
            </a:pPr>
            <a:r>
              <a:t>    this.handleChange = this.handleChange.bind(this);</a:t>
            </a:r>
          </a:p>
          <a:p>
            <a:pPr>
              <a:defRPr sz="850">
                <a:solidFill>
                  <a:srgbClr val="0F172A"/>
                </a:solidFill>
                <a:latin typeface="Consolas" panose="020B0609020204030204"/>
              </a:defRPr>
            </a:pPr>
            <a:r>
              <a:t>  }</a:t>
            </a:r>
          </a:p>
          <a:p>
            <a:pPr>
              <a:defRPr sz="850">
                <a:solidFill>
                  <a:srgbClr val="0F172A"/>
                </a:solidFill>
                <a:latin typeface="Consolas" panose="020B0609020204030204"/>
              </a:defRPr>
            </a:pPr>
            <a:r>
              <a:t>  handleChange(e) {</a:t>
            </a:r>
          </a:p>
          <a:p>
            <a:pPr>
              <a:defRPr sz="850">
                <a:solidFill>
                  <a:srgbClr val="0F172A"/>
                </a:solidFill>
                <a:latin typeface="Consolas" panose="020B0609020204030204"/>
              </a:defRPr>
            </a:pPr>
            <a:r>
              <a:t>    this.setState({ prompt: e.target.value });</a:t>
            </a:r>
          </a:p>
          <a:p>
            <a:pPr>
              <a:defRPr sz="850">
                <a:solidFill>
                  <a:srgbClr val="0F172A"/>
                </a:solidFill>
                <a:latin typeface="Consolas" panose="020B0609020204030204"/>
              </a:defRPr>
            </a:pPr>
            <a:r>
              <a:t>  }</a:t>
            </a:r>
          </a:p>
          <a:p>
            <a:pPr>
              <a:defRPr sz="850">
                <a:solidFill>
                  <a:srgbClr val="0F172A"/>
                </a:solidFill>
                <a:latin typeface="Consolas" panose="020B0609020204030204"/>
              </a:defRPr>
            </a:pPr>
            <a:r>
              <a:t>  componentDidMount() { /* setup SSE */ }</a:t>
            </a:r>
          </a:p>
          <a:p>
            <a:pPr>
              <a:defRPr sz="850">
                <a:solidFill>
                  <a:srgbClr val="0F172A"/>
                </a:solidFill>
                <a:latin typeface="Consolas" panose="020B0609020204030204"/>
              </a:defRPr>
            </a:pPr>
            <a:r>
              <a:t>  componentWillUnmount() { /* cleanup */ }</a:t>
            </a:r>
          </a:p>
          <a:p>
            <a:pPr>
              <a:defRPr sz="850">
                <a:solidFill>
                  <a:srgbClr val="0F172A"/>
                </a:solidFill>
                <a:latin typeface="Consolas" panose="020B0609020204030204"/>
              </a:defRPr>
            </a:pPr>
            <a:r>
              <a:t>  render() {</a:t>
            </a:r>
          </a:p>
          <a:p>
            <a:pPr>
              <a:defRPr sz="850">
                <a:solidFill>
                  <a:srgbClr val="0F172A"/>
                </a:solidFill>
                <a:latin typeface="Consolas" panose="020B0609020204030204"/>
              </a:defRPr>
            </a:pPr>
            <a:r>
              <a:t>    return &lt;input value={this.state.prompt} /&gt;;</a:t>
            </a:r>
          </a:p>
          <a:p>
            <a:pPr>
              <a:defRPr sz="850">
                <a:solidFill>
                  <a:srgbClr val="0F172A"/>
                </a:solidFill>
                <a:latin typeface="Consolas" panose="020B0609020204030204"/>
              </a:defRPr>
            </a:pPr>
            <a:r>
              <a:t>  }</a:t>
            </a:r>
          </a:p>
          <a:p>
            <a:pPr>
              <a:defRPr sz="850">
                <a:solidFill>
                  <a:srgbClr val="0F172A"/>
                </a:solidFill>
                <a:latin typeface="Consolas" panose="020B0609020204030204"/>
              </a:defRPr>
            </a:pPr>
            <a:r>
              <a:t>}</a:t>
            </a:r>
          </a:p>
        </p:txBody>
      </p:sp>
      <p:sp>
        <p:nvSpPr>
          <p:cNvPr id="10" name="Rounded Rectangle 9"/>
          <p:cNvSpPr/>
          <p:nvPr/>
        </p:nvSpPr>
        <p:spPr>
          <a:xfrm>
            <a:off x="6217920" y="1554480"/>
            <a:ext cx="5242255" cy="45720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lIns="0" tIns="0" rIns="0" bIns="0">
            <a:spAutoFit/>
          </a:bodyPr>
          <a:lstStyle/>
          <a:p>
            <a:pPr>
              <a:spcAft>
                <a:spcPts val="400"/>
              </a:spcAft>
              <a:defRPr sz="1200" b="1">
                <a:solidFill>
                  <a:srgbClr val="16A34A"/>
                </a:solidFill>
                <a:latin typeface="Segoe UI" panose="020B0502040204020203"/>
              </a:defRPr>
            </a:pPr>
            <a:r>
              <a:t>Modern Standard: Functional + Hooks (2026)</a:t>
            </a:r>
          </a:p>
          <a:p>
            <a:pPr>
              <a:defRPr sz="850">
                <a:solidFill>
                  <a:srgbClr val="0F172A"/>
                </a:solidFill>
                <a:latin typeface="Consolas" panose="020B0609020204030204"/>
              </a:defRPr>
            </a:pPr>
            <a:r>
              <a:t>function ChatBox() {</a:t>
            </a:r>
          </a:p>
          <a:p>
            <a:pPr>
              <a:defRPr sz="850">
                <a:solidFill>
                  <a:srgbClr val="0F172A"/>
                </a:solidFill>
                <a:latin typeface="Consolas" panose="020B0609020204030204"/>
              </a:defRPr>
            </a:pPr>
            <a:r>
              <a:t>  // 1. Concise state hook</a:t>
            </a:r>
          </a:p>
          <a:p>
            <a:pPr>
              <a:defRPr sz="850">
                <a:solidFill>
                  <a:srgbClr val="0B5C9E"/>
                </a:solidFill>
                <a:latin typeface="Consolas" panose="020B0609020204030204"/>
              </a:defRPr>
            </a:pPr>
            <a:r>
              <a:t>  const [prompt, setPrompt] = useState('');</a:t>
            </a:r>
          </a:p>
          <a:p>
            <a:pPr>
              <a:defRPr sz="850">
                <a:solidFill>
                  <a:srgbClr val="0F172A"/>
                </a:solidFill>
                <a:latin typeface="Consolas" panose="020B0609020204030204"/>
              </a:defRPr>
            </a:pPr>
          </a:p>
          <a:p>
            <a:pPr>
              <a:defRPr sz="850">
                <a:solidFill>
                  <a:srgbClr val="0B5C9E"/>
                </a:solidFill>
                <a:latin typeface="Consolas" panose="020B0609020204030204"/>
              </a:defRPr>
            </a:pPr>
            <a:r>
              <a:t>  // 2. Lifecycle &amp; cleanup unified in useEffect</a:t>
            </a:r>
          </a:p>
          <a:p>
            <a:pPr>
              <a:defRPr sz="850">
                <a:solidFill>
                  <a:srgbClr val="0B5C9E"/>
                </a:solidFill>
                <a:latin typeface="Consolas" panose="020B0609020204030204"/>
              </a:defRPr>
            </a:pPr>
            <a:r>
              <a:t>  useEffect(() =&gt; {</a:t>
            </a:r>
          </a:p>
          <a:p>
            <a:pPr>
              <a:defRPr sz="850">
                <a:solidFill>
                  <a:srgbClr val="0F172A"/>
                </a:solidFill>
                <a:latin typeface="Consolas" panose="020B0609020204030204"/>
              </a:defRPr>
            </a:pPr>
            <a:r>
              <a:t>    const sse = new EventSource('/api/stream');</a:t>
            </a:r>
          </a:p>
          <a:p>
            <a:pPr>
              <a:defRPr sz="850">
                <a:solidFill>
                  <a:srgbClr val="0F172A"/>
                </a:solidFill>
                <a:latin typeface="Consolas" panose="020B0609020204030204"/>
              </a:defRPr>
            </a:pPr>
            <a:r>
              <a:t>    return () =&gt; sse.close(); // Cleanup on unmount!</a:t>
            </a:r>
          </a:p>
          <a:p>
            <a:pPr>
              <a:defRPr sz="850">
                <a:solidFill>
                  <a:srgbClr val="0F172A"/>
                </a:solidFill>
                <a:latin typeface="Consolas" panose="020B0609020204030204"/>
              </a:defRPr>
            </a:pPr>
            <a:r>
              <a:t>  }, []);</a:t>
            </a:r>
          </a:p>
          <a:p>
            <a:pPr>
              <a:defRPr sz="850">
                <a:solidFill>
                  <a:srgbClr val="0F172A"/>
                </a:solidFill>
                <a:latin typeface="Consolas" panose="020B0609020204030204"/>
              </a:defRPr>
            </a:pPr>
          </a:p>
          <a:p>
            <a:pPr>
              <a:defRPr sz="850">
                <a:solidFill>
                  <a:srgbClr val="0F172A"/>
                </a:solidFill>
                <a:latin typeface="Consolas" panose="020B0609020204030204"/>
              </a:defRPr>
            </a:pPr>
            <a:r>
              <a:t>  // 3. Clean inline return with zero 'this' binding</a:t>
            </a:r>
          </a:p>
          <a:p>
            <a:pPr>
              <a:defRPr sz="850">
                <a:solidFill>
                  <a:srgbClr val="0F172A"/>
                </a:solidFill>
                <a:latin typeface="Consolas" panose="020B0609020204030204"/>
              </a:defRPr>
            </a:pPr>
            <a:r>
              <a:t>  return (</a:t>
            </a:r>
          </a:p>
          <a:p>
            <a:pPr>
              <a:defRPr sz="850">
                <a:solidFill>
                  <a:srgbClr val="0F172A"/>
                </a:solidFill>
                <a:latin typeface="Consolas" panose="020B0609020204030204"/>
              </a:defRPr>
            </a:pPr>
            <a:r>
              <a:t>    &lt;input </a:t>
            </a:r>
          </a:p>
          <a:p>
            <a:pPr>
              <a:defRPr sz="850">
                <a:solidFill>
                  <a:srgbClr val="0F172A"/>
                </a:solidFill>
                <a:latin typeface="Consolas" panose="020B0609020204030204"/>
              </a:defRPr>
            </a:pPr>
            <a:r>
              <a:t>      value={prompt} </a:t>
            </a:r>
          </a:p>
          <a:p>
            <a:pPr>
              <a:defRPr sz="850">
                <a:solidFill>
                  <a:srgbClr val="0F172A"/>
                </a:solidFill>
                <a:latin typeface="Consolas" panose="020B0609020204030204"/>
              </a:defRPr>
            </a:pPr>
            <a:r>
              <a:t>      onChange={(e) =&gt; setPrompt(e.target.value)} </a:t>
            </a:r>
          </a:p>
          <a:p>
            <a:pPr>
              <a:defRPr sz="850">
                <a:solidFill>
                  <a:srgbClr val="0F172A"/>
                </a:solidFill>
                <a:latin typeface="Consolas" panose="020B0609020204030204"/>
              </a:defRPr>
            </a:pPr>
            <a:r>
              <a:t>    /&gt;</a:t>
            </a:r>
          </a:p>
          <a:p>
            <a:pPr>
              <a:defRPr sz="850">
                <a:solidFill>
                  <a:srgbClr val="0F172A"/>
                </a:solidFill>
                <a:latin typeface="Consolas" panose="020B0609020204030204"/>
              </a:defRPr>
            </a:pPr>
            <a:r>
              <a:t>  );</a:t>
            </a:r>
          </a:p>
          <a:p>
            <a:pPr>
              <a:defRPr sz="850">
                <a:solidFill>
                  <a:srgbClr val="0F172A"/>
                </a:solidFill>
                <a:latin typeface="Consolas" panose="020B0609020204030204"/>
              </a:defRPr>
            </a:pPr>
            <a:r>
              <a: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5.14 · DATA FLOW</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Props &amp; Reusability: Unidirectional Data Flow</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Props (short for properties) allow parent components to pass data and configuration down to child components.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17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600"/>
              </a:spcAft>
              <a:defRPr sz="1300" b="1">
                <a:solidFill>
                  <a:srgbClr val="0B5C9E"/>
                </a:solidFill>
                <a:latin typeface="Segoe UI" panose="020B0502040204020203"/>
              </a:defRPr>
            </a:pPr>
            <a:r>
              <a:t>The 4 Rules of Props</a:t>
            </a:r>
          </a:p>
          <a:p>
            <a:pPr>
              <a:spcAft>
                <a:spcPts val="400"/>
              </a:spcAft>
            </a:pPr>
            <a:r>
              <a:rPr sz="950" b="1">
                <a:solidFill>
                  <a:srgbClr val="0F172A"/>
                </a:solidFill>
                <a:latin typeface="Segoe UI" panose="020B0502040204020203"/>
              </a:rPr>
              <a:t>• Unidirectional Flow (Top-to-Bottom):
  </a:t>
            </a:r>
            <a:r>
              <a:rPr sz="900">
                <a:solidFill>
                  <a:srgbClr val="334155"/>
                </a:solidFill>
                <a:latin typeface="Segoe UI" panose="020B0502040204020203"/>
              </a:rPr>
              <a:t>Data flows strictly from Parent to Child. Children cannot modify props directly!</a:t>
            </a:r>
            <a:endParaRPr sz="900">
              <a:solidFill>
                <a:srgbClr val="334155"/>
              </a:solidFill>
              <a:latin typeface="Segoe UI" panose="020B0502040204020203"/>
            </a:endParaRPr>
          </a:p>
          <a:p>
            <a:pPr>
              <a:spcAft>
                <a:spcPts val="400"/>
              </a:spcAft>
            </a:pPr>
            <a:r>
              <a:rPr sz="950" b="1">
                <a:solidFill>
                  <a:srgbClr val="0F172A"/>
                </a:solidFill>
                <a:latin typeface="Segoe UI" panose="020B0502040204020203"/>
              </a:rPr>
              <a:t>• Props are Read-Only (Immutable):
  </a:t>
            </a:r>
            <a:r>
              <a:rPr sz="900">
                <a:solidFill>
                  <a:srgbClr val="334155"/>
                </a:solidFill>
                <a:latin typeface="Segoe UI" panose="020B0502040204020203"/>
              </a:rPr>
              <a:t>Never reassign props: props.temp = 0.7 is illegal. Treat props as frozen parameters.</a:t>
            </a:r>
            <a:endParaRPr sz="900">
              <a:solidFill>
                <a:srgbClr val="334155"/>
              </a:solidFill>
              <a:latin typeface="Segoe UI" panose="020B0502040204020203"/>
            </a:endParaRPr>
          </a:p>
          <a:p>
            <a:pPr>
              <a:spcAft>
                <a:spcPts val="400"/>
              </a:spcAft>
            </a:pPr>
            <a:r>
              <a:rPr sz="950" b="1">
                <a:solidFill>
                  <a:srgbClr val="0F172A"/>
                </a:solidFill>
                <a:latin typeface="Segoe UI" panose="020B0502040204020203"/>
              </a:rPr>
              <a:t>• Destructuring with Default Values:
  </a:t>
            </a:r>
            <a:r>
              <a:rPr sz="900">
                <a:solidFill>
                  <a:srgbClr val="334155"/>
                </a:solidFill>
                <a:latin typeface="Segoe UI" panose="020B0502040204020203"/>
              </a:rPr>
              <a:t>function Slider({ label, value = 0.7, min = 0, max = 1 }) provides clean fallback defaults.</a:t>
            </a:r>
            <a:endParaRPr sz="900">
              <a:solidFill>
                <a:srgbClr val="334155"/>
              </a:solidFill>
              <a:latin typeface="Segoe UI" panose="020B0502040204020203"/>
            </a:endParaRPr>
          </a:p>
          <a:p>
            <a:pPr>
              <a:spcAft>
                <a:spcPts val="400"/>
              </a:spcAft>
            </a:pPr>
            <a:r>
              <a:rPr sz="950" b="1">
                <a:solidFill>
                  <a:srgbClr val="0F172A"/>
                </a:solidFill>
                <a:latin typeface="Segoe UI" panose="020B0502040204020203"/>
              </a:rPr>
              <a:t>• The Special 'children' Prop:
  </a:t>
            </a:r>
            <a:r>
              <a:rPr sz="900">
                <a:solidFill>
                  <a:srgbClr val="334155"/>
                </a:solidFill>
                <a:latin typeface="Segoe UI" panose="020B0502040204020203"/>
              </a:rPr>
              <a:t>Allows components to act as layout wrappers: &lt;Card&gt;&lt;p&gt;Any content here&lt;/p&gt;&lt;/Card&gt;.</a:t>
            </a:r>
            <a:endParaRPr sz="90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ParameterSlider.jsx (Reusable Prop Pattern)</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a:solidFill>
                  <a:srgbClr val="94A3B8"/>
                </a:solidFill>
                <a:latin typeface="Consolas" panose="020B0609020204030204"/>
              </a:defRPr>
            </a:pPr>
            <a:r>
              <a:t>// 1. Reusable AI Model Parameter Slider Component</a:t>
            </a:r>
          </a:p>
          <a:p>
            <a:pPr>
              <a:defRPr sz="880">
                <a:solidFill>
                  <a:srgbClr val="38BDF8"/>
                </a:solidFill>
                <a:latin typeface="Consolas" panose="020B0609020204030204"/>
              </a:defRPr>
            </a:pPr>
            <a:r>
              <a:t>function ParameterSlider({ label, value, onChange, min = 0, max = 1, step = 0.05 }) {</a:t>
            </a: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&lt;div className="slider-group"&gt;</a:t>
            </a:r>
          </a:p>
          <a:p>
            <a:pPr>
              <a:defRPr sz="880">
                <a:solidFill>
                  <a:srgbClr val="E2E8F0"/>
                </a:solidFill>
                <a:latin typeface="Consolas" panose="020B0609020204030204"/>
              </a:defRPr>
            </a:pPr>
            <a:r>
              <a:t>      &lt;div className="slider-label"&gt;</a:t>
            </a:r>
          </a:p>
          <a:p>
            <a:pPr>
              <a:defRPr sz="880">
                <a:solidFill>
                  <a:srgbClr val="E2E8F0"/>
                </a:solidFill>
                <a:latin typeface="Consolas" panose="020B0609020204030204"/>
              </a:defRPr>
            </a:pPr>
            <a:r>
              <a:t>        &lt;span&gt;{label}&lt;/span&gt;</a:t>
            </a:r>
          </a:p>
          <a:p>
            <a:pPr>
              <a:defRPr sz="880">
                <a:solidFill>
                  <a:srgbClr val="E2E8F0"/>
                </a:solidFill>
                <a:latin typeface="Consolas" panose="020B0609020204030204"/>
              </a:defRPr>
            </a:pPr>
            <a:r>
              <a:t>        &lt;span className="slider-val"&gt;{value}&lt;/span&gt;</a:t>
            </a:r>
          </a:p>
          <a:p>
            <a:pPr>
              <a:defRPr sz="880">
                <a:solidFill>
                  <a:srgbClr val="E2E8F0"/>
                </a:solidFill>
                <a:latin typeface="Consolas" panose="020B0609020204030204"/>
              </a:defRPr>
            </a:pPr>
            <a:r>
              <a:t>      &lt;/div&gt;</a:t>
            </a:r>
          </a:p>
          <a:p>
            <a:pPr>
              <a:defRPr sz="880">
                <a:solidFill>
                  <a:srgbClr val="E2E8F0"/>
                </a:solidFill>
                <a:latin typeface="Consolas" panose="020B0609020204030204"/>
              </a:defRPr>
            </a:pPr>
            <a:r>
              <a:t>      &lt;input</a:t>
            </a:r>
          </a:p>
          <a:p>
            <a:pPr>
              <a:defRPr sz="880">
                <a:solidFill>
                  <a:srgbClr val="E2E8F0"/>
                </a:solidFill>
                <a:latin typeface="Consolas" panose="020B0609020204030204"/>
              </a:defRPr>
            </a:pPr>
            <a:r>
              <a:t>        type="range"</a:t>
            </a:r>
          </a:p>
          <a:p>
            <a:pPr>
              <a:defRPr sz="880">
                <a:solidFill>
                  <a:srgbClr val="E2E8F0"/>
                </a:solidFill>
                <a:latin typeface="Consolas" panose="020B0609020204030204"/>
              </a:defRPr>
            </a:pPr>
            <a:r>
              <a:t>        min={min} max={max} step={step}</a:t>
            </a:r>
          </a:p>
          <a:p>
            <a:pPr>
              <a:defRPr sz="880">
                <a:solidFill>
                  <a:srgbClr val="E2E8F0"/>
                </a:solidFill>
                <a:latin typeface="Consolas" panose="020B0609020204030204"/>
              </a:defRPr>
            </a:pPr>
            <a:r>
              <a:t>        value={value}</a:t>
            </a:r>
          </a:p>
          <a:p>
            <a:pPr>
              <a:defRPr sz="880">
                <a:solidFill>
                  <a:srgbClr val="E2E8F0"/>
                </a:solidFill>
                <a:latin typeface="Consolas" panose="020B0609020204030204"/>
              </a:defRPr>
            </a:pPr>
            <a:r>
              <a:t>        onChange={(e) =&gt; onChange(parseFloat(e.target.value))}</a:t>
            </a:r>
          </a:p>
          <a:p>
            <a:pPr>
              <a:defRPr sz="880">
                <a:solidFill>
                  <a:srgbClr val="E2E8F0"/>
                </a:solidFill>
                <a:latin typeface="Consolas" panose="020B0609020204030204"/>
              </a:defRPr>
            </a:pPr>
            <a:r>
              <a:t>      /&gt;</a:t>
            </a:r>
          </a:p>
          <a:p>
            <a:pPr>
              <a:defRPr sz="880">
                <a:solidFill>
                  <a:srgbClr val="E2E8F0"/>
                </a:solidFill>
                <a:latin typeface="Consolas" panose="020B0609020204030204"/>
              </a:defRPr>
            </a:pPr>
            <a:r>
              <a:t>    &lt;/div&gt;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a:p>
            <a:pPr>
              <a:defRPr sz="880">
                <a:solidFill>
                  <a:srgbClr val="E2E8F0"/>
                </a:solidFill>
                <a:latin typeface="Consolas" panose="020B0609020204030204"/>
              </a:defRPr>
            </a:pPr>
          </a:p>
          <a:p>
            <a:pPr>
              <a:defRPr sz="880">
                <a:solidFill>
                  <a:srgbClr val="94A3B8"/>
                </a:solidFill>
                <a:latin typeface="Consolas" panose="020B0609020204030204"/>
              </a:defRPr>
            </a:pPr>
            <a:r>
              <a:t>// 2. Parent Usage</a:t>
            </a:r>
          </a:p>
          <a:p>
            <a:pPr>
              <a:defRPr sz="880">
                <a:solidFill>
                  <a:srgbClr val="E2E8F0"/>
                </a:solidFill>
                <a:latin typeface="Consolas" panose="020B0609020204030204"/>
              </a:defRPr>
            </a:pPr>
            <a:r>
              <a:t>&lt;ParameterSlider</a:t>
            </a:r>
          </a:p>
          <a:p>
            <a:pPr>
              <a:defRPr sz="880">
                <a:solidFill>
                  <a:srgbClr val="E2E8F0"/>
                </a:solidFill>
                <a:latin typeface="Consolas" panose="020B0609020204030204"/>
              </a:defRPr>
            </a:pPr>
            <a:r>
              <a:t>  label="Temperature"</a:t>
            </a:r>
          </a:p>
          <a:p>
            <a:pPr>
              <a:defRPr sz="880">
                <a:solidFill>
                  <a:srgbClr val="E2E8F0"/>
                </a:solidFill>
                <a:latin typeface="Consolas" panose="020B0609020204030204"/>
              </a:defRPr>
            </a:pPr>
            <a:r>
              <a:t>  value={temperature}</a:t>
            </a:r>
          </a:p>
          <a:p>
            <a:pPr>
              <a:defRPr sz="880">
                <a:solidFill>
                  <a:srgbClr val="E2E8F0"/>
                </a:solidFill>
                <a:latin typeface="Consolas" panose="020B0609020204030204"/>
              </a:defRPr>
            </a:pPr>
            <a:r>
              <a:t>  onChange={setTemperature}</a:t>
            </a:r>
          </a:p>
          <a:p>
            <a:pPr>
              <a:defRPr sz="880">
                <a:solidFill>
                  <a:srgbClr val="E2E8F0"/>
                </a:solidFill>
                <a:latin typeface="Consolas" panose="020B0609020204030204"/>
              </a:defRPr>
            </a:pPr>
            <a:r>
              <a:t>/&gt;</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The Customer's Order Ticket. Props are strictly read-only! The line cook never scribbles over the ticket. If the temperature changes, the customer places a new order.</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5.15 · INTERACTIVITY</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Dynamic Behavior: Handling Events in React</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React wraps native browser events in cross-browser 'SyntheticEvents' for bulletproof event handling.</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18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Event Handling Best Practices</a:t>
            </a:r>
          </a:p>
          <a:p>
            <a:pPr>
              <a:spcAft>
                <a:spcPts val="600"/>
              </a:spcAft>
            </a:pPr>
            <a:r>
              <a:rPr sz="950" b="1">
                <a:solidFill>
                  <a:srgbClr val="0F172A"/>
                </a:solidFill>
                <a:latin typeface="Segoe UI" panose="020B0502040204020203"/>
              </a:rPr>
              <a:t>• camelCase Naming Convention:
  </a:t>
            </a:r>
            <a:r>
              <a:rPr sz="920">
                <a:solidFill>
                  <a:srgbClr val="334155"/>
                </a:solidFill>
                <a:latin typeface="Segoe UI" panose="020B0502040204020203"/>
              </a:rPr>
              <a:t>React uses onClick, onSubmit, onChange, onKeyDown instead of lowercase html onclick.</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Pass Functions, Do NOT Call Them!:
  </a:t>
            </a:r>
            <a:r>
              <a:rPr sz="920">
                <a:solidFill>
                  <a:srgbClr val="334155"/>
                </a:solidFill>
                <a:latin typeface="Segoe UI" panose="020B0502040204020203"/>
              </a:rPr>
              <a:t>onClick={handleClick} is correct. onClick={handleClick()} executes immediately during render!</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Passing Parameters Safely:
  </a:t>
            </a:r>
            <a:r>
              <a:rPr sz="920">
                <a:solidFill>
                  <a:srgbClr val="334155"/>
                </a:solidFill>
                <a:latin typeface="Segoe UI" panose="020B0502040204020203"/>
              </a:rPr>
              <a:t>Use an arrow wrapper: onClick={() =&gt; handleDelete(message.id)}.</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Preventing Form Submission Reloads:
  </a:t>
            </a:r>
            <a:r>
              <a:rPr sz="920">
                <a:solidFill>
                  <a:srgbClr val="334155"/>
                </a:solidFill>
                <a:latin typeface="Segoe UI" panose="020B0502040204020203"/>
              </a:rPr>
              <a:t>e.preventDefault() in onSubmit prevents the browser from refreshing the page on Enter key.</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SyntheticEvent System:
  </a:t>
            </a:r>
            <a:r>
              <a:rPr sz="920">
                <a:solidFill>
                  <a:srgbClr val="334155"/>
                </a:solidFill>
                <a:latin typeface="Segoe UI" panose="020B0502040204020203"/>
              </a:rPr>
              <a:t>React pools events for performance and normalizes event quirks across Chrome, Safari, Firefox, and Edge.</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PromptInput.jsx (Event Handling Patterns)</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38BDF8"/>
                </a:solidFill>
                <a:latin typeface="Consolas" panose="020B0609020204030204"/>
              </a:defRPr>
            </a:pPr>
            <a:r>
              <a:t>function PromptInput({ onSendMessage, isGenerating }) {</a:t>
            </a:r>
          </a:p>
          <a:p>
            <a:pPr>
              <a:defRPr sz="880">
                <a:solidFill>
                  <a:srgbClr val="38BDF8"/>
                </a:solidFill>
                <a:latin typeface="Consolas" panose="020B0609020204030204"/>
              </a:defRPr>
            </a:pPr>
            <a:r>
              <a:t>  const [prompt, setPrompt] = useState('');</a:t>
            </a:r>
          </a:p>
          <a:p>
            <a:pPr>
              <a:defRPr sz="880">
                <a:solidFill>
                  <a:srgbClr val="E2E8F0"/>
                </a:solidFill>
                <a:latin typeface="Consolas" panose="020B0609020204030204"/>
              </a:defRPr>
            </a:pPr>
          </a:p>
          <a:p>
            <a:pPr>
              <a:defRPr sz="880">
                <a:solidFill>
                  <a:srgbClr val="38BDF8"/>
                </a:solidFill>
                <a:latin typeface="Consolas" panose="020B0609020204030204"/>
              </a:defRPr>
            </a:pPr>
            <a:r>
              <a:t>  const handleSubmit = (e) =&gt; {</a:t>
            </a:r>
          </a:p>
          <a:p>
            <a:pPr>
              <a:defRPr sz="880">
                <a:solidFill>
                  <a:srgbClr val="E2E8F0"/>
                </a:solidFill>
                <a:latin typeface="Consolas" panose="020B0609020204030204"/>
              </a:defRPr>
            </a:pPr>
            <a:r>
              <a:t>    e.preventDefault(); // Stop page reload!</a:t>
            </a:r>
          </a:p>
          <a:p>
            <a:pPr>
              <a:defRPr sz="880">
                <a:solidFill>
                  <a:srgbClr val="38BDF8"/>
                </a:solidFill>
                <a:latin typeface="Consolas" panose="020B0609020204030204"/>
              </a:defRPr>
            </a:pPr>
            <a:r>
              <a:t>    if (!prompt.trim() || isGenerating) return;</a:t>
            </a:r>
          </a:p>
          <a:p>
            <a:pPr>
              <a:defRPr sz="880">
                <a:solidFill>
                  <a:srgbClr val="E2E8F0"/>
                </a:solidFill>
                <a:latin typeface="Consolas" panose="020B0609020204030204"/>
              </a:defRPr>
            </a:pPr>
            <a:r>
              <a:t>    onSendMessage(prompt);</a:t>
            </a:r>
          </a:p>
          <a:p>
            <a:pPr>
              <a:defRPr sz="880">
                <a:solidFill>
                  <a:srgbClr val="E2E8F0"/>
                </a:solidFill>
                <a:latin typeface="Consolas" panose="020B0609020204030204"/>
              </a:defRPr>
            </a:pPr>
            <a:r>
              <a:t>    setPrompt(''); // Clear input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const handleKeyDown = (e) =&gt; {</a:t>
            </a:r>
          </a:p>
          <a:p>
            <a:pPr>
              <a:defRPr sz="880">
                <a:solidFill>
                  <a:srgbClr val="94A3B8"/>
                </a:solidFill>
                <a:latin typeface="Consolas" panose="020B0609020204030204"/>
              </a:defRPr>
            </a:pPr>
            <a:r>
              <a:t>    // Enter submits; Shift+Enter creates new line</a:t>
            </a:r>
          </a:p>
          <a:p>
            <a:pPr>
              <a:defRPr sz="880">
                <a:solidFill>
                  <a:srgbClr val="38BDF8"/>
                </a:solidFill>
                <a:latin typeface="Consolas" panose="020B0609020204030204"/>
              </a:defRPr>
            </a:pPr>
            <a:r>
              <a:t>    if (e.key === 'Enter' &amp;&amp; !e.shiftKey) {</a:t>
            </a:r>
          </a:p>
          <a:p>
            <a:pPr>
              <a:defRPr sz="880">
                <a:solidFill>
                  <a:srgbClr val="E2E8F0"/>
                </a:solidFill>
                <a:latin typeface="Consolas" panose="020B0609020204030204"/>
              </a:defRPr>
            </a:pPr>
            <a:r>
              <a:t>      handleSubmit(e);</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&lt;form onSubmit={handleSubmit}&gt;</a:t>
            </a:r>
          </a:p>
          <a:p>
            <a:pPr>
              <a:defRPr sz="880">
                <a:solidFill>
                  <a:srgbClr val="E2E8F0"/>
                </a:solidFill>
                <a:latin typeface="Consolas" panose="020B0609020204030204"/>
              </a:defRPr>
            </a:pPr>
            <a:r>
              <a:t>      &lt;textarea</a:t>
            </a:r>
          </a:p>
          <a:p>
            <a:pPr>
              <a:defRPr sz="880">
                <a:solidFill>
                  <a:srgbClr val="E2E8F0"/>
                </a:solidFill>
                <a:latin typeface="Consolas" panose="020B0609020204030204"/>
              </a:defRPr>
            </a:pPr>
            <a:r>
              <a:t>        value={prompt}</a:t>
            </a:r>
          </a:p>
          <a:p>
            <a:pPr>
              <a:defRPr sz="880">
                <a:solidFill>
                  <a:srgbClr val="E2E8F0"/>
                </a:solidFill>
                <a:latin typeface="Consolas" panose="020B0609020204030204"/>
              </a:defRPr>
            </a:pPr>
            <a:r>
              <a:t>        onChange={(e) =&gt; setPrompt(e.target.value)}</a:t>
            </a:r>
          </a:p>
          <a:p>
            <a:pPr>
              <a:defRPr sz="880">
                <a:solidFill>
                  <a:srgbClr val="E2E8F0"/>
                </a:solidFill>
                <a:latin typeface="Consolas" panose="020B0609020204030204"/>
              </a:defRPr>
            </a:pPr>
            <a:r>
              <a:t>        onKeyDown={handleKeyDown}</a:t>
            </a:r>
          </a:p>
          <a:p>
            <a:pPr>
              <a:defRPr sz="880">
                <a:solidFill>
                  <a:srgbClr val="E2E8F0"/>
                </a:solidFill>
                <a:latin typeface="Consolas" panose="020B0609020204030204"/>
              </a:defRPr>
            </a:pPr>
            <a:r>
              <a:t>      /&gt;</a:t>
            </a:r>
          </a:p>
          <a:p>
            <a:pPr>
              <a:defRPr sz="880">
                <a:solidFill>
                  <a:srgbClr val="E2E8F0"/>
                </a:solidFill>
                <a:latin typeface="Consolas" panose="020B0609020204030204"/>
              </a:defRPr>
            </a:pPr>
            <a:r>
              <a:t>      &lt;button type="submit" disabled={isGenerating}&gt;Send&lt;/button&gt;</a:t>
            </a:r>
          </a:p>
          <a:p>
            <a:pPr>
              <a:defRPr sz="880">
                <a:solidFill>
                  <a:srgbClr val="E2E8F0"/>
                </a:solidFill>
                <a:latin typeface="Consolas" panose="020B0609020204030204"/>
              </a:defRPr>
            </a:pPr>
            <a:r>
              <a:t>    &lt;/form&gt;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5.16 · STATE CORE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State with useState: State as a Snapshot &amp; Immutability</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State is a component's memory. Updating state triggers React to re-render the component with the new values.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19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The 3 Laws of React State</a:t>
            </a:r>
          </a:p>
          <a:p>
            <a:pPr>
              <a:spcAft>
                <a:spcPts val="600"/>
              </a:spcAft>
            </a:pPr>
            <a:r>
              <a:rPr sz="950" b="1">
                <a:solidFill>
                  <a:srgbClr val="7C3AED"/>
                </a:solidFill>
                <a:latin typeface="Segoe UI" panose="020B0502040204020203"/>
              </a:rPr>
              <a:t>1. State is Immutable (Never Mutate Directly)
</a:t>
            </a:r>
            <a:r>
              <a:rPr sz="900">
                <a:solidFill>
                  <a:srgbClr val="334155"/>
                </a:solidFill>
                <a:latin typeface="Segoe UI" panose="020B0502040204020203"/>
              </a:rPr>
              <a:t>messages.push(newMsg) modifies the array in memory, so React's shallow comparison thinks nothing changed. You MUST create a copy: [...messages, newMsg].</a:t>
            </a:r>
            <a:endParaRPr sz="900">
              <a:solidFill>
                <a:srgbClr val="334155"/>
              </a:solidFill>
              <a:latin typeface="Segoe UI" panose="020B0502040204020203"/>
            </a:endParaRPr>
          </a:p>
          <a:p>
            <a:pPr>
              <a:spcAft>
                <a:spcPts val="600"/>
              </a:spcAft>
            </a:pPr>
            <a:r>
              <a:rPr sz="950" b="1">
                <a:solidFill>
                  <a:srgbClr val="7C3AED"/>
                </a:solidFill>
                <a:latin typeface="Segoe UI" panose="020B0502040204020203"/>
              </a:rPr>
              <a:t>2. State Updates are Asynchronous Snapshots
</a:t>
            </a:r>
            <a:r>
              <a:rPr sz="900">
                <a:solidFill>
                  <a:srgbClr val="334155"/>
                </a:solidFill>
                <a:latin typeface="Segoe UI" panose="020B0502040204020203"/>
              </a:rPr>
              <a:t>Calling setCount(count + 1) does NOT immediately change count on the very next line of code. It schedules a re-render for the next frame.</a:t>
            </a:r>
            <a:endParaRPr sz="900">
              <a:solidFill>
                <a:srgbClr val="334155"/>
              </a:solidFill>
              <a:latin typeface="Segoe UI" panose="020B0502040204020203"/>
            </a:endParaRPr>
          </a:p>
          <a:p>
            <a:pPr>
              <a:spcAft>
                <a:spcPts val="600"/>
              </a:spcAft>
            </a:pPr>
            <a:r>
              <a:rPr sz="950" b="1">
                <a:solidFill>
                  <a:srgbClr val="7C3AED"/>
                </a:solidFill>
                <a:latin typeface="Segoe UI" panose="020B0502040204020203"/>
              </a:rPr>
              <a:t>3. Functional Updater for Concurrent States
</a:t>
            </a:r>
            <a:r>
              <a:rPr sz="900">
                <a:solidFill>
                  <a:srgbClr val="334155"/>
                </a:solidFill>
                <a:latin typeface="Segoe UI" panose="020B0502040204020203"/>
              </a:rPr>
              <a:t>If the new state depends on previous state (like appending streaming tokens), ALWAYS use the updater function: setTokens(prev =&gt; prev + chunk).</a:t>
            </a:r>
            <a:endParaRPr sz="90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State Immutability Patterns</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b="1">
                <a:solidFill>
                  <a:srgbClr val="F87171"/>
                </a:solidFill>
                <a:latin typeface="Consolas" panose="020B0609020204030204"/>
              </a:defRPr>
            </a:pPr>
            <a:r>
              <a:t>// ❌ WRONG: Direct Mutation (WILL NOT RE-RENDER!)</a:t>
            </a:r>
          </a:p>
          <a:p>
            <a:pPr>
              <a:defRPr sz="880">
                <a:solidFill>
                  <a:srgbClr val="E2E8F0"/>
                </a:solidFill>
                <a:latin typeface="Consolas" panose="020B0609020204030204"/>
              </a:defRPr>
            </a:pPr>
            <a:r>
              <a:t>messages.push({ role: 'user', text: prompt });</a:t>
            </a:r>
          </a:p>
          <a:p>
            <a:pPr>
              <a:defRPr sz="880">
                <a:solidFill>
                  <a:srgbClr val="E2E8F0"/>
                </a:solidFill>
                <a:latin typeface="Consolas" panose="020B0609020204030204"/>
              </a:defRPr>
            </a:pPr>
            <a:r>
              <a:t>setMessages(messages); // React sees same reference!</a:t>
            </a:r>
          </a:p>
          <a:p>
            <a:pPr>
              <a:defRPr sz="880">
                <a:solidFill>
                  <a:srgbClr val="E2E8F0"/>
                </a:solidFill>
                <a:latin typeface="Consolas" panose="020B0609020204030204"/>
              </a:defRPr>
            </a:pPr>
          </a:p>
          <a:p>
            <a:pPr>
              <a:defRPr sz="880" b="1">
                <a:solidFill>
                  <a:srgbClr val="4ADE80"/>
                </a:solidFill>
                <a:latin typeface="Consolas" panose="020B0609020204030204"/>
              </a:defRPr>
            </a:pPr>
            <a:r>
              <a:t>// ✅ CORRECT: Immutable Array Spread</a:t>
            </a:r>
          </a:p>
          <a:p>
            <a:pPr>
              <a:defRPr sz="880">
                <a:solidFill>
                  <a:srgbClr val="E2E8F0"/>
                </a:solidFill>
                <a:latin typeface="Consolas" panose="020B0609020204030204"/>
              </a:defRPr>
            </a:pPr>
            <a:r>
              <a:t>setMessages(prev =&gt; [...prev, { role: 'user', text: prompt }]);</a:t>
            </a:r>
          </a:p>
          <a:p>
            <a:pPr>
              <a:defRPr sz="880">
                <a:solidFill>
                  <a:srgbClr val="E2E8F0"/>
                </a:solidFill>
                <a:latin typeface="Consolas" panose="020B0609020204030204"/>
              </a:defRPr>
            </a:pPr>
          </a:p>
          <a:p>
            <a:pPr>
              <a:defRPr sz="880" b="1">
                <a:solidFill>
                  <a:srgbClr val="F87171"/>
                </a:solidFill>
                <a:latin typeface="Consolas" panose="020B0609020204030204"/>
              </a:defRPr>
            </a:pPr>
            <a:r>
              <a:t>// ❌ WRONG: Stale State Clashing During Streaming</a:t>
            </a:r>
          </a:p>
          <a:p>
            <a:pPr>
              <a:defRPr sz="880">
                <a:solidFill>
                  <a:srgbClr val="E2E8F0"/>
                </a:solidFill>
                <a:latin typeface="Consolas" panose="020B0609020204030204"/>
              </a:defRPr>
            </a:pPr>
            <a:r>
              <a:t>setResponseText(responseText + token);</a:t>
            </a:r>
          </a:p>
          <a:p>
            <a:pPr>
              <a:defRPr sz="880">
                <a:solidFill>
                  <a:srgbClr val="E2E8F0"/>
                </a:solidFill>
                <a:latin typeface="Consolas" panose="020B0609020204030204"/>
              </a:defRPr>
            </a:pPr>
          </a:p>
          <a:p>
            <a:pPr>
              <a:defRPr sz="880" b="1">
                <a:solidFill>
                  <a:srgbClr val="4ADE80"/>
                </a:solidFill>
                <a:latin typeface="Consolas" panose="020B0609020204030204"/>
              </a:defRPr>
            </a:pPr>
            <a:r>
              <a:t>// ✅ CORRECT: Functional Updater (Concurrency Safe)</a:t>
            </a:r>
          </a:p>
          <a:p>
            <a:pPr>
              <a:defRPr sz="880">
                <a:solidFill>
                  <a:srgbClr val="E2E8F0"/>
                </a:solidFill>
                <a:latin typeface="Consolas" panose="020B0609020204030204"/>
              </a:defRPr>
            </a:pPr>
            <a:r>
              <a:t>setResponseText(prev =&gt; prev + token);</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Bake a Fresh Pizza! Scraping olives onto cold crust (messages.push) is ignored by React. Spreading [...prev, new] bakes a fresh pizza on a new plate.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5.17 · DYNAMIC STATES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Conditional Rendering in AI Frontends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AI applications cycle through complex states: Idle, Generating, Tool Executing, Error, and Completed.</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20 of 35</a:t>
            </a:r>
          </a:p>
        </p:txBody>
      </p:sp>
      <p:sp>
        <p:nvSpPr>
          <p:cNvPr id="8" name="Rounded Rectangle 7"/>
          <p:cNvSpPr/>
          <p:nvPr/>
        </p:nvSpPr>
        <p:spPr>
          <a:xfrm>
            <a:off x="731520" y="1645920"/>
            <a:ext cx="2487168" cy="429768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10512"/>
            <a:ext cx="2157984" cy="3968496"/>
          </a:xfrm>
          <a:prstGeom prst="rect">
            <a:avLst/>
          </a:prstGeom>
          <a:noFill/>
        </p:spPr>
        <p:txBody>
          <a:bodyPr wrap="square" lIns="0" tIns="0" rIns="0" bIns="0">
            <a:spAutoFit/>
          </a:bodyPr>
          <a:lstStyle/>
          <a:p>
            <a:pPr>
              <a:defRPr sz="1300" b="1">
                <a:solidFill>
                  <a:srgbClr val="0B5C9E"/>
                </a:solidFill>
                <a:latin typeface="Segoe UI" panose="020B0502040204020203"/>
              </a:defRPr>
            </a:pPr>
            <a:r>
              <a:t>1. Ternary Operator (? :)</a:t>
            </a:r>
          </a:p>
          <a:p>
            <a:pPr>
              <a:spcAft>
                <a:spcPts val="1200"/>
              </a:spcAft>
              <a:defRPr sz="950">
                <a:solidFill>
                  <a:srgbClr val="64748B"/>
                </a:solidFill>
                <a:latin typeface="Segoe UI" panose="020B0502040204020203"/>
              </a:defRPr>
            </a:pPr>
            <a:r>
              <a:t>Toggling Between 2 States</a:t>
            </a:r>
          </a:p>
          <a:p>
            <a:pPr>
              <a:spcAft>
                <a:spcPts val="800"/>
              </a:spcAft>
            </a:pPr>
            <a:r>
              <a:rPr sz="950" b="1">
                <a:solidFill>
                  <a:srgbClr val="0F172A"/>
                </a:solidFill>
                <a:latin typeface="Segoe UI" panose="020B0502040204020203"/>
              </a:rPr>
              <a:t>Use Case: </a:t>
            </a:r>
            <a:r>
              <a:rPr sz="900">
                <a:solidFill>
                  <a:srgbClr val="334155"/>
                </a:solidFill>
                <a:latin typeface="Segoe UI" panose="020B0502040204020203"/>
              </a:rPr>
              <a:t>Switching between active streaming spinner and copy-to-clipboard button.</a:t>
            </a:r>
            <a:endParaRPr sz="900">
              <a:solidFill>
                <a:srgbClr val="334155"/>
              </a:solidFill>
              <a:latin typeface="Segoe UI" panose="020B0502040204020203"/>
            </a:endParaRPr>
          </a:p>
          <a:p>
            <a:pPr>
              <a:spcAft>
                <a:spcPts val="800"/>
              </a:spcAft>
            </a:pPr>
            <a:r>
              <a:rPr sz="950" b="1">
                <a:solidFill>
                  <a:srgbClr val="0F172A"/>
                </a:solidFill>
                <a:latin typeface="Segoe UI" panose="020B0502040204020203"/>
              </a:rPr>
              <a:t>Syntax: </a:t>
            </a:r>
            <a:r>
              <a:rPr sz="900">
                <a:solidFill>
                  <a:srgbClr val="334155"/>
                </a:solidFill>
                <a:latin typeface="Consolas" panose="020B0609020204030204"/>
              </a:rPr>
              <a:t>{isStreaming ? (
  &lt;Spinner /&gt;
) : (
  &lt;CopyButton text={msg} /&gt;
)}</a:t>
            </a:r>
            <a:endParaRPr sz="900">
              <a:solidFill>
                <a:srgbClr val="334155"/>
              </a:solidFill>
              <a:latin typeface="Consolas" panose="020B0609020204030204"/>
            </a:endParaRPr>
          </a:p>
        </p:txBody>
      </p:sp>
      <p:sp>
        <p:nvSpPr>
          <p:cNvPr id="10" name="Rounded Rectangle 9"/>
          <p:cNvSpPr/>
          <p:nvPr/>
        </p:nvSpPr>
        <p:spPr>
          <a:xfrm>
            <a:off x="3474720" y="1645920"/>
            <a:ext cx="2487168" cy="429768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810512"/>
            <a:ext cx="2157984" cy="3968496"/>
          </a:xfrm>
          <a:prstGeom prst="rect">
            <a:avLst/>
          </a:prstGeom>
          <a:noFill/>
        </p:spPr>
        <p:txBody>
          <a:bodyPr wrap="square" lIns="0" tIns="0" rIns="0" bIns="0">
            <a:spAutoFit/>
          </a:bodyPr>
          <a:lstStyle/>
          <a:p>
            <a:pPr>
              <a:defRPr sz="1300" b="1">
                <a:solidFill>
                  <a:srgbClr val="7C3AED"/>
                </a:solidFill>
                <a:latin typeface="Segoe UI" panose="020B0502040204020203"/>
              </a:defRPr>
            </a:pPr>
            <a:r>
              <a:t>2. Logical AND (&amp;&amp;)</a:t>
            </a:r>
          </a:p>
          <a:p>
            <a:pPr>
              <a:spcAft>
                <a:spcPts val="1200"/>
              </a:spcAft>
              <a:defRPr sz="950">
                <a:solidFill>
                  <a:srgbClr val="64748B"/>
                </a:solidFill>
                <a:latin typeface="Segoe UI" panose="020B0502040204020203"/>
              </a:defRPr>
            </a:pPr>
            <a:r>
              <a:t>Optional Visibility</a:t>
            </a:r>
          </a:p>
          <a:p>
            <a:pPr>
              <a:spcAft>
                <a:spcPts val="800"/>
              </a:spcAft>
            </a:pPr>
            <a:r>
              <a:rPr sz="950" b="1">
                <a:solidFill>
                  <a:srgbClr val="0F172A"/>
                </a:solidFill>
                <a:latin typeface="Segoe UI" panose="020B0502040204020203"/>
              </a:rPr>
              <a:t>Use Case: </a:t>
            </a:r>
            <a:r>
              <a:rPr sz="900">
                <a:solidFill>
                  <a:srgbClr val="334155"/>
                </a:solidFill>
                <a:latin typeface="Segoe UI" panose="020B0502040204020203"/>
              </a:rPr>
              <a:t>Rendering the retrieved RAG source document drawer ONLY if citations exist.</a:t>
            </a:r>
            <a:endParaRPr sz="900">
              <a:solidFill>
                <a:srgbClr val="334155"/>
              </a:solidFill>
              <a:latin typeface="Segoe UI" panose="020B0502040204020203"/>
            </a:endParaRPr>
          </a:p>
          <a:p>
            <a:pPr>
              <a:spcAft>
                <a:spcPts val="800"/>
              </a:spcAft>
            </a:pPr>
            <a:r>
              <a:rPr sz="950" b="1">
                <a:solidFill>
                  <a:srgbClr val="0F172A"/>
                </a:solidFill>
                <a:latin typeface="Segoe UI" panose="020B0502040204020203"/>
              </a:rPr>
              <a:t>Syntax: </a:t>
            </a:r>
            <a:r>
              <a:rPr sz="900">
                <a:solidFill>
                  <a:srgbClr val="334155"/>
                </a:solidFill>
                <a:latin typeface="Consolas" panose="020B0609020204030204"/>
              </a:rPr>
              <a:t>{citations.length &gt; 0 &amp;&amp; (
  &lt;CitationsDrawer docs={citations} /&gt;
)}</a:t>
            </a:r>
            <a:endParaRPr sz="900">
              <a:solidFill>
                <a:srgbClr val="334155"/>
              </a:solidFill>
              <a:latin typeface="Consolas" panose="020B0609020204030204"/>
            </a:endParaRPr>
          </a:p>
        </p:txBody>
      </p:sp>
      <p:sp>
        <p:nvSpPr>
          <p:cNvPr id="12" name="Rounded Rectangle 11"/>
          <p:cNvSpPr/>
          <p:nvPr/>
        </p:nvSpPr>
        <p:spPr>
          <a:xfrm>
            <a:off x="6217920" y="1645920"/>
            <a:ext cx="2487168" cy="4297680"/>
          </a:xfrm>
          <a:prstGeom prst="roundRect">
            <a:avLst/>
          </a:prstGeom>
          <a:solidFill>
            <a:srgbClr val="FEF3C7"/>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10512"/>
            <a:ext cx="2157984" cy="3968496"/>
          </a:xfrm>
          <a:prstGeom prst="rect">
            <a:avLst/>
          </a:prstGeom>
          <a:noFill/>
        </p:spPr>
        <p:txBody>
          <a:bodyPr wrap="square" lIns="0" tIns="0" rIns="0" bIns="0">
            <a:spAutoFit/>
          </a:bodyPr>
          <a:lstStyle/>
          <a:p>
            <a:pPr>
              <a:defRPr sz="1300" b="1">
                <a:solidFill>
                  <a:srgbClr val="D97706"/>
                </a:solidFill>
                <a:latin typeface="Segoe UI" panose="020B0502040204020203"/>
              </a:defRPr>
            </a:pPr>
            <a:r>
              <a:t>3. Early Return Guard</a:t>
            </a:r>
          </a:p>
          <a:p>
            <a:pPr>
              <a:spcAft>
                <a:spcPts val="1200"/>
              </a:spcAft>
              <a:defRPr sz="950">
                <a:solidFill>
                  <a:srgbClr val="64748B"/>
                </a:solidFill>
                <a:latin typeface="Segoe UI" panose="020B0502040204020203"/>
              </a:defRPr>
            </a:pPr>
            <a:r>
              <a:t>Loading &amp; Error Screens</a:t>
            </a:r>
          </a:p>
          <a:p>
            <a:pPr>
              <a:spcAft>
                <a:spcPts val="800"/>
              </a:spcAft>
            </a:pPr>
            <a:r>
              <a:rPr sz="950" b="1">
                <a:solidFill>
                  <a:srgbClr val="0F172A"/>
                </a:solidFill>
                <a:latin typeface="Segoe UI" panose="020B0502040204020203"/>
              </a:rPr>
              <a:t>Use Case: </a:t>
            </a:r>
            <a:r>
              <a:rPr sz="900">
                <a:solidFill>
                  <a:srgbClr val="334155"/>
                </a:solidFill>
                <a:latin typeface="Segoe UI" panose="020B0502040204020203"/>
              </a:rPr>
              <a:t>Halting component execution early if user authentication is still initializing.</a:t>
            </a:r>
            <a:endParaRPr sz="900">
              <a:solidFill>
                <a:srgbClr val="334155"/>
              </a:solidFill>
              <a:latin typeface="Segoe UI" panose="020B0502040204020203"/>
            </a:endParaRPr>
          </a:p>
          <a:p>
            <a:pPr>
              <a:spcAft>
                <a:spcPts val="800"/>
              </a:spcAft>
            </a:pPr>
            <a:r>
              <a:rPr sz="950" b="1">
                <a:solidFill>
                  <a:srgbClr val="0F172A"/>
                </a:solidFill>
                <a:latin typeface="Segoe UI" panose="020B0502040204020203"/>
              </a:rPr>
              <a:t>Syntax: </a:t>
            </a:r>
            <a:r>
              <a:rPr sz="900">
                <a:solidFill>
                  <a:srgbClr val="334155"/>
                </a:solidFill>
                <a:latin typeface="Consolas" panose="020B0609020204030204"/>
              </a:rPr>
              <a:t>if (isLoading) {
  return &lt;SkeletonLoader /&gt;;
}</a:t>
            </a:r>
            <a:endParaRPr sz="900">
              <a:solidFill>
                <a:srgbClr val="334155"/>
              </a:solidFill>
              <a:latin typeface="Consolas" panose="020B0609020204030204"/>
            </a:endParaRPr>
          </a:p>
        </p:txBody>
      </p:sp>
      <p:sp>
        <p:nvSpPr>
          <p:cNvPr id="14" name="Rounded Rectangle 13"/>
          <p:cNvSpPr/>
          <p:nvPr/>
        </p:nvSpPr>
        <p:spPr>
          <a:xfrm>
            <a:off x="8961120" y="1645920"/>
            <a:ext cx="2487168" cy="429768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1810512"/>
            <a:ext cx="2157984" cy="3968496"/>
          </a:xfrm>
          <a:prstGeom prst="rect">
            <a:avLst/>
          </a:prstGeom>
          <a:noFill/>
        </p:spPr>
        <p:txBody>
          <a:bodyPr wrap="square" lIns="0" tIns="0" rIns="0" bIns="0">
            <a:spAutoFit/>
          </a:bodyPr>
          <a:lstStyle/>
          <a:p>
            <a:pPr>
              <a:defRPr sz="1300" b="1">
                <a:solidFill>
                  <a:srgbClr val="16A34A"/>
                </a:solidFill>
                <a:latin typeface="Segoe UI" panose="020B0502040204020203"/>
              </a:defRPr>
            </a:pPr>
            <a:r>
              <a:t>4. Status State Switch</a:t>
            </a:r>
          </a:p>
          <a:p>
            <a:pPr>
              <a:spcAft>
                <a:spcPts val="1200"/>
              </a:spcAft>
              <a:defRPr sz="950">
                <a:solidFill>
                  <a:srgbClr val="64748B"/>
                </a:solidFill>
                <a:latin typeface="Segoe UI" panose="020B0502040204020203"/>
              </a:defRPr>
            </a:pPr>
            <a:r>
              <a:t>Multi-Step Agent Pipelines</a:t>
            </a:r>
          </a:p>
          <a:p>
            <a:pPr>
              <a:spcAft>
                <a:spcPts val="800"/>
              </a:spcAft>
            </a:pPr>
            <a:r>
              <a:rPr sz="950" b="1">
                <a:solidFill>
                  <a:srgbClr val="0F172A"/>
                </a:solidFill>
                <a:latin typeface="Segoe UI" panose="020B0502040204020203"/>
              </a:rPr>
              <a:t>Use Case: </a:t>
            </a:r>
            <a:r>
              <a:rPr sz="900">
                <a:solidFill>
                  <a:srgbClr val="334155"/>
                </a:solidFill>
                <a:latin typeface="Segoe UI" panose="020B0502040204020203"/>
              </a:rPr>
              <a:t>Rendering Agent steps: 'Searching Vector DB' -&gt; 'Calling Web Tool' -&gt; 'Synthesizing'.</a:t>
            </a:r>
            <a:endParaRPr sz="900">
              <a:solidFill>
                <a:srgbClr val="334155"/>
              </a:solidFill>
              <a:latin typeface="Segoe UI" panose="020B0502040204020203"/>
            </a:endParaRPr>
          </a:p>
          <a:p>
            <a:pPr>
              <a:spcAft>
                <a:spcPts val="800"/>
              </a:spcAft>
            </a:pPr>
            <a:r>
              <a:rPr sz="950" b="1">
                <a:solidFill>
                  <a:srgbClr val="0F172A"/>
                </a:solidFill>
                <a:latin typeface="Segoe UI" panose="020B0502040204020203"/>
              </a:rPr>
              <a:t>Syntax: </a:t>
            </a:r>
            <a:r>
              <a:rPr sz="900">
                <a:solidFill>
                  <a:srgbClr val="334155"/>
                </a:solidFill>
                <a:latin typeface="Consolas" panose="020B0609020204030204"/>
              </a:rPr>
              <a:t>switch (agentState) {
  case 'searching': ...
  case 'synthesizing': ...
}</a:t>
            </a:r>
            <a:endParaRPr sz="900">
              <a:solidFill>
                <a:srgbClr val="334155"/>
              </a:solidFill>
              <a:latin typeface="Consolas" panose="020B0609020204030204"/>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5.18 · LISTS &amp; RENDERING</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Lists &amp; Keys: Chat Threads &amp; The Critical Key Anti-Pattern</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React requires a unique 'key' prop on list items so its reconciliation engine can track which items changed.</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21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Why Keys are Mandatory in AI UIs</a:t>
            </a:r>
          </a:p>
          <a:p>
            <a:pPr>
              <a:spcAft>
                <a:spcPts val="800"/>
              </a:spcAft>
            </a:pPr>
            <a:r>
              <a:rPr sz="950" b="1">
                <a:solidFill>
                  <a:srgbClr val="0F172A"/>
                </a:solidFill>
                <a:latin typeface="Segoe UI" panose="020B0502040204020203"/>
              </a:rPr>
              <a:t>• Identity in Virtual DOM: </a:t>
            </a:r>
            <a:r>
              <a:rPr sz="920">
                <a:solidFill>
                  <a:srgbClr val="334155"/>
                </a:solidFill>
                <a:latin typeface="Segoe UI" panose="020B0502040204020203"/>
              </a:rPr>
              <a:t>Keys give elements a stable identity. Without keys, if you delete a message, React re-renders the entire thread instead of removing one node.</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The Index Anti-Pattern (key={index}): </a:t>
            </a:r>
            <a:r>
              <a:rPr sz="920">
                <a:solidFill>
                  <a:srgbClr val="334155"/>
                </a:solidFill>
                <a:latin typeface="Segoe UI" panose="020B0502040204020203"/>
              </a:rPr>
              <a:t>If you use array index as key and insert a new prompt or streaming message, keys shift, causing incorrect message contents and broken animations!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Unique UUIDs are Mandatory: </a:t>
            </a:r>
            <a:r>
              <a:rPr sz="920">
                <a:solidFill>
                  <a:srgbClr val="334155"/>
                </a:solidFill>
                <a:latin typeface="Segoe UI" panose="020B0502040204020203"/>
              </a:rPr>
              <a:t>Always assign crypto.randomUUID() or backend message IDs (msg_982f) as keys.</a:t>
            </a:r>
            <a:endParaRPr sz="92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ListRendering.jsx (Keys in Action)</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b="1">
                <a:solidFill>
                  <a:srgbClr val="F87171"/>
                </a:solidFill>
                <a:latin typeface="Consolas" panose="020B0609020204030204"/>
              </a:defRPr>
            </a:pPr>
            <a:r>
              <a:t>// ❌ ANTI-PATTERN: Using Array Index as Key</a:t>
            </a:r>
          </a:p>
          <a:p>
            <a:pPr>
              <a:defRPr sz="880">
                <a:solidFill>
                  <a:srgbClr val="E2E8F0"/>
                </a:solidFill>
                <a:latin typeface="Consolas" panose="020B0609020204030204"/>
              </a:defRPr>
            </a:pPr>
            <a:r>
              <a:t>&lt;ul&gt;</a:t>
            </a:r>
          </a:p>
          <a:p>
            <a:pPr>
              <a:defRPr sz="880">
                <a:solidFill>
                  <a:srgbClr val="E2E8F0"/>
                </a:solidFill>
                <a:latin typeface="Consolas" panose="020B0609020204030204"/>
              </a:defRPr>
            </a:pPr>
            <a:r>
              <a:t>  {messages.map((msg, index) =&gt; (</a:t>
            </a:r>
          </a:p>
          <a:p>
            <a:pPr>
              <a:defRPr sz="880">
                <a:solidFill>
                  <a:srgbClr val="E2E8F0"/>
                </a:solidFill>
                <a:latin typeface="Consolas" panose="020B0609020204030204"/>
              </a:defRPr>
            </a:pPr>
            <a:r>
              <a:t>    &lt;ChatMessage key={index} data={msg} /&gt;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&lt;/ul&gt;</a:t>
            </a:r>
          </a:p>
          <a:p>
            <a:pPr>
              <a:defRPr sz="880">
                <a:solidFill>
                  <a:srgbClr val="E2E8F0"/>
                </a:solidFill>
                <a:latin typeface="Consolas" panose="020B0609020204030204"/>
              </a:defRPr>
            </a:pPr>
          </a:p>
          <a:p>
            <a:pPr>
              <a:defRPr sz="880" b="1">
                <a:solidFill>
                  <a:srgbClr val="4ADE80"/>
                </a:solidFill>
                <a:latin typeface="Consolas" panose="020B0609020204030204"/>
              </a:defRPr>
            </a:pPr>
            <a:r>
              <a:t>// ✅ PRODUCTION: Using Unique UUID or Backend ID</a:t>
            </a:r>
          </a:p>
          <a:p>
            <a:pPr>
              <a:defRPr sz="880">
                <a:solidFill>
                  <a:srgbClr val="E2E8F0"/>
                </a:solidFill>
                <a:latin typeface="Consolas" panose="020B0609020204030204"/>
              </a:defRPr>
            </a:pPr>
            <a:r>
              <a:t>&lt;ul&gt;</a:t>
            </a:r>
          </a:p>
          <a:p>
            <a:pPr>
              <a:defRPr sz="880">
                <a:solidFill>
                  <a:srgbClr val="E2E8F0"/>
                </a:solidFill>
                <a:latin typeface="Consolas" panose="020B0609020204030204"/>
              </a:defRPr>
            </a:pPr>
            <a:r>
              <a:t>  {messages.map((msg) =&gt; (</a:t>
            </a:r>
          </a:p>
          <a:p>
            <a:pPr>
              <a:defRPr sz="880">
                <a:solidFill>
                  <a:srgbClr val="E2E8F0"/>
                </a:solidFill>
                <a:latin typeface="Consolas" panose="020B0609020204030204"/>
              </a:defRPr>
            </a:pPr>
            <a:r>
              <a:t>    &lt;ChatMessage key={msg.id} data={msg} /&gt;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&lt;/ul&gt;</a:t>
            </a:r>
          </a:p>
          <a:p>
            <a:pPr>
              <a:defRPr sz="880">
                <a:solidFill>
                  <a:srgbClr val="E2E8F0"/>
                </a:solidFill>
                <a:latin typeface="Consolas" panose="020B0609020204030204"/>
              </a:defRPr>
            </a:pPr>
          </a:p>
          <a:p>
            <a:pPr>
              <a:defRPr sz="880">
                <a:solidFill>
                  <a:srgbClr val="94A3B8"/>
                </a:solidFill>
                <a:latin typeface="Consolas" panose="020B0609020204030204"/>
              </a:defRPr>
            </a:pPr>
            <a:r>
              <a:t>// Helper: Generating Messages with Stable IDs</a:t>
            </a:r>
          </a:p>
          <a:p>
            <a:pPr>
              <a:defRPr sz="880">
                <a:solidFill>
                  <a:srgbClr val="38BDF8"/>
                </a:solidFill>
                <a:latin typeface="Consolas" panose="020B0609020204030204"/>
              </a:defRPr>
            </a:pPr>
            <a:r>
              <a:t>const createMessage = (role, text) =&gt; ({</a:t>
            </a:r>
          </a:p>
          <a:p>
            <a:pPr>
              <a:defRPr sz="880">
                <a:solidFill>
                  <a:srgbClr val="E2E8F0"/>
                </a:solidFill>
                <a:latin typeface="Consolas" panose="020B0609020204030204"/>
              </a:defRPr>
            </a:pPr>
            <a:r>
              <a:t>  id: crypto.randomUUID(), // Stable across all renders!</a:t>
            </a:r>
          </a:p>
          <a:p>
            <a:pPr>
              <a:defRPr sz="880">
                <a:solidFill>
                  <a:srgbClr val="E2E8F0"/>
                </a:solidFill>
                <a:latin typeface="Consolas" panose="020B0609020204030204"/>
              </a:defRPr>
            </a:pPr>
            <a:r>
              <a:t>  role,</a:t>
            </a:r>
          </a:p>
          <a:p>
            <a:pPr>
              <a:defRPr sz="880">
                <a:solidFill>
                  <a:srgbClr val="E2E8F0"/>
                </a:solidFill>
                <a:latin typeface="Consolas" panose="020B0609020204030204"/>
              </a:defRPr>
            </a:pPr>
            <a:r>
              <a:t>  text,</a:t>
            </a:r>
          </a:p>
          <a:p>
            <a:pPr>
              <a:defRPr sz="880">
                <a:solidFill>
                  <a:srgbClr val="E2E8F0"/>
                </a:solidFill>
                <a:latin typeface="Consolas" panose="020B0609020204030204"/>
              </a:defRPr>
            </a:pPr>
            <a:r>
              <a:t>  createdAt: Date.now()</a:t>
            </a:r>
          </a:p>
          <a:p>
            <a:pPr>
              <a:defRPr sz="880">
                <a:solidFill>
                  <a:srgbClr val="E2E8F0"/>
                </a:solidFill>
                <a:latin typeface="Consolas" panose="020B0609020204030204"/>
              </a:defRPr>
            </a:pPr>
            <a:r>
              <a:t>});</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Order Buzzer IDs vs 'The Guy in Chair 3'. When a diner leaves, chair index shifts and the wrong person gets soup! Always assign unique key={msg.id}.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5.19 · FORMS &amp; STATE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Controlled Components &amp; AI Parameter Forms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In a controlled component, form inputs are bound directly to React state, creating a single source of truth.</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22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Controlled vs Uncontrolled Inputs</a:t>
            </a:r>
          </a:p>
          <a:p>
            <a:pPr>
              <a:spcAft>
                <a:spcPts val="600"/>
              </a:spcAft>
            </a:pPr>
            <a:r>
              <a:rPr sz="950" b="1">
                <a:solidFill>
                  <a:srgbClr val="0F172A"/>
                </a:solidFill>
                <a:latin typeface="Segoe UI" panose="020B0502040204020203"/>
              </a:rPr>
              <a:t>• Controlled: React is the Master:
  </a:t>
            </a:r>
            <a:r>
              <a:rPr sz="920">
                <a:solidFill>
                  <a:srgbClr val="334155"/>
                </a:solidFill>
                <a:latin typeface="Segoe UI" panose="020B0502040204020203"/>
              </a:rPr>
              <a:t>Input value is driven by state: &lt;input value={temp} onChange={e =&gt; setTemp(e.target.value)} /&gt;. React controls every keystroke.</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Instant Validation &amp; Enforcing Bounds:
  </a:t>
            </a:r>
            <a:r>
              <a:rPr sz="920">
                <a:solidFill>
                  <a:srgbClr val="334155"/>
                </a:solidFill>
                <a:latin typeface="Segoe UI" panose="020B0502040204020203"/>
              </a:rPr>
              <a:t>Clamp temperature to [0.0, 2.0]; prevent negative top_k values instantly as the user types.</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Dynamic Form Submissions:
  </a:t>
            </a:r>
            <a:r>
              <a:rPr sz="920">
                <a:solidFill>
                  <a:srgbClr val="334155"/>
                </a:solidFill>
                <a:latin typeface="Segoe UI" panose="020B0502040204020203"/>
              </a:rPr>
              <a:t>Combine model selection, temperature, system prompt, and user query into one unified JSON payload.</a:t>
            </a:r>
            <a:endParaRPr sz="920">
              <a:solidFill>
                <a:srgbClr val="334155"/>
              </a:solidFill>
              <a:latin typeface="Segoe UI" panose="020B0502040204020203"/>
            </a:endParaRPr>
          </a:p>
          <a:p>
            <a:pPr>
              <a:spcAft>
                <a:spcPts val="600"/>
              </a:spcAft>
            </a:pPr>
            <a:r>
              <a:rPr sz="950" b="1">
                <a:solidFill>
                  <a:srgbClr val="0F172A"/>
                </a:solidFill>
                <a:latin typeface="Segoe UI" panose="020B0502040204020203"/>
              </a:rPr>
              <a:t>• Uncontrolled (useRef):
  </a:t>
            </a:r>
            <a:r>
              <a:rPr sz="920">
                <a:solidFill>
                  <a:srgbClr val="334155"/>
                </a:solidFill>
                <a:latin typeface="Segoe UI" panose="020B0502040204020203"/>
              </a:rPr>
              <a:t>DOM manages its own state; you only read the value when submitted. Useful for large file upload drops.</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ModelSettingsForm.jsx (Controlled Object State)</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38BDF8"/>
                </a:solidFill>
                <a:latin typeface="Consolas" panose="020B0609020204030204"/>
              </a:defRPr>
            </a:pPr>
            <a:r>
              <a:t>function ModelSettingsForm({ onSave }) {</a:t>
            </a:r>
          </a:p>
          <a:p>
            <a:pPr>
              <a:defRPr sz="880">
                <a:solidFill>
                  <a:srgbClr val="38BDF8"/>
                </a:solidFill>
                <a:latin typeface="Consolas" panose="020B0609020204030204"/>
              </a:defRPr>
            </a:pPr>
            <a:r>
              <a:t>  const [config, setConfig] = useState({</a:t>
            </a:r>
          </a:p>
          <a:p>
            <a:pPr>
              <a:defRPr sz="880">
                <a:solidFill>
                  <a:srgbClr val="E2E8F0"/>
                </a:solidFill>
                <a:latin typeface="Consolas" panose="020B0609020204030204"/>
              </a:defRPr>
            </a:pPr>
            <a:r>
              <a:t>    model: 'gemini-1.5-pro',</a:t>
            </a:r>
          </a:p>
          <a:p>
            <a:pPr>
              <a:defRPr sz="880">
                <a:solidFill>
                  <a:srgbClr val="E2E8F0"/>
                </a:solidFill>
                <a:latin typeface="Consolas" panose="020B0609020204030204"/>
              </a:defRPr>
            </a:pPr>
            <a:r>
              <a:t>    temperature: 0.7,</a:t>
            </a:r>
          </a:p>
          <a:p>
            <a:pPr>
              <a:defRPr sz="880">
                <a:solidFill>
                  <a:srgbClr val="E2E8F0"/>
                </a:solidFill>
                <a:latin typeface="Consolas" panose="020B0609020204030204"/>
              </a:defRPr>
            </a:pPr>
            <a:r>
              <a:t>    systemPrompt: 'You are an enterprise AI compliance auditor.'</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const handleChange = (field, value) =&gt; {</a:t>
            </a:r>
          </a:p>
          <a:p>
            <a:pPr>
              <a:defRPr sz="880">
                <a:solidFill>
                  <a:srgbClr val="E2E8F0"/>
                </a:solidFill>
                <a:latin typeface="Consolas" panose="020B0609020204030204"/>
              </a:defRPr>
            </a:pPr>
            <a:r>
              <a:t>    setConfig(prev =&gt; ({ ...prev, [field]: value }));</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&lt;form onSubmit={(e) =&gt; { e.preventDefault(); onSave(config); }}&gt;</a:t>
            </a:r>
          </a:p>
          <a:p>
            <a:pPr>
              <a:defRPr sz="880">
                <a:solidFill>
                  <a:srgbClr val="E2E8F0"/>
                </a:solidFill>
                <a:latin typeface="Consolas" panose="020B0609020204030204"/>
              </a:defRPr>
            </a:pPr>
            <a:r>
              <a:t>      &lt;select </a:t>
            </a:r>
          </a:p>
          <a:p>
            <a:pPr>
              <a:defRPr sz="880">
                <a:solidFill>
                  <a:srgbClr val="E2E8F0"/>
                </a:solidFill>
                <a:latin typeface="Consolas" panose="020B0609020204030204"/>
              </a:defRPr>
            </a:pPr>
            <a:r>
              <a:t>        value={config.model} </a:t>
            </a:r>
          </a:p>
          <a:p>
            <a:pPr>
              <a:defRPr sz="880">
                <a:solidFill>
                  <a:srgbClr val="E2E8F0"/>
                </a:solidFill>
                <a:latin typeface="Consolas" panose="020B0609020204030204"/>
              </a:defRPr>
            </a:pPr>
            <a:r>
              <a:t>        onChange={(e) =&gt; handleChange('model', e.target.value)}</a:t>
            </a:r>
          </a:p>
          <a:p>
            <a:pPr>
              <a:defRPr sz="880">
                <a:solidFill>
                  <a:srgbClr val="E2E8F0"/>
                </a:solidFill>
                <a:latin typeface="Consolas" panose="020B0609020204030204"/>
              </a:defRPr>
            </a:pPr>
            <a:r>
              <a:t>      &gt;</a:t>
            </a:r>
          </a:p>
          <a:p>
            <a:pPr>
              <a:defRPr sz="880">
                <a:solidFill>
                  <a:srgbClr val="E2E8F0"/>
                </a:solidFill>
                <a:latin typeface="Consolas" panose="020B0609020204030204"/>
              </a:defRPr>
            </a:pPr>
            <a:r>
              <a:t>        &lt;option value="gemini-1.5-pro"&gt;Gemini 1.5 Pro&lt;/option&gt;</a:t>
            </a:r>
          </a:p>
          <a:p>
            <a:pPr>
              <a:defRPr sz="880">
                <a:solidFill>
                  <a:srgbClr val="E2E8F0"/>
                </a:solidFill>
                <a:latin typeface="Consolas" panose="020B0609020204030204"/>
              </a:defRPr>
            </a:pPr>
            <a:r>
              <a:t>        &lt;option value="gpt-4o"&gt;GPT-4o&lt;/option&gt;</a:t>
            </a:r>
          </a:p>
          <a:p>
            <a:pPr>
              <a:defRPr sz="880">
                <a:solidFill>
                  <a:srgbClr val="E2E8F0"/>
                </a:solidFill>
                <a:latin typeface="Consolas" panose="020B0609020204030204"/>
              </a:defRPr>
            </a:pPr>
            <a:r>
              <a:t>      &lt;/select&gt;</a:t>
            </a:r>
          </a:p>
          <a:p>
            <a:pPr>
              <a:defRPr sz="880">
                <a:solidFill>
                  <a:srgbClr val="E2E8F0"/>
                </a:solidFill>
                <a:latin typeface="Consolas" panose="020B0609020204030204"/>
              </a:defRPr>
            </a:pPr>
          </a:p>
          <a:p>
            <a:pPr>
              <a:defRPr sz="880">
                <a:solidFill>
                  <a:srgbClr val="E2E8F0"/>
                </a:solidFill>
                <a:latin typeface="Consolas" panose="020B0609020204030204"/>
              </a:defRPr>
            </a:pPr>
            <a:r>
              <a:t>      &lt;textarea </a:t>
            </a:r>
          </a:p>
          <a:p>
            <a:pPr>
              <a:defRPr sz="880">
                <a:solidFill>
                  <a:srgbClr val="E2E8F0"/>
                </a:solidFill>
                <a:latin typeface="Consolas" panose="020B0609020204030204"/>
              </a:defRPr>
            </a:pPr>
            <a:r>
              <a:t>        value={config.systemPrompt}</a:t>
            </a:r>
          </a:p>
          <a:p>
            <a:pPr>
              <a:defRPr sz="880">
                <a:solidFill>
                  <a:srgbClr val="E2E8F0"/>
                </a:solidFill>
                <a:latin typeface="Consolas" panose="020B0609020204030204"/>
              </a:defRPr>
            </a:pPr>
            <a:r>
              <a:t>        onChange={(e) =&gt; handleChange('systemPrompt', e.target.value)}</a:t>
            </a:r>
          </a:p>
          <a:p>
            <a:pPr>
              <a:defRPr sz="880">
                <a:solidFill>
                  <a:srgbClr val="E2E8F0"/>
                </a:solidFill>
                <a:latin typeface="Consolas" panose="020B0609020204030204"/>
              </a:defRPr>
            </a:pPr>
            <a:r>
              <a:t>      /&gt;</a:t>
            </a:r>
          </a:p>
          <a:p>
            <a:pPr>
              <a:defRPr sz="880">
                <a:solidFill>
                  <a:srgbClr val="E2E8F0"/>
                </a:solidFill>
                <a:latin typeface="Consolas" panose="020B0609020204030204"/>
              </a:defRPr>
            </a:pPr>
            <a:r>
              <a:t>    &lt;/form&gt;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5.20 · LIFECYCLE &amp; EFFECTS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Component Lifecycle &amp; the useEffect Hook</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React components go through a simple lifecycle: they are born (mounted), they change (updated), and they die (unmounted). The useEffect hook is your tool to run code at these exact moments.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23 of 35</a:t>
            </a:r>
          </a:p>
        </p:txBody>
      </p:sp>
      <p:sp>
        <p:nvSpPr>
          <p:cNvPr id="8" name="Rounded Rectangle 7"/>
          <p:cNvSpPr/>
          <p:nvPr/>
        </p:nvSpPr>
        <p:spPr>
          <a:xfrm>
            <a:off x="731520" y="1645920"/>
            <a:ext cx="3383280" cy="3108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20"/>
            <a:ext cx="2926080" cy="2651760"/>
          </a:xfrm>
          <a:prstGeom prst="rect">
            <a:avLst/>
          </a:prstGeom>
          <a:noFill/>
        </p:spPr>
        <p:txBody>
          <a:bodyPr wrap="square" lIns="0" tIns="0" rIns="0" bIns="0">
            <a:spAutoFit/>
          </a:bodyPr>
          <a:lstStyle/>
          <a:p>
            <a:pPr>
              <a:spcAft>
                <a:spcPts val="1000"/>
              </a:spcAft>
              <a:defRPr sz="1600" b="1">
                <a:solidFill>
                  <a:srgbClr val="0B5C9E"/>
                </a:solidFill>
                <a:latin typeface="Segoe UI" panose="020B0502040204020203"/>
              </a:defRPr>
            </a:pPr>
            <a:r>
              <a:t>01. Mount</a:t>
            </a:r>
          </a:p>
          <a:p>
            <a:pPr>
              <a:defRPr sz="1050">
                <a:solidFill>
                  <a:srgbClr val="334155"/>
                </a:solidFill>
                <a:latin typeface="Segoe UI" panose="020B0502040204020203"/>
              </a:defRPr>
            </a:pPr>
            <a:r>
              <a:t>The component is added to the screen. Your effect runs for the first time. Perfect for initializing API connections, fetching user history, or setting up WebSocket listeners.</a:t>
            </a:r>
          </a:p>
        </p:txBody>
      </p:sp>
      <p:sp>
        <p:nvSpPr>
          <p:cNvPr id="10" name="Rounded Rectangle 9"/>
          <p:cNvSpPr/>
          <p:nvPr/>
        </p:nvSpPr>
        <p:spPr>
          <a:xfrm>
            <a:off x="4398264" y="1645920"/>
            <a:ext cx="3383280" cy="3108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1874520"/>
            <a:ext cx="2926080" cy="2651760"/>
          </a:xfrm>
          <a:prstGeom prst="rect">
            <a:avLst/>
          </a:prstGeom>
          <a:noFill/>
        </p:spPr>
        <p:txBody>
          <a:bodyPr wrap="square" lIns="0" tIns="0" rIns="0" bIns="0">
            <a:spAutoFit/>
          </a:bodyPr>
          <a:lstStyle/>
          <a:p>
            <a:pPr>
              <a:spcAft>
                <a:spcPts val="1000"/>
              </a:spcAft>
              <a:defRPr sz="1600" b="1">
                <a:solidFill>
                  <a:srgbClr val="0B5C9E"/>
                </a:solidFill>
                <a:latin typeface="Segoe UI" panose="020B0502040204020203"/>
              </a:defRPr>
            </a:pPr>
            <a:r>
              <a:t>02. Update</a:t>
            </a:r>
          </a:p>
          <a:p>
            <a:pPr>
              <a:defRPr sz="1050">
                <a:solidFill>
                  <a:srgbClr val="334155"/>
                </a:solidFill>
                <a:latin typeface="Segoe UI" panose="020B0502040204020203"/>
              </a:defRPr>
            </a:pPr>
            <a:r>
              <a:t>The component's data (state or props) changes. Your effect can run again if any dependencies in the dependency array have changed.</a:t>
            </a:r>
          </a:p>
        </p:txBody>
      </p:sp>
      <p:sp>
        <p:nvSpPr>
          <p:cNvPr id="12" name="Rounded Rectangle 11"/>
          <p:cNvSpPr/>
          <p:nvPr/>
        </p:nvSpPr>
        <p:spPr>
          <a:xfrm>
            <a:off x="8065008" y="1645920"/>
            <a:ext cx="3383280" cy="3108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874520"/>
            <a:ext cx="2926080" cy="2651760"/>
          </a:xfrm>
          <a:prstGeom prst="rect">
            <a:avLst/>
          </a:prstGeom>
          <a:noFill/>
        </p:spPr>
        <p:txBody>
          <a:bodyPr wrap="square" lIns="0" tIns="0" rIns="0" bIns="0">
            <a:spAutoFit/>
          </a:bodyPr>
          <a:lstStyle/>
          <a:p>
            <a:pPr>
              <a:spcAft>
                <a:spcPts val="1000"/>
              </a:spcAft>
              <a:defRPr sz="1600" b="1">
                <a:solidFill>
                  <a:srgbClr val="0B5C9E"/>
                </a:solidFill>
                <a:latin typeface="Segoe UI" panose="020B0502040204020203"/>
              </a:defRPr>
            </a:pPr>
            <a:r>
              <a:t>03. Unmount</a:t>
            </a:r>
          </a:p>
          <a:p>
            <a:pPr>
              <a:defRPr sz="1050">
                <a:solidFill>
                  <a:srgbClr val="334155"/>
                </a:solidFill>
                <a:latin typeface="Segoe UI" panose="020B0502040204020203"/>
              </a:defRPr>
            </a:pPr>
            <a:r>
              <a:t>The component is removed from the screen. A cleanup function runs first to cancel active token streams, clear timers, and prevent memory leaks.</a:t>
            </a:r>
          </a:p>
        </p:txBody>
      </p:sp>
      <p:sp>
        <p:nvSpPr>
          <p:cNvPr id="14" name="Rounded Rectangle 13"/>
          <p:cNvSpPr/>
          <p:nvPr/>
        </p:nvSpPr>
        <p:spPr>
          <a:xfrm>
            <a:off x="731520" y="5120640"/>
            <a:ext cx="10728655" cy="1005840"/>
          </a:xfrm>
          <a:prstGeom prst="roundRect">
            <a:avLst/>
          </a:prstGeom>
          <a:solidFill>
            <a:srgbClr val="F0F9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66360"/>
            <a:ext cx="10362895" cy="914400"/>
          </a:xfrm>
          <a:prstGeom prst="rect">
            <a:avLst/>
          </a:prstGeom>
          <a:noFill/>
        </p:spPr>
        <p:txBody>
          <a:bodyPr wrap="square" anchor="ctr">
            <a:spAutoFit/>
          </a:bodyPr>
          <a:lstStyle/>
          <a:p>
            <a:pPr algn="ctr">
              <a:defRPr sz="1050" b="1">
                <a:solidFill>
                  <a:srgbClr val="0B5C9E"/>
                </a:solidFill>
                <a:latin typeface="Segoe UI" panose="020B0502040204020203"/>
              </a:defRPr>
            </a:pPr>
            <a:r>
              <a:t>A "side effect" is any work outside of rendering—like fetching data, setting timers, or updating the DOM. useEffect is where this work belongs.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5.21 · HOOK INVARIANTS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Hooks Deep Dive: The Two Golden Rules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React Hooks have two strict rules. If you break them, your app will have bugs that are very hard to find.</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24 of 35</a:t>
            </a:r>
          </a:p>
        </p:txBody>
      </p:sp>
      <p:sp>
        <p:nvSpPr>
          <p:cNvPr id="8" name="Rounded Rectangle 7"/>
          <p:cNvSpPr/>
          <p:nvPr/>
        </p:nvSpPr>
        <p:spPr>
          <a:xfrm>
            <a:off x="731520" y="1554480"/>
            <a:ext cx="51206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1371600"/>
          </a:xfrm>
          <a:prstGeom prst="rect">
            <a:avLst/>
          </a:prstGeom>
          <a:noFill/>
        </p:spPr>
        <p:txBody>
          <a:bodyPr wrap="square" lIns="0" tIns="0" rIns="0" bIns="0">
            <a:spAutoFit/>
          </a:bodyPr>
          <a:lstStyle/>
          <a:p>
            <a:pPr>
              <a:spcAft>
                <a:spcPts val="400"/>
              </a:spcAft>
              <a:defRPr sz="1300" b="1">
                <a:solidFill>
                  <a:srgbClr val="0B5C9E"/>
                </a:solidFill>
                <a:latin typeface="Segoe UI" panose="020B0502040204020203"/>
              </a:defRPr>
            </a:pPr>
            <a:r>
              <a:t>Rule 1: Only Call Hooks at the Top Level</a:t>
            </a:r>
          </a:p>
          <a:p>
            <a:pPr>
              <a:defRPr sz="950">
                <a:solidFill>
                  <a:srgbClr val="334155"/>
                </a:solidFill>
                <a:latin typeface="Segoe UI" panose="020B0502040204020203"/>
              </a:defRPr>
            </a:pPr>
            <a:r>
              <a:t>Do not call Hooks inside loops, conditions, or nested functions. This ensures React can track state correctly across renders based on stable call order.</a:t>
            </a:r>
          </a:p>
        </p:txBody>
      </p:sp>
      <p:sp>
        <p:nvSpPr>
          <p:cNvPr id="10" name="Rounded Rectangle 9"/>
          <p:cNvSpPr/>
          <p:nvPr/>
        </p:nvSpPr>
        <p:spPr>
          <a:xfrm>
            <a:off x="914400" y="3017520"/>
            <a:ext cx="4754880" cy="292608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318211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61872" y="318211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08176" y="318211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27632" y="3108960"/>
            <a:ext cx="3931920" cy="228600"/>
          </a:xfrm>
          <a:prstGeom prst="rect">
            <a:avLst/>
          </a:prstGeom>
          <a:noFill/>
        </p:spPr>
        <p:txBody>
          <a:bodyPr wrap="none" lIns="0" tIns="0" rIns="0" bIns="0">
            <a:spAutoFit/>
          </a:bodyPr>
          <a:lstStyle/>
          <a:p>
            <a:pPr>
              <a:defRPr sz="900" b="1">
                <a:solidFill>
                  <a:srgbClr val="94A3B8"/>
                </a:solidFill>
                <a:latin typeface="Consolas" panose="020B0609020204030204"/>
              </a:defRPr>
            </a:pPr>
            <a:r>
              <a:t>Top-Level Hook Invariant</a:t>
            </a:r>
          </a:p>
        </p:txBody>
      </p:sp>
      <p:sp>
        <p:nvSpPr>
          <p:cNvPr id="15" name="TextBox 14"/>
          <p:cNvSpPr txBox="1"/>
          <p:nvPr/>
        </p:nvSpPr>
        <p:spPr>
          <a:xfrm>
            <a:off x="1143000" y="3401568"/>
            <a:ext cx="4297680" cy="2468880"/>
          </a:xfrm>
          <a:prstGeom prst="rect">
            <a:avLst/>
          </a:prstGeom>
          <a:noFill/>
        </p:spPr>
        <p:txBody>
          <a:bodyPr wrap="square" lIns="0" tIns="0" rIns="0" bIns="0">
            <a:spAutoFit/>
          </a:bodyPr>
          <a:lstStyle/>
          <a:p>
            <a:pPr>
              <a:defRPr sz="880" b="1">
                <a:solidFill>
                  <a:srgbClr val="F87171"/>
                </a:solidFill>
                <a:latin typeface="Consolas" panose="020B0609020204030204"/>
              </a:defRPr>
            </a:pPr>
            <a:r>
              <a:t>// ❌ WRONG - Inside condition</a:t>
            </a:r>
          </a:p>
          <a:p>
            <a:pPr>
              <a:defRPr sz="880">
                <a:solidFill>
                  <a:srgbClr val="38BDF8"/>
                </a:solidFill>
                <a:latin typeface="Consolas" panose="020B0609020204030204"/>
              </a:defRPr>
            </a:pPr>
            <a:r>
              <a:t>if (userIsLoggedIn) {</a:t>
            </a:r>
          </a:p>
          <a:p>
            <a:pPr>
              <a:defRPr sz="880">
                <a:solidFill>
                  <a:srgbClr val="38BDF8"/>
                </a:solidFill>
                <a:latin typeface="Consolas" panose="020B0609020204030204"/>
              </a:defRPr>
            </a:pPr>
            <a:r>
              <a:t>  const [data, setData] = useState(null);</a:t>
            </a:r>
          </a:p>
          <a:p>
            <a:pPr>
              <a:defRPr sz="880">
                <a:solidFill>
                  <a:srgbClr val="E2E8F0"/>
                </a:solidFill>
                <a:latin typeface="Consolas" panose="020B0609020204030204"/>
              </a:defRPr>
            </a:pPr>
            <a:r>
              <a:t>}</a:t>
            </a:r>
          </a:p>
          <a:p>
            <a:pPr>
              <a:defRPr sz="880">
                <a:solidFill>
                  <a:srgbClr val="E2E8F0"/>
                </a:solidFill>
                <a:latin typeface="Consolas" panose="020B0609020204030204"/>
              </a:defRPr>
            </a:pPr>
          </a:p>
          <a:p>
            <a:pPr>
              <a:defRPr sz="880" b="1">
                <a:solidFill>
                  <a:srgbClr val="4ADE80"/>
                </a:solidFill>
                <a:latin typeface="Consolas" panose="020B0609020204030204"/>
              </a:defRPr>
            </a:pPr>
            <a:r>
              <a:t>// ✅ CORRECT - Top level</a:t>
            </a:r>
          </a:p>
          <a:p>
            <a:pPr>
              <a:defRPr sz="880">
                <a:solidFill>
                  <a:srgbClr val="38BDF8"/>
                </a:solidFill>
                <a:latin typeface="Consolas" panose="020B0609020204030204"/>
              </a:defRPr>
            </a:pPr>
            <a:r>
              <a:t>function MyComponent() {</a:t>
            </a:r>
          </a:p>
          <a:p>
            <a:pPr>
              <a:defRPr sz="880">
                <a:solidFill>
                  <a:srgbClr val="38BDF8"/>
                </a:solidFill>
                <a:latin typeface="Consolas" panose="020B0609020204030204"/>
              </a:defRPr>
            </a:pPr>
            <a:r>
              <a:t>  const [data, setData] = useState(null);</a:t>
            </a:r>
          </a:p>
          <a:p>
            <a:pPr>
              <a:defRPr sz="880">
                <a:solidFill>
                  <a:srgbClr val="38BDF8"/>
                </a:solidFill>
                <a:latin typeface="Consolas" panose="020B0609020204030204"/>
              </a:defRPr>
            </a:pPr>
            <a:r>
              <a:t>  if (userIsLoggedIn) {</a:t>
            </a:r>
          </a:p>
          <a:p>
            <a:pPr>
              <a:defRPr sz="880">
                <a:solidFill>
                  <a:srgbClr val="94A3B8"/>
                </a:solidFill>
                <a:latin typeface="Consolas" panose="020B0609020204030204"/>
              </a:defRPr>
            </a:pPr>
            <a:r>
              <a:t>    // use state here</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
        <p:nvSpPr>
          <p:cNvPr id="16" name="Rounded Rectangle 15"/>
          <p:cNvSpPr/>
          <p:nvPr/>
        </p:nvSpPr>
        <p:spPr>
          <a:xfrm>
            <a:off x="6217920" y="1554480"/>
            <a:ext cx="5242255"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691640"/>
            <a:ext cx="466344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Rule 2: Only Call Hooks from React Functions</a:t>
            </a:r>
          </a:p>
          <a:p>
            <a:pPr>
              <a:spcAft>
                <a:spcPts val="600"/>
              </a:spcAft>
              <a:defRPr sz="1000" b="1">
                <a:solidFill>
                  <a:srgbClr val="0F172A"/>
                </a:solidFill>
                <a:latin typeface="Segoe UI" panose="020B0502040204020203"/>
              </a:defRPr>
            </a:pPr>
            <a:r>
              <a:t>Hooks must only be called from:</a:t>
            </a:r>
          </a:p>
          <a:p>
            <a:pPr>
              <a:spcAft>
                <a:spcPts val="600"/>
              </a:spcAft>
            </a:pPr>
            <a:r>
              <a:rPr sz="980" b="1">
                <a:solidFill>
                  <a:srgbClr val="0B5C9E"/>
                </a:solidFill>
                <a:latin typeface="Segoe UI" panose="020B0502040204020203"/>
              </a:rPr>
              <a:t>• React functional components: </a:t>
            </a:r>
            <a:r>
              <a:rPr sz="950">
                <a:solidFill>
                  <a:srgbClr val="334155"/>
                </a:solidFill>
                <a:latin typeface="Segoe UI" panose="020B0502040204020203"/>
              </a:rPr>
              <a:t>Building UI building blocks.</a:t>
            </a:r>
            <a:endParaRPr sz="950">
              <a:solidFill>
                <a:srgbClr val="334155"/>
              </a:solidFill>
              <a:latin typeface="Segoe UI" panose="020B0502040204020203"/>
            </a:endParaRPr>
          </a:p>
          <a:p>
            <a:pPr>
              <a:spcAft>
                <a:spcPts val="600"/>
              </a:spcAft>
            </a:pPr>
            <a:r>
              <a:rPr sz="980" b="1">
                <a:solidFill>
                  <a:srgbClr val="0B5C9E"/>
                </a:solidFill>
                <a:latin typeface="Segoe UI" panose="020B0502040204020203"/>
              </a:rPr>
              <a:t>• Custom Hooks: </a:t>
            </a:r>
            <a:r>
              <a:rPr sz="950">
                <a:solidFill>
                  <a:srgbClr val="334155"/>
                </a:solidFill>
                <a:latin typeface="Segoe UI" panose="020B0502040204020203"/>
              </a:rPr>
              <a:t>Extracting reusable logic (e.g., useStreamingChat, useLocalStorage).</a:t>
            </a:r>
            <a:endParaRPr sz="950">
              <a:solidFill>
                <a:srgbClr val="334155"/>
              </a:solidFill>
              <a:latin typeface="Segoe UI" panose="020B0502040204020203"/>
            </a:endParaRPr>
          </a:p>
          <a:p>
            <a:pPr>
              <a:spcBef>
                <a:spcPts val="1400"/>
              </a:spcBef>
              <a:spcAft>
                <a:spcPts val="1000"/>
              </a:spcAft>
              <a:defRPr sz="1050" b="1">
                <a:solidFill>
                  <a:srgbClr val="DC2626"/>
                </a:solidFill>
                <a:latin typeface="Segoe UI" panose="020B0502040204020203"/>
              </a:defRPr>
            </a:pPr>
            <a:r>
              <a:t>Don't call Hooks from regular JS functions, event handlers, or class components.</a:t>
            </a:r>
          </a:p>
          <a:p>
            <a:pPr>
              <a:defRPr sz="920">
                <a:solidFill>
                  <a:srgbClr val="64748B"/>
                </a:solidFill>
                <a:latin typeface="Segoe UI" panose="020B0502040204020203"/>
              </a:defRPr>
            </a:pPr>
            <a:r>
              <a:t>Why does React care? Under the hood, React does not track Hooks by variable name! It tracks them in an internal linked-list array by the exact sequential order they are called. If a condition skips a Hook, all subsequent Hook pointers become corrupt!</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5.22 · EFFECT LIFECYCLE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useEffect Dependency Array &amp; SSE Stream Cleanup</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The dependency array controls when an effect executes; the cleanup function prevents fatal memory leaks.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25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The 3 Dependency Array Modes</a:t>
            </a:r>
          </a:p>
          <a:p>
            <a:pPr>
              <a:spcAft>
                <a:spcPts val="800"/>
              </a:spcAft>
            </a:pPr>
            <a:r>
              <a:rPr sz="950" b="1">
                <a:solidFill>
                  <a:srgbClr val="7C3AED"/>
                </a:solidFill>
                <a:latin typeface="Segoe UI" panose="020B0502040204020203"/>
              </a:rPr>
              <a:t>1. No Dependency Array
</a:t>
            </a:r>
            <a:r>
              <a:rPr sz="900">
                <a:solidFill>
                  <a:srgbClr val="334155"/>
                </a:solidFill>
                <a:latin typeface="Segoe UI" panose="020B0502040204020203"/>
              </a:rPr>
              <a:t>useEffect(() =&gt; { ... })
Runs after EVERY single render. Danger: Updating state inside will trigger an infinite re-render loop!</a:t>
            </a:r>
            <a:endParaRPr sz="900">
              <a:solidFill>
                <a:srgbClr val="334155"/>
              </a:solidFill>
              <a:latin typeface="Segoe UI" panose="020B0502040204020203"/>
            </a:endParaRPr>
          </a:p>
          <a:p>
            <a:pPr>
              <a:spcAft>
                <a:spcPts val="800"/>
              </a:spcAft>
            </a:pPr>
            <a:r>
              <a:rPr sz="950" b="1">
                <a:solidFill>
                  <a:srgbClr val="7C3AED"/>
                </a:solidFill>
                <a:latin typeface="Segoe UI" panose="020B0502040204020203"/>
              </a:rPr>
              <a:t>2. Empty Array [] (Mount Only)
</a:t>
            </a:r>
            <a:r>
              <a:rPr sz="900">
                <a:solidFill>
                  <a:srgbClr val="334155"/>
                </a:solidFill>
                <a:latin typeface="Segoe UI" panose="020B0502040204020203"/>
              </a:rPr>
              <a:t>useEffect(() =&gt; { ... }, [])
Runs exactly ONCE when the component first mounts. Perfect for initial session history fetch or dark mode preference check.</a:t>
            </a:r>
            <a:endParaRPr sz="900">
              <a:solidFill>
                <a:srgbClr val="334155"/>
              </a:solidFill>
              <a:latin typeface="Segoe UI" panose="020B0502040204020203"/>
            </a:endParaRPr>
          </a:p>
          <a:p>
            <a:pPr>
              <a:spcAft>
                <a:spcPts val="800"/>
              </a:spcAft>
            </a:pPr>
            <a:r>
              <a:rPr sz="950" b="1">
                <a:solidFill>
                  <a:srgbClr val="7C3AED"/>
                </a:solidFill>
                <a:latin typeface="Segoe UI" panose="020B0502040204020203"/>
              </a:rPr>
              <a:t>3. Targeted Dependencies [model, temp]
</a:t>
            </a:r>
            <a:r>
              <a:rPr sz="900">
                <a:solidFill>
                  <a:srgbClr val="334155"/>
                </a:solidFill>
                <a:latin typeface="Segoe UI" panose="020B0502040204020203"/>
              </a:rPr>
              <a:t>useEffect(() =&gt; { ... }, [model])
Runs on mount AND whenever the specified values change. Perfect for refetching available token limits when the user switches models.</a:t>
            </a:r>
            <a:endParaRPr sz="90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StreamCleanup.jsx (AbortController Pattern)</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a:solidFill>
                  <a:srgbClr val="94A3B8"/>
                </a:solidFill>
                <a:latin typeface="Consolas" panose="020B0609020204030204"/>
              </a:defRPr>
            </a:pPr>
            <a:r>
              <a:t>// Production SSE Effect with AbortController Cleanup</a:t>
            </a:r>
          </a:p>
          <a:p>
            <a:pPr>
              <a:defRPr sz="880">
                <a:solidFill>
                  <a:srgbClr val="A78BFA"/>
                </a:solidFill>
                <a:latin typeface="Consolas" panose="020B0609020204030204"/>
              </a:defRPr>
            </a:pPr>
            <a:r>
              <a:t>useEffect(() =&gt; {</a:t>
            </a:r>
          </a:p>
          <a:p>
            <a:pPr>
              <a:defRPr sz="880">
                <a:solidFill>
                  <a:srgbClr val="38BDF8"/>
                </a:solidFill>
                <a:latin typeface="Consolas" panose="020B0609020204030204"/>
              </a:defRPr>
            </a:pPr>
            <a:r>
              <a:t>  const controller = new AbortController();</a:t>
            </a:r>
          </a:p>
          <a:p>
            <a:pPr>
              <a:defRPr sz="880">
                <a:solidFill>
                  <a:srgbClr val="E2E8F0"/>
                </a:solidFill>
                <a:latin typeface="Consolas" panose="020B0609020204030204"/>
              </a:defRPr>
            </a:pPr>
          </a:p>
          <a:p>
            <a:pPr>
              <a:defRPr sz="880">
                <a:solidFill>
                  <a:srgbClr val="38BDF8"/>
                </a:solidFill>
                <a:latin typeface="Consolas" panose="020B0609020204030204"/>
              </a:defRPr>
            </a:pPr>
            <a:r>
              <a:t>  async function fetchStream() {</a:t>
            </a:r>
          </a:p>
          <a:p>
            <a:pPr>
              <a:defRPr sz="880">
                <a:solidFill>
                  <a:srgbClr val="E2E8F0"/>
                </a:solidFill>
                <a:latin typeface="Consolas" panose="020B0609020204030204"/>
              </a:defRPr>
            </a:pPr>
            <a:r>
              <a:t>    try {</a:t>
            </a:r>
          </a:p>
          <a:p>
            <a:pPr>
              <a:defRPr sz="880">
                <a:solidFill>
                  <a:srgbClr val="38BDF8"/>
                </a:solidFill>
                <a:latin typeface="Consolas" panose="020B0609020204030204"/>
              </a:defRPr>
            </a:pPr>
            <a:r>
              <a:t>      const res = await fetch('/api/chat', {</a:t>
            </a:r>
          </a:p>
          <a:p>
            <a:pPr>
              <a:defRPr sz="880">
                <a:solidFill>
                  <a:srgbClr val="E2E8F0"/>
                </a:solidFill>
                <a:latin typeface="Consolas" panose="020B0609020204030204"/>
              </a:defRPr>
            </a:pPr>
            <a:r>
              <a:t>        signal: controller.signal // Bound to abort signal</a:t>
            </a:r>
          </a:p>
          <a:p>
            <a:pPr>
              <a:defRPr sz="880">
                <a:solidFill>
                  <a:srgbClr val="E2E8F0"/>
                </a:solidFill>
                <a:latin typeface="Consolas" panose="020B0609020204030204"/>
              </a:defRPr>
            </a:pPr>
            <a:r>
              <a:t>      });</a:t>
            </a:r>
          </a:p>
          <a:p>
            <a:pPr>
              <a:defRPr sz="880">
                <a:solidFill>
                  <a:srgbClr val="94A3B8"/>
                </a:solidFill>
                <a:latin typeface="Consolas" panose="020B0609020204030204"/>
              </a:defRPr>
            </a:pPr>
            <a:r>
              <a:t>      // ... process streaming reader</a:t>
            </a:r>
          </a:p>
          <a:p>
            <a:pPr>
              <a:defRPr sz="880">
                <a:solidFill>
                  <a:srgbClr val="E2E8F0"/>
                </a:solidFill>
                <a:latin typeface="Consolas" panose="020B0609020204030204"/>
              </a:defRPr>
            </a:pPr>
            <a:r>
              <a:t>    } catch (err) {</a:t>
            </a:r>
          </a:p>
          <a:p>
            <a:pPr>
              <a:defRPr sz="880">
                <a:solidFill>
                  <a:srgbClr val="38BDF8"/>
                </a:solidFill>
                <a:latin typeface="Consolas" panose="020B0609020204030204"/>
              </a:defRPr>
            </a:pPr>
            <a:r>
              <a:t>      if (err.name === 'AbortError') {</a:t>
            </a:r>
          </a:p>
          <a:p>
            <a:pPr>
              <a:defRPr sz="880">
                <a:solidFill>
                  <a:srgbClr val="E2E8F0"/>
                </a:solidFill>
                <a:latin typeface="Consolas" panose="020B0609020204030204"/>
              </a:defRPr>
            </a:pPr>
            <a:r>
              <a:t>        console.log('Stream aborted cleanly!');</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E2E8F0"/>
                </a:solidFill>
                <a:latin typeface="Consolas" panose="020B0609020204030204"/>
              </a:defRPr>
            </a:pPr>
            <a:r>
              <a:t>  fetchStream();</a:t>
            </a:r>
          </a:p>
          <a:p>
            <a:pPr>
              <a:defRPr sz="880">
                <a:solidFill>
                  <a:srgbClr val="E2E8F0"/>
                </a:solidFill>
                <a:latin typeface="Consolas" panose="020B0609020204030204"/>
              </a:defRPr>
            </a:pPr>
          </a:p>
          <a:p>
            <a:pPr>
              <a:defRPr sz="880">
                <a:solidFill>
                  <a:srgbClr val="94A3B8"/>
                </a:solidFill>
                <a:latin typeface="Consolas" panose="020B0609020204030204"/>
              </a:defRPr>
            </a:pPr>
            <a:r>
              <a:t>  // ⚡ CLEANUP FUNCTION: Runs on unmount or before re-run</a:t>
            </a:r>
          </a:p>
          <a:p>
            <a:pPr>
              <a:defRPr sz="880">
                <a:solidFill>
                  <a:srgbClr val="38BDF8"/>
                </a:solidFill>
                <a:latin typeface="Consolas" panose="020B0609020204030204"/>
              </a:defRPr>
            </a:pPr>
            <a:r>
              <a:t>  return () =&gt; {</a:t>
            </a:r>
          </a:p>
          <a:p>
            <a:pPr>
              <a:defRPr sz="880">
                <a:solidFill>
                  <a:srgbClr val="E2E8F0"/>
                </a:solidFill>
                <a:latin typeface="Consolas" panose="020B0609020204030204"/>
              </a:defRPr>
            </a:pPr>
            <a:r>
              <a:t>    controller.abort(); // Immediately cancel in-flight HTTP request!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 [sessionId]);</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Canceling the Delivery Truck with AbortController. When the diner walks out, immediately cancel the delivery truck or waste $500 in seafood API tokens!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5.23 · CONTEXT API</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useContext: Eliminating Prop Drilling</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Prop drilling is when you pass data through many components that do not need it. The Context API fixes this by sharing values directly with any component that needs them.</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26 of 35</a:t>
            </a:r>
          </a:p>
        </p:txBody>
      </p:sp>
      <p:sp>
        <p:nvSpPr>
          <p:cNvPr id="8" name="Rounded Rectangle 7"/>
          <p:cNvSpPr/>
          <p:nvPr/>
        </p:nvSpPr>
        <p:spPr>
          <a:xfrm>
            <a:off x="731520" y="1554480"/>
            <a:ext cx="512064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1000"/>
              </a:spcAft>
              <a:defRPr sz="1300" b="1">
                <a:solidFill>
                  <a:srgbClr val="0B5C9E"/>
                </a:solidFill>
                <a:latin typeface="Segoe UI" panose="020B0502040204020203"/>
              </a:defRPr>
            </a:pPr>
            <a:r>
              <a:t>The Three-Step Pattern</a:t>
            </a:r>
          </a:p>
          <a:p>
            <a:pPr>
              <a:spcAft>
                <a:spcPts val="800"/>
              </a:spcAft>
            </a:pPr>
            <a:r>
              <a:rPr sz="950" b="1">
                <a:solidFill>
                  <a:srgbClr val="0B5C9E"/>
                </a:solidFill>
                <a:latin typeface="Segoe UI" panose="020B0502040204020203"/>
              </a:rPr>
              <a:t>1. Create Context: </a:t>
            </a:r>
            <a:r>
              <a:rPr sz="900">
                <a:solidFill>
                  <a:srgbClr val="334155"/>
                </a:solidFill>
                <a:latin typeface="Segoe UI" panose="020B0502040204020203"/>
              </a:rPr>
              <a:t>Define the shared context object outside the component tree using React.createContext().</a:t>
            </a:r>
            <a:endParaRPr sz="900">
              <a:solidFill>
                <a:srgbClr val="334155"/>
              </a:solidFill>
              <a:latin typeface="Segoe UI" panose="020B0502040204020203"/>
            </a:endParaRPr>
          </a:p>
          <a:p>
            <a:pPr>
              <a:spcAft>
                <a:spcPts val="800"/>
              </a:spcAft>
            </a:pPr>
            <a:r>
              <a:rPr sz="950" b="1">
                <a:solidFill>
                  <a:srgbClr val="0B5C9E"/>
                </a:solidFill>
                <a:latin typeface="Segoe UI" panose="020B0502040204020203"/>
              </a:rPr>
              <a:t>2. Provide Value: </a:t>
            </a:r>
            <a:r>
              <a:rPr sz="900">
                <a:solidFill>
                  <a:srgbClr val="334155"/>
                </a:solidFill>
                <a:latin typeface="Segoe UI" panose="020B0502040204020203"/>
              </a:rPr>
              <a:t>Wrap the parent component tree in &lt;Context.Provider value={...}&gt; to broadcast the data to all descendants.</a:t>
            </a:r>
            <a:endParaRPr sz="900">
              <a:solidFill>
                <a:srgbClr val="334155"/>
              </a:solidFill>
              <a:latin typeface="Segoe UI" panose="020B0502040204020203"/>
            </a:endParaRPr>
          </a:p>
          <a:p>
            <a:pPr>
              <a:spcAft>
                <a:spcPts val="800"/>
              </a:spcAft>
            </a:pPr>
            <a:r>
              <a:rPr sz="950" b="1">
                <a:solidFill>
                  <a:srgbClr val="0B5C9E"/>
                </a:solidFill>
                <a:latin typeface="Segoe UI" panose="020B0502040204020203"/>
              </a:rPr>
              <a:t>3. Use Context: </a:t>
            </a:r>
            <a:r>
              <a:rPr sz="900">
                <a:solidFill>
                  <a:srgbClr val="334155"/>
                </a:solidFill>
                <a:latin typeface="Segoe UI" panose="020B0502040204020203"/>
              </a:rPr>
              <a:t>Call const data = useContext(Context) to grab shared data directly inside any child component at any depth.</a:t>
            </a:r>
            <a:endParaRPr sz="90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ContextApi.jsx (3-Step Pattern)</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a:solidFill>
                  <a:srgbClr val="94A3B8"/>
                </a:solidFill>
                <a:latin typeface="Consolas" panose="020B0609020204030204"/>
              </a:defRPr>
            </a:pPr>
            <a:r>
              <a:t>// 1. Create Context</a:t>
            </a:r>
          </a:p>
          <a:p>
            <a:pPr>
              <a:defRPr sz="880">
                <a:solidFill>
                  <a:srgbClr val="38BDF8"/>
                </a:solidFill>
                <a:latin typeface="Consolas" panose="020B0609020204030204"/>
              </a:defRPr>
            </a:pPr>
            <a:r>
              <a:t>const ModelConfigContext = React.createContext(null);</a:t>
            </a:r>
          </a:p>
          <a:p>
            <a:pPr>
              <a:defRPr sz="880">
                <a:solidFill>
                  <a:srgbClr val="E2E8F0"/>
                </a:solidFill>
                <a:latin typeface="Consolas" panose="020B0609020204030204"/>
              </a:defRPr>
            </a:pPr>
          </a:p>
          <a:p>
            <a:pPr>
              <a:defRPr sz="880">
                <a:solidFill>
                  <a:srgbClr val="94A3B8"/>
                </a:solidFill>
                <a:latin typeface="Consolas" panose="020B0609020204030204"/>
              </a:defRPr>
            </a:pPr>
            <a:r>
              <a:t>// 2. Provide Value</a:t>
            </a:r>
          </a:p>
          <a:p>
            <a:pPr>
              <a:defRPr sz="880">
                <a:solidFill>
                  <a:srgbClr val="38BDF8"/>
                </a:solidFill>
                <a:latin typeface="Consolas" panose="020B0609020204030204"/>
              </a:defRPr>
            </a:pPr>
            <a:r>
              <a:t>function App() {</a:t>
            </a:r>
          </a:p>
          <a:p>
            <a:pPr>
              <a:defRPr sz="880">
                <a:solidFill>
                  <a:srgbClr val="38BDF8"/>
                </a:solidFill>
                <a:latin typeface="Consolas" panose="020B0609020204030204"/>
              </a:defRPr>
            </a:pPr>
            <a:r>
              <a:t>  const [config, setConfig] = useState({ model: 'gpt-4o', temp: 0.7 });</a:t>
            </a: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&lt;ModelConfigContext.Provider value={{ config, setConfig }}&gt;</a:t>
            </a:r>
          </a:p>
          <a:p>
            <a:pPr>
              <a:defRPr sz="880">
                <a:solidFill>
                  <a:srgbClr val="E2E8F0"/>
                </a:solidFill>
                <a:latin typeface="Consolas" panose="020B0609020204030204"/>
              </a:defRPr>
            </a:pPr>
            <a:r>
              <a:t>      &lt;DashboardHeader /&gt;</a:t>
            </a:r>
          </a:p>
          <a:p>
            <a:pPr>
              <a:defRPr sz="880">
                <a:solidFill>
                  <a:srgbClr val="E2E8F0"/>
                </a:solidFill>
                <a:latin typeface="Consolas" panose="020B0609020204030204"/>
              </a:defRPr>
            </a:pPr>
            <a:r>
              <a:t>      &lt;MainChatViewport /&gt;</a:t>
            </a:r>
          </a:p>
          <a:p>
            <a:pPr>
              <a:defRPr sz="880">
                <a:solidFill>
                  <a:srgbClr val="E2E8F0"/>
                </a:solidFill>
                <a:latin typeface="Consolas" panose="020B0609020204030204"/>
              </a:defRPr>
            </a:pPr>
            <a:r>
              <a:t>    &lt;/ModelConfigContext.Provider&gt;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a:p>
            <a:pPr>
              <a:defRPr sz="880">
                <a:solidFill>
                  <a:srgbClr val="E2E8F0"/>
                </a:solidFill>
                <a:latin typeface="Consolas" panose="020B0609020204030204"/>
              </a:defRPr>
            </a:pPr>
          </a:p>
          <a:p>
            <a:pPr>
              <a:defRPr sz="880">
                <a:solidFill>
                  <a:srgbClr val="94A3B8"/>
                </a:solidFill>
                <a:latin typeface="Consolas" panose="020B0609020204030204"/>
              </a:defRPr>
            </a:pPr>
            <a:r>
              <a:t>// 3. Use Context (Zero prop drilling!)</a:t>
            </a:r>
          </a:p>
          <a:p>
            <a:pPr>
              <a:defRPr sz="880">
                <a:solidFill>
                  <a:srgbClr val="38BDF8"/>
                </a:solidFill>
                <a:latin typeface="Consolas" panose="020B0609020204030204"/>
              </a:defRPr>
            </a:pPr>
            <a:r>
              <a:t>function DeepChildPromptInput() {</a:t>
            </a:r>
          </a:p>
          <a:p>
            <a:pPr>
              <a:defRPr sz="880">
                <a:solidFill>
                  <a:srgbClr val="38BDF8"/>
                </a:solidFill>
                <a:latin typeface="Consolas" panose="020B0609020204030204"/>
              </a:defRPr>
            </a:pPr>
            <a:r>
              <a:t>  const { config } = useContext(ModelConfigContext);</a:t>
            </a:r>
          </a:p>
          <a:p>
            <a:pPr>
              <a:defRPr sz="880">
                <a:solidFill>
                  <a:srgbClr val="38BDF8"/>
                </a:solidFill>
                <a:latin typeface="Consolas" panose="020B0609020204030204"/>
              </a:defRPr>
            </a:pPr>
            <a:r>
              <a:t>  return &lt;span&gt;Generating with: {config.model}&lt;/span&gt;;</a:t>
            </a:r>
          </a:p>
          <a:p>
            <a:pPr>
              <a:defRPr sz="880">
                <a:solidFill>
                  <a:srgbClr val="E2E8F0"/>
                </a:solidFill>
                <a:latin typeface="Consolas" panose="020B0609020204030204"/>
              </a:defRPr>
            </a:pPr>
            <a:r>
              <a:t>}</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The Central Open Spice Rack. Eliminates passing the salt shaker through 8 waiters. Any component reaches into useAgentConfig() directly.</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5.24 · REF MECHANICS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useRef: Direct DOM Access &amp; Non-Rendering State</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useRef provides a persistent reference that survives re-renders WITHOUT triggering a re-render when changed.</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27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The Two Dual Powers of useRef</a:t>
            </a:r>
          </a:p>
          <a:p>
            <a:pPr>
              <a:spcAft>
                <a:spcPts val="800"/>
              </a:spcAft>
            </a:pPr>
            <a:r>
              <a:rPr sz="950" b="1">
                <a:solidFill>
                  <a:srgbClr val="0F172A"/>
                </a:solidFill>
                <a:latin typeface="Segoe UI" panose="020B0502040204020203"/>
              </a:rPr>
              <a:t>• Power 1: Direct DOM Manipulation:
  </a:t>
            </a:r>
            <a:r>
              <a:rPr sz="920">
                <a:solidFill>
                  <a:srgbClr val="334155"/>
                </a:solidFill>
                <a:latin typeface="Segoe UI" panose="020B0502040204020203"/>
              </a:rPr>
              <a:t>Attaching to real DOM elements to trigger imperative browser actions: focusing an input on load, measuring element heights, or smooth auto-scrolling.</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Auto-Scrolling AI Chat Windows:
  </a:t>
            </a:r>
            <a:r>
              <a:rPr sz="920">
                <a:solidFill>
                  <a:srgbClr val="334155"/>
                </a:solidFill>
                <a:latin typeface="Segoe UI" panose="020B0502040204020203"/>
              </a:rPr>
              <a:t>The gold standard in AI interfaces: Placing a dummy &lt;div ref={bottomRef} /&gt; at the end of the chat, and calling bottomRef.current?.scrollIntoView({ behavior: 'smooth' }) whenever messages update.</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Power 2: Silent Mutable Storage:
  </a:t>
            </a:r>
            <a:r>
              <a:rPr sz="920">
                <a:solidFill>
                  <a:srgbClr val="334155"/>
                </a:solidFill>
                <a:latin typeface="Segoe UI" panose="020B0502040204020203"/>
              </a:rPr>
              <a:t>Storing interval IDs, WebSocket pointers, or previous token counts. Mutating ref.current = val does NOT trigger a component re-render.</a:t>
            </a:r>
            <a:endParaRPr sz="92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AutoScrollChat.jsx (useRef in AI Chat)</a:t>
            </a:r>
          </a:p>
        </p:txBody>
      </p:sp>
      <p:sp>
        <p:nvSpPr>
          <p:cNvPr id="15" name="TextBox 14"/>
          <p:cNvSpPr txBox="1"/>
          <p:nvPr/>
        </p:nvSpPr>
        <p:spPr>
          <a:xfrm>
            <a:off x="6446520" y="1938528"/>
            <a:ext cx="4785055" cy="3474720"/>
          </a:xfrm>
          <a:prstGeom prst="rect">
            <a:avLst/>
          </a:prstGeom>
          <a:noFill/>
        </p:spPr>
        <p:txBody>
          <a:bodyPr wrap="square" lIns="0" tIns="0" rIns="0" bIns="0">
            <a:spAutoFit/>
          </a:bodyPr>
          <a:lstStyle/>
          <a:p>
            <a:pPr>
              <a:defRPr sz="880">
                <a:solidFill>
                  <a:srgbClr val="38BDF8"/>
                </a:solidFill>
                <a:latin typeface="Consolas" panose="020B0609020204030204"/>
              </a:defRPr>
            </a:pPr>
            <a:r>
              <a:t>function ChatThread({ messages }) {</a:t>
            </a:r>
          </a:p>
          <a:p>
            <a:pPr>
              <a:defRPr sz="880">
                <a:solidFill>
                  <a:srgbClr val="38BDF8"/>
                </a:solidFill>
                <a:latin typeface="Consolas" panose="020B0609020204030204"/>
              </a:defRPr>
            </a:pPr>
            <a:r>
              <a:t>  const chatBottomRef = useRef(null);</a:t>
            </a:r>
          </a:p>
          <a:p>
            <a:pPr>
              <a:defRPr sz="880">
                <a:solidFill>
                  <a:srgbClr val="38BDF8"/>
                </a:solidFill>
                <a:latin typeface="Consolas" panose="020B0609020204030204"/>
              </a:defRPr>
            </a:pPr>
            <a:r>
              <a:t>  const renderCountRef = useRef(0);</a:t>
            </a:r>
          </a:p>
          <a:p>
            <a:pPr>
              <a:defRPr sz="880">
                <a:solidFill>
                  <a:srgbClr val="E2E8F0"/>
                </a:solidFill>
                <a:latin typeface="Consolas" panose="020B0609020204030204"/>
              </a:defRPr>
            </a:pPr>
          </a:p>
          <a:p>
            <a:pPr>
              <a:defRPr sz="880">
                <a:solidFill>
                  <a:srgbClr val="94A3B8"/>
                </a:solidFill>
                <a:latin typeface="Consolas" panose="020B0609020204030204"/>
              </a:defRPr>
            </a:pPr>
            <a:r>
              <a:t>  // Silent tracking without triggering re-render</a:t>
            </a:r>
          </a:p>
          <a:p>
            <a:pPr>
              <a:defRPr sz="880">
                <a:solidFill>
                  <a:srgbClr val="E2E8F0"/>
                </a:solidFill>
                <a:latin typeface="Consolas" panose="020B0609020204030204"/>
              </a:defRPr>
            </a:pPr>
            <a:r>
              <a:t>  renderCountRef.current += 1;</a:t>
            </a:r>
          </a:p>
          <a:p>
            <a:pPr>
              <a:defRPr sz="880">
                <a:solidFill>
                  <a:srgbClr val="E2E8F0"/>
                </a:solidFill>
                <a:latin typeface="Consolas" panose="020B0609020204030204"/>
              </a:defRPr>
            </a:pPr>
          </a:p>
          <a:p>
            <a:pPr>
              <a:defRPr sz="880">
                <a:solidFill>
                  <a:srgbClr val="A78BFA"/>
                </a:solidFill>
                <a:latin typeface="Consolas" panose="020B0609020204030204"/>
              </a:defRPr>
            </a:pPr>
            <a:r>
              <a:t>  useEffect(() =&gt; {</a:t>
            </a:r>
          </a:p>
          <a:p>
            <a:pPr>
              <a:defRPr sz="880">
                <a:solidFill>
                  <a:srgbClr val="94A3B8"/>
                </a:solidFill>
                <a:latin typeface="Consolas" panose="020B0609020204030204"/>
              </a:defRPr>
            </a:pPr>
            <a:r>
              <a:t>    // Smoothly scroll to bottom whenever messages change</a:t>
            </a:r>
          </a:p>
          <a:p>
            <a:pPr>
              <a:defRPr sz="880">
                <a:solidFill>
                  <a:srgbClr val="E2E8F0"/>
                </a:solidFill>
                <a:latin typeface="Consolas" panose="020B0609020204030204"/>
              </a:defRPr>
            </a:pPr>
            <a:r>
              <a:t>    chatBottomRef.current?.scrollIntoView({ behavior: 'smooth' });</a:t>
            </a:r>
          </a:p>
          <a:p>
            <a:pPr>
              <a:defRPr sz="880">
                <a:solidFill>
                  <a:srgbClr val="E2E8F0"/>
                </a:solidFill>
                <a:latin typeface="Consolas" panose="020B0609020204030204"/>
              </a:defRPr>
            </a:pPr>
            <a:r>
              <a:t>  }, [messages]);</a:t>
            </a:r>
          </a:p>
          <a:p>
            <a:pPr>
              <a:defRPr sz="880">
                <a:solidFill>
                  <a:srgbClr val="E2E8F0"/>
                </a:solidFill>
                <a:latin typeface="Consolas" panose="020B0609020204030204"/>
              </a:defRPr>
            </a:pP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&lt;div className="chat-window"&gt;</a:t>
            </a:r>
          </a:p>
          <a:p>
            <a:pPr>
              <a:defRPr sz="880">
                <a:solidFill>
                  <a:srgbClr val="E2E8F0"/>
                </a:solidFill>
                <a:latin typeface="Consolas" panose="020B0609020204030204"/>
              </a:defRPr>
            </a:pPr>
            <a:r>
              <a:t>      {messages.map(m =&gt; &lt;ChatMessage key={m.id} msg={m} /&gt;)}</a:t>
            </a:r>
          </a:p>
          <a:p>
            <a:pPr>
              <a:defRPr sz="880">
                <a:solidFill>
                  <a:srgbClr val="E2E8F0"/>
                </a:solidFill>
                <a:latin typeface="Consolas" panose="020B0609020204030204"/>
              </a:defRPr>
            </a:pPr>
            <a:r>
              <a:t>      {/* Auto-scroll target element */}</a:t>
            </a:r>
          </a:p>
          <a:p>
            <a:pPr>
              <a:defRPr sz="880">
                <a:solidFill>
                  <a:srgbClr val="E2E8F0"/>
                </a:solidFill>
                <a:latin typeface="Consolas" panose="020B0609020204030204"/>
              </a:defRPr>
            </a:pPr>
            <a:r>
              <a:t>      &lt;div ref={chatBottomRef} /&gt;</a:t>
            </a:r>
          </a:p>
          <a:p>
            <a:pPr>
              <a:defRPr sz="880">
                <a:solidFill>
                  <a:srgbClr val="E2E8F0"/>
                </a:solidFill>
                <a:latin typeface="Consolas" panose="020B0609020204030204"/>
              </a:defRPr>
            </a:pPr>
            <a:r>
              <a:t>    &lt;/div&gt;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
        <p:nvSpPr>
          <p:cNvPr id="16" name="Rounded Rectangle 15"/>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The Chef's Pencil Behind the Ear. Writing a note on the wall does NOT force the kitchen to re-cook dinner. useRef keeps chat scrolled with zero re-renders.</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5.25 · PERFORMANCE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Performance Optimization: useMemo &amp; useCallback in Streams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Prevent costly re-renders when rendering 10,000-token documents or filtering high-dimensional vector chunks.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28 of 35</a:t>
            </a:r>
          </a:p>
        </p:txBody>
      </p:sp>
      <p:sp>
        <p:nvSpPr>
          <p:cNvPr id="8" name="Rounded Rectangle 7"/>
          <p:cNvSpPr/>
          <p:nvPr/>
        </p:nvSpPr>
        <p:spPr>
          <a:xfrm>
            <a:off x="731520" y="1554480"/>
            <a:ext cx="5120640" cy="39319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600"/>
              </a:spcAft>
              <a:defRPr sz="1300" b="1">
                <a:solidFill>
                  <a:srgbClr val="0B5C9E"/>
                </a:solidFill>
                <a:latin typeface="Segoe UI" panose="020B0502040204020203"/>
              </a:defRPr>
            </a:pPr>
            <a:r>
              <a:t>useMemo: Caching Expensive Computations</a:t>
            </a:r>
          </a:p>
          <a:p>
            <a:pPr>
              <a:spcAft>
                <a:spcPts val="600"/>
              </a:spcAft>
            </a:pPr>
            <a:r>
              <a:rPr sz="950" b="1">
                <a:solidFill>
                  <a:srgbClr val="0F172A"/>
                </a:solidFill>
                <a:latin typeface="Segoe UI" panose="020B0502040204020203"/>
              </a:rPr>
              <a:t>Problem: </a:t>
            </a:r>
            <a:r>
              <a:rPr sz="900">
                <a:solidFill>
                  <a:srgbClr val="334155"/>
                </a:solidFill>
                <a:latin typeface="Segoe UI" panose="020B0502040204020203"/>
              </a:rPr>
              <a:t>Recalculating cosine similarity or filtering 500 retrieved chunks on every keystroke in the prompt input causes stuttering.</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Solution: </a:t>
            </a:r>
            <a:r>
              <a:rPr sz="900">
                <a:solidFill>
                  <a:srgbClr val="334155"/>
                </a:solidFill>
                <a:latin typeface="Segoe UI" panose="020B0502040204020203"/>
              </a:rPr>
              <a:t>useMemo caches the calculated result. It ONLY recomputes if the specified dependencies change.</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Syntax: </a:t>
            </a:r>
            <a:r>
              <a:rPr sz="900">
                <a:solidFill>
                  <a:srgbClr val="334155"/>
                </a:solidFill>
                <a:latin typeface="Consolas" panose="020B0609020204030204"/>
              </a:rPr>
              <a:t>const topChunks = useMemo(() =&gt; {
  return chunks.filter(c =&gt; c.score &gt; 0.82);
}, [chunks, threshold]);</a:t>
            </a:r>
            <a:endParaRPr sz="900">
              <a:solidFill>
                <a:srgbClr val="334155"/>
              </a:solidFill>
              <a:latin typeface="Consolas" panose="020B0609020204030204"/>
            </a:endParaRPr>
          </a:p>
        </p:txBody>
      </p:sp>
      <p:sp>
        <p:nvSpPr>
          <p:cNvPr id="10" name="Rounded Rectangle 9"/>
          <p:cNvSpPr/>
          <p:nvPr/>
        </p:nvSpPr>
        <p:spPr>
          <a:xfrm>
            <a:off x="6217920" y="1554480"/>
            <a:ext cx="5242255" cy="393192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3657600"/>
          </a:xfrm>
          <a:prstGeom prst="rect">
            <a:avLst/>
          </a:prstGeom>
          <a:noFill/>
        </p:spPr>
        <p:txBody>
          <a:bodyPr wrap="square" lIns="0" tIns="0" rIns="0" bIns="0">
            <a:spAutoFit/>
          </a:bodyPr>
          <a:lstStyle/>
          <a:p>
            <a:pPr>
              <a:spcAft>
                <a:spcPts val="600"/>
              </a:spcAft>
              <a:defRPr sz="1300" b="1">
                <a:solidFill>
                  <a:srgbClr val="0B5C9E"/>
                </a:solidFill>
                <a:latin typeface="Segoe UI" panose="020B0502040204020203"/>
              </a:defRPr>
            </a:pPr>
            <a:r>
              <a:t>useCallback: Stabilizing Function References</a:t>
            </a:r>
          </a:p>
          <a:p>
            <a:pPr>
              <a:spcAft>
                <a:spcPts val="600"/>
              </a:spcAft>
            </a:pPr>
            <a:r>
              <a:rPr sz="950" b="1">
                <a:solidFill>
                  <a:srgbClr val="0F172A"/>
                </a:solidFill>
                <a:latin typeface="Segoe UI" panose="020B0502040204020203"/>
              </a:rPr>
              <a:t>Problem: </a:t>
            </a:r>
            <a:r>
              <a:rPr sz="900">
                <a:solidFill>
                  <a:srgbClr val="334155"/>
                </a:solidFill>
                <a:latin typeface="Segoe UI" panose="020B0502040204020203"/>
              </a:rPr>
              <a:t>In JavaScript, () =&gt; {} creates a brand new function memory address on every render, causing memoized children (React.memo) to re-render needlessly.</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Solution: </a:t>
            </a:r>
            <a:r>
              <a:rPr sz="900">
                <a:solidFill>
                  <a:srgbClr val="334155"/>
                </a:solidFill>
                <a:latin typeface="Segoe UI" panose="020B0502040204020203"/>
              </a:rPr>
              <a:t>useCallback preserves the exact same function reference between renders.</a:t>
            </a:r>
            <a:endParaRPr sz="900">
              <a:solidFill>
                <a:srgbClr val="334155"/>
              </a:solidFill>
              <a:latin typeface="Segoe UI" panose="020B0502040204020203"/>
            </a:endParaRPr>
          </a:p>
          <a:p>
            <a:pPr>
              <a:spcAft>
                <a:spcPts val="600"/>
              </a:spcAft>
            </a:pPr>
            <a:r>
              <a:rPr sz="950" b="1">
                <a:solidFill>
                  <a:srgbClr val="0F172A"/>
                </a:solidFill>
                <a:latin typeface="Segoe UI" panose="020B0502040204020203"/>
              </a:rPr>
              <a:t>Syntax: </a:t>
            </a:r>
            <a:r>
              <a:rPr sz="900">
                <a:solidFill>
                  <a:srgbClr val="334155"/>
                </a:solidFill>
                <a:latin typeface="Consolas" panose="020B0609020204030204"/>
              </a:rPr>
              <a:t>const handleCopy = useCallback((text) =&gt; {
  navigator.clipboard.writeText(text);
}, []);</a:t>
            </a:r>
            <a:endParaRPr sz="900">
              <a:solidFill>
                <a:srgbClr val="334155"/>
              </a:solidFill>
              <a:latin typeface="Consolas" panose="020B0609020204030204"/>
            </a:endParaRPr>
          </a:p>
        </p:txBody>
      </p:sp>
      <p:sp>
        <p:nvSpPr>
          <p:cNvPr id="12" name="Rounded Rectangle 11"/>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Don't Over-Optimize: Only wrap computations in useMemo when profiling reveals real lag. Premature optimization adds unnecessary memory overhead.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5.26 · STATE ARCHITECTURE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Lifting State Up &amp; Thinking in React</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When two sibling components need access to the same data, lift state up to their closest common parent.</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29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The 5 Steps of 'Thinking in React'</a:t>
            </a:r>
          </a:p>
          <a:p>
            <a:pPr>
              <a:spcAft>
                <a:spcPts val="600"/>
              </a:spcAft>
            </a:pPr>
            <a:r>
              <a:rPr sz="950" b="1">
                <a:solidFill>
                  <a:srgbClr val="0B5C9E"/>
                </a:solidFill>
                <a:latin typeface="Segoe UI" panose="020B0502040204020203"/>
              </a:rPr>
              <a:t>Step 1: Break UI into Component Hierarchy
</a:t>
            </a:r>
            <a:r>
              <a:rPr sz="920">
                <a:solidFill>
                  <a:srgbClr val="334155"/>
                </a:solidFill>
                <a:latin typeface="Segoe UI" panose="020B0502040204020203"/>
              </a:rPr>
              <a:t>Sidebar, MessageList, ChatMessage, PromptComposer, ParameterDrawer.</a:t>
            </a:r>
            <a:endParaRPr sz="920">
              <a:solidFill>
                <a:srgbClr val="334155"/>
              </a:solidFill>
              <a:latin typeface="Segoe UI" panose="020B0502040204020203"/>
            </a:endParaRPr>
          </a:p>
          <a:p>
            <a:pPr>
              <a:spcAft>
                <a:spcPts val="600"/>
              </a:spcAft>
            </a:pPr>
            <a:r>
              <a:rPr sz="950" b="1">
                <a:solidFill>
                  <a:srgbClr val="0B5C9E"/>
                </a:solidFill>
                <a:latin typeface="Segoe UI" panose="020B0502040204020203"/>
              </a:rPr>
              <a:t>Step 2: Build a Static Version in React
</a:t>
            </a:r>
            <a:r>
              <a:rPr sz="920">
                <a:solidFill>
                  <a:srgbClr val="334155"/>
                </a:solidFill>
                <a:latin typeface="Segoe UI" panose="020B0502040204020203"/>
              </a:rPr>
              <a:t>Mock data rendered with JSX and props only. Zero state; zero interactivity.</a:t>
            </a:r>
            <a:endParaRPr sz="920">
              <a:solidFill>
                <a:srgbClr val="334155"/>
              </a:solidFill>
              <a:latin typeface="Segoe UI" panose="020B0502040204020203"/>
            </a:endParaRPr>
          </a:p>
          <a:p>
            <a:pPr>
              <a:spcAft>
                <a:spcPts val="600"/>
              </a:spcAft>
            </a:pPr>
            <a:r>
              <a:rPr sz="950" b="1">
                <a:solidFill>
                  <a:srgbClr val="0B5C9E"/>
                </a:solidFill>
                <a:latin typeface="Segoe UI" panose="020B0502040204020203"/>
              </a:rPr>
              <a:t>Step 3: Find the Minimal State Representation
</a:t>
            </a:r>
            <a:r>
              <a:rPr sz="920">
                <a:solidFill>
                  <a:srgbClr val="334155"/>
                </a:solidFill>
                <a:latin typeface="Segoe UI" panose="020B0502040204020203"/>
              </a:rPr>
              <a:t>Identify what truly changes over time: messages, isStreaming, currentModel.</a:t>
            </a:r>
            <a:endParaRPr sz="920">
              <a:solidFill>
                <a:srgbClr val="334155"/>
              </a:solidFill>
              <a:latin typeface="Segoe UI" panose="020B0502040204020203"/>
            </a:endParaRPr>
          </a:p>
          <a:p>
            <a:pPr>
              <a:spcAft>
                <a:spcPts val="600"/>
              </a:spcAft>
            </a:pPr>
            <a:r>
              <a:rPr sz="950" b="1">
                <a:solidFill>
                  <a:srgbClr val="0B5C9E"/>
                </a:solidFill>
                <a:latin typeface="Segoe UI" panose="020B0502040204020203"/>
              </a:rPr>
              <a:t>Step 4: Identify Who Owns Each Piece of State
</a:t>
            </a:r>
            <a:r>
              <a:rPr sz="920">
                <a:solidFill>
                  <a:srgbClr val="334155"/>
                </a:solidFill>
                <a:latin typeface="Segoe UI" panose="020B0502040204020203"/>
              </a:rPr>
              <a:t>Find the closest common parent that needs the data. That parent owns the state.</a:t>
            </a:r>
            <a:endParaRPr sz="920">
              <a:solidFill>
                <a:srgbClr val="334155"/>
              </a:solidFill>
              <a:latin typeface="Segoe UI" panose="020B0502040204020203"/>
            </a:endParaRPr>
          </a:p>
          <a:p>
            <a:pPr>
              <a:spcAft>
                <a:spcPts val="600"/>
              </a:spcAft>
            </a:pPr>
            <a:r>
              <a:rPr sz="950" b="1">
                <a:solidFill>
                  <a:srgbClr val="0B5C9E"/>
                </a:solidFill>
                <a:latin typeface="Segoe UI" panose="020B0502040204020203"/>
              </a:rPr>
              <a:t>Step 5: Add Inverse Data Flow (Callbacks)
</a:t>
            </a:r>
            <a:r>
              <a:rPr sz="920">
                <a:solidFill>
                  <a:srgbClr val="334155"/>
                </a:solidFill>
                <a:latin typeface="Segoe UI" panose="020B0502040204020203"/>
              </a:rPr>
              <a:t>Pass updater functions (onSendMessage, onModelChange) down as props.</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LiftingStateExample.jsx</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94A3B8"/>
                </a:solidFill>
                <a:latin typeface="Consolas" panose="020B0609020204030204"/>
              </a:defRPr>
            </a:pPr>
            <a:r>
              <a:t>// Closest Common Parent: App Component</a:t>
            </a:r>
          </a:p>
          <a:p>
            <a:pPr>
              <a:defRPr sz="880">
                <a:solidFill>
                  <a:srgbClr val="38BDF8"/>
                </a:solidFill>
                <a:latin typeface="Consolas" panose="020B0609020204030204"/>
              </a:defRPr>
            </a:pPr>
            <a:r>
              <a:t>function AIChatApp() {</a:t>
            </a:r>
          </a:p>
          <a:p>
            <a:pPr>
              <a:defRPr sz="880">
                <a:solidFill>
                  <a:srgbClr val="94A3B8"/>
                </a:solidFill>
                <a:latin typeface="Consolas" panose="020B0609020204030204"/>
              </a:defRPr>
            </a:pPr>
            <a:r>
              <a:t>  // Lifted State: Shared by both MessageList and PromptBar</a:t>
            </a:r>
          </a:p>
          <a:p>
            <a:pPr>
              <a:defRPr sz="880">
                <a:solidFill>
                  <a:srgbClr val="38BDF8"/>
                </a:solidFill>
                <a:latin typeface="Consolas" panose="020B0609020204030204"/>
              </a:defRPr>
            </a:pPr>
            <a:r>
              <a:t>  const [messages, setMessages] = useState([]);</a:t>
            </a:r>
          </a:p>
          <a:p>
            <a:pPr>
              <a:defRPr sz="880">
                <a:solidFill>
                  <a:srgbClr val="38BDF8"/>
                </a:solidFill>
                <a:latin typeface="Consolas" panose="020B0609020204030204"/>
              </a:defRPr>
            </a:pPr>
            <a:r>
              <a:t>  const [isStreaming, setIsStreaming] = useState(false);</a:t>
            </a:r>
          </a:p>
          <a:p>
            <a:pPr>
              <a:defRPr sz="880">
                <a:solidFill>
                  <a:srgbClr val="E2E8F0"/>
                </a:solidFill>
                <a:latin typeface="Consolas" panose="020B0609020204030204"/>
              </a:defRPr>
            </a:pPr>
          </a:p>
          <a:p>
            <a:pPr>
              <a:defRPr sz="880">
                <a:solidFill>
                  <a:srgbClr val="38BDF8"/>
                </a:solidFill>
                <a:latin typeface="Consolas" panose="020B0609020204030204"/>
              </a:defRPr>
            </a:pPr>
            <a:r>
              <a:t>  const handleSend = async (prompt) =&gt; {</a:t>
            </a:r>
          </a:p>
          <a:p>
            <a:pPr>
              <a:defRPr sz="880">
                <a:solidFill>
                  <a:srgbClr val="94A3B8"/>
                </a:solidFill>
                <a:latin typeface="Consolas" panose="020B0609020204030204"/>
              </a:defRPr>
            </a:pPr>
            <a:r>
              <a:t>    // Orchestrate state and streaming updates</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return (</a:t>
            </a:r>
          </a:p>
          <a:p>
            <a:pPr>
              <a:defRPr sz="880">
                <a:solidFill>
                  <a:srgbClr val="E2E8F0"/>
                </a:solidFill>
                <a:latin typeface="Consolas" panose="020B0609020204030204"/>
              </a:defRPr>
            </a:pPr>
            <a:r>
              <a:t>    &lt;div className="app-container"&gt;</a:t>
            </a:r>
          </a:p>
          <a:p>
            <a:pPr>
              <a:defRPr sz="880">
                <a:solidFill>
                  <a:srgbClr val="E2E8F0"/>
                </a:solidFill>
                <a:latin typeface="Consolas" panose="020B0609020204030204"/>
              </a:defRPr>
            </a:pPr>
            <a:r>
              <a:t>      {/* Sibling 1: Displays messages */}</a:t>
            </a:r>
          </a:p>
          <a:p>
            <a:pPr>
              <a:defRPr sz="880">
                <a:solidFill>
                  <a:srgbClr val="E2E8F0"/>
                </a:solidFill>
                <a:latin typeface="Consolas" panose="020B0609020204030204"/>
              </a:defRPr>
            </a:pPr>
            <a:r>
              <a:t>      &lt;MessageList messages={messages} isStreaming={isStreaming} /&gt;</a:t>
            </a:r>
          </a:p>
          <a:p>
            <a:pPr>
              <a:defRPr sz="880">
                <a:solidFill>
                  <a:srgbClr val="E2E8F0"/>
                </a:solidFill>
                <a:latin typeface="Consolas" panose="020B0609020204030204"/>
              </a:defRPr>
            </a:pPr>
          </a:p>
          <a:p>
            <a:pPr>
              <a:defRPr sz="880">
                <a:solidFill>
                  <a:srgbClr val="E2E8F0"/>
                </a:solidFill>
                <a:latin typeface="Consolas" panose="020B0609020204030204"/>
              </a:defRPr>
            </a:pPr>
            <a:r>
              <a:t>      {/* Sibling 2: Dispatches new messages */}</a:t>
            </a:r>
          </a:p>
          <a:p>
            <a:pPr>
              <a:defRPr sz="880">
                <a:solidFill>
                  <a:srgbClr val="E2E8F0"/>
                </a:solidFill>
                <a:latin typeface="Consolas" panose="020B0609020204030204"/>
              </a:defRPr>
            </a:pPr>
            <a:r>
              <a:t>      &lt;PromptBar onSend={handleSend} disabled={isStreaming} /&gt;</a:t>
            </a:r>
          </a:p>
          <a:p>
            <a:pPr>
              <a:defRPr sz="880">
                <a:solidFill>
                  <a:srgbClr val="E2E8F0"/>
                </a:solidFill>
                <a:latin typeface="Consolas" panose="020B0609020204030204"/>
              </a:defRPr>
            </a:pPr>
            <a:r>
              <a:t>    &lt;/div&gt;</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5.27 · PRODUCTION HOOKS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Custom Hook: Building useStreamingChat</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Custom hooks encapsulate complex AI streaming and state management logic into clean, reusable functions.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30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defRPr sz="1300" b="1">
                <a:solidFill>
                  <a:srgbClr val="0B5C9E"/>
                </a:solidFill>
                <a:latin typeface="Segoe UI" panose="020B0502040204020203"/>
              </a:defRPr>
            </a:pPr>
            <a:r>
              <a:t>Why Build a Custom useStreamingChat Hook?</a:t>
            </a:r>
          </a:p>
          <a:p>
            <a:pPr>
              <a:spcAft>
                <a:spcPts val="800"/>
              </a:spcAft>
            </a:pPr>
            <a:r>
              <a:rPr sz="950" b="1">
                <a:solidFill>
                  <a:srgbClr val="0F172A"/>
                </a:solidFill>
                <a:latin typeface="Segoe UI" panose="020B0502040204020203"/>
              </a:rPr>
              <a:t>• Encapsulation of Complexity: </a:t>
            </a:r>
            <a:r>
              <a:rPr sz="920">
                <a:solidFill>
                  <a:srgbClr val="334155"/>
                </a:solidFill>
                <a:latin typeface="Segoe UI" panose="020B0502040204020203"/>
              </a:rPr>
              <a:t>Hides fetch(), TextDecoder, reader loops, and AbortControllers away from your presentation UI components.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Reusability Across Pages: </a:t>
            </a:r>
            <a:r>
              <a:rPr sz="920">
                <a:solidFill>
                  <a:srgbClr val="334155"/>
                </a:solidFill>
                <a:latin typeface="Segoe UI" panose="020B0502040204020203"/>
              </a:rPr>
              <a:t>Use the exact same chat streaming logic in your Main Chatbot, Sidebar Copilot, and Admin Evaluation view.</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Clean Public API: </a:t>
            </a:r>
            <a:r>
              <a:rPr sz="920">
                <a:solidFill>
                  <a:srgbClr val="334155"/>
                </a:solidFill>
                <a:latin typeface="Segoe UI" panose="020B0502040204020203"/>
              </a:rPr>
              <a:t>The component consumes only clean abstractions: const { messages, isStreaming, sendMessage, stopStream } = useStreamingChat();</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Automated Token Concatenation: </a:t>
            </a:r>
            <a:r>
              <a:rPr sz="920">
                <a:solidFill>
                  <a:srgbClr val="334155"/>
                </a:solidFill>
                <a:latin typeface="Segoe UI" panose="020B0502040204020203"/>
              </a:rPr>
              <a:t>Handles streaming chunk assembly and state updates safely under high concurrency.</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19088" y="1719072"/>
            <a:ext cx="82296" cy="8229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65392" y="1719072"/>
            <a:ext cx="82296" cy="822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1719072"/>
            <a:ext cx="82296" cy="8229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645920"/>
            <a:ext cx="4419295" cy="228600"/>
          </a:xfrm>
          <a:prstGeom prst="rect">
            <a:avLst/>
          </a:prstGeom>
          <a:noFill/>
        </p:spPr>
        <p:txBody>
          <a:bodyPr wrap="none" lIns="0" tIns="0" rIns="0" bIns="0">
            <a:spAutoFit/>
          </a:bodyPr>
          <a:lstStyle/>
          <a:p>
            <a:pPr>
              <a:defRPr sz="900" b="1">
                <a:solidFill>
                  <a:srgbClr val="94A3B8"/>
                </a:solidFill>
                <a:latin typeface="Consolas" panose="020B0609020204030204"/>
              </a:defRPr>
            </a:pPr>
            <a:r>
              <a:t>useStreamingChat.js (Production Custom Hook)</a:t>
            </a:r>
          </a:p>
        </p:txBody>
      </p:sp>
      <p:sp>
        <p:nvSpPr>
          <p:cNvPr id="15" name="TextBox 14"/>
          <p:cNvSpPr txBox="1"/>
          <p:nvPr/>
        </p:nvSpPr>
        <p:spPr>
          <a:xfrm>
            <a:off x="6446520" y="1938528"/>
            <a:ext cx="4785055" cy="4114800"/>
          </a:xfrm>
          <a:prstGeom prst="rect">
            <a:avLst/>
          </a:prstGeom>
          <a:noFill/>
        </p:spPr>
        <p:txBody>
          <a:bodyPr wrap="square" lIns="0" tIns="0" rIns="0" bIns="0">
            <a:spAutoFit/>
          </a:bodyPr>
          <a:lstStyle/>
          <a:p>
            <a:pPr>
              <a:defRPr sz="880">
                <a:solidFill>
                  <a:srgbClr val="38BDF8"/>
                </a:solidFill>
                <a:latin typeface="Consolas" panose="020B0609020204030204"/>
              </a:defRPr>
            </a:pPr>
            <a:r>
              <a:t>function useStreamingChat(apiEndpoint = '/api/chat/stream') {</a:t>
            </a:r>
          </a:p>
          <a:p>
            <a:pPr>
              <a:defRPr sz="880">
                <a:solidFill>
                  <a:srgbClr val="38BDF8"/>
                </a:solidFill>
                <a:latin typeface="Consolas" panose="020B0609020204030204"/>
              </a:defRPr>
            </a:pPr>
            <a:r>
              <a:t>  const [messages, setMessages] = useState([]);</a:t>
            </a:r>
          </a:p>
          <a:p>
            <a:pPr>
              <a:defRPr sz="880">
                <a:solidFill>
                  <a:srgbClr val="38BDF8"/>
                </a:solidFill>
                <a:latin typeface="Consolas" panose="020B0609020204030204"/>
              </a:defRPr>
            </a:pPr>
            <a:r>
              <a:t>  const [isStreaming, setIsStreaming] = useState(false);</a:t>
            </a:r>
          </a:p>
          <a:p>
            <a:pPr>
              <a:defRPr sz="880">
                <a:solidFill>
                  <a:srgbClr val="38BDF8"/>
                </a:solidFill>
                <a:latin typeface="Consolas" panose="020B0609020204030204"/>
              </a:defRPr>
            </a:pPr>
            <a:r>
              <a:t>  const abortRef = useRef(null);</a:t>
            </a:r>
          </a:p>
          <a:p>
            <a:pPr>
              <a:defRPr sz="880">
                <a:solidFill>
                  <a:srgbClr val="E2E8F0"/>
                </a:solidFill>
                <a:latin typeface="Consolas" panose="020B0609020204030204"/>
              </a:defRPr>
            </a:pPr>
          </a:p>
          <a:p>
            <a:pPr>
              <a:defRPr sz="880">
                <a:solidFill>
                  <a:srgbClr val="38BDF8"/>
                </a:solidFill>
                <a:latin typeface="Consolas" panose="020B0609020204030204"/>
              </a:defRPr>
            </a:pPr>
            <a:r>
              <a:t>  const sendMessage = async (prompt) =&gt; {</a:t>
            </a:r>
          </a:p>
          <a:p>
            <a:pPr>
              <a:defRPr sz="880">
                <a:solidFill>
                  <a:srgbClr val="38BDF8"/>
                </a:solidFill>
                <a:latin typeface="Consolas" panose="020B0609020204030204"/>
              </a:defRPr>
            </a:pPr>
            <a:r>
              <a:t>    const userMsg = { id: crypto.randomUUID(), role: 'user', text: prompt };</a:t>
            </a:r>
          </a:p>
          <a:p>
            <a:pPr>
              <a:defRPr sz="880">
                <a:solidFill>
                  <a:srgbClr val="38BDF8"/>
                </a:solidFill>
                <a:latin typeface="Consolas" panose="020B0609020204030204"/>
              </a:defRPr>
            </a:pPr>
            <a:r>
              <a:t>    const assistantId = crypto.randomUUID();</a:t>
            </a:r>
          </a:p>
          <a:p>
            <a:pPr>
              <a:defRPr sz="880">
                <a:solidFill>
                  <a:srgbClr val="E2E8F0"/>
                </a:solidFill>
                <a:latin typeface="Consolas" panose="020B0609020204030204"/>
              </a:defRPr>
            </a:pPr>
            <a:r>
              <a:t>    setMessages(prev =&gt; [...prev, userMsg, { id: assistantId, role: 'assistant', text: '' }]);</a:t>
            </a:r>
          </a:p>
          <a:p>
            <a:pPr>
              <a:defRPr sz="880">
                <a:solidFill>
                  <a:srgbClr val="E2E8F0"/>
                </a:solidFill>
                <a:latin typeface="Consolas" panose="020B0609020204030204"/>
              </a:defRPr>
            </a:pPr>
            <a:r>
              <a:t>    setIsStreaming(true);</a:t>
            </a:r>
          </a:p>
          <a:p>
            <a:pPr>
              <a:defRPr sz="880">
                <a:solidFill>
                  <a:srgbClr val="E2E8F0"/>
                </a:solidFill>
                <a:latin typeface="Consolas" panose="020B0609020204030204"/>
              </a:defRPr>
            </a:pPr>
          </a:p>
          <a:p>
            <a:pPr>
              <a:defRPr sz="880">
                <a:solidFill>
                  <a:srgbClr val="E2E8F0"/>
                </a:solidFill>
                <a:latin typeface="Consolas" panose="020B0609020204030204"/>
              </a:defRPr>
            </a:pPr>
            <a:r>
              <a:t>    abortRef.current = new AbortController();</a:t>
            </a:r>
          </a:p>
          <a:p>
            <a:pPr>
              <a:defRPr sz="880">
                <a:solidFill>
                  <a:srgbClr val="38BDF8"/>
                </a:solidFill>
                <a:latin typeface="Consolas" panose="020B0609020204030204"/>
              </a:defRPr>
            </a:pPr>
            <a:r>
              <a:t>    const res = await fetch(apiEndpoint, {</a:t>
            </a:r>
          </a:p>
          <a:p>
            <a:pPr>
              <a:defRPr sz="880">
                <a:solidFill>
                  <a:srgbClr val="E2E8F0"/>
                </a:solidFill>
                <a:latin typeface="Consolas" panose="020B0609020204030204"/>
              </a:defRPr>
            </a:pPr>
            <a:r>
              <a:t>      method: 'POST', body: JSON.stringify({ prompt }),</a:t>
            </a:r>
          </a:p>
          <a:p>
            <a:pPr>
              <a:defRPr sz="880">
                <a:solidFill>
                  <a:srgbClr val="E2E8F0"/>
                </a:solidFill>
                <a:latin typeface="Consolas" panose="020B0609020204030204"/>
              </a:defRPr>
            </a:pPr>
            <a:r>
              <a:t>      signal: abortRef.current.signal</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const reader = res.body.getReader();</a:t>
            </a:r>
          </a:p>
          <a:p>
            <a:pPr>
              <a:defRPr sz="880">
                <a:solidFill>
                  <a:srgbClr val="38BDF8"/>
                </a:solidFill>
                <a:latin typeface="Consolas" panose="020B0609020204030204"/>
              </a:defRPr>
            </a:pPr>
            <a:r>
              <a:t>    const decoder = new TextDecoder();</a:t>
            </a:r>
          </a:p>
          <a:p>
            <a:pPr>
              <a:defRPr sz="880">
                <a:solidFill>
                  <a:srgbClr val="E2E8F0"/>
                </a:solidFill>
                <a:latin typeface="Consolas" panose="020B0609020204030204"/>
              </a:defRPr>
            </a:pPr>
            <a:r>
              <a:t>    while (true) {</a:t>
            </a:r>
          </a:p>
          <a:p>
            <a:pPr>
              <a:defRPr sz="880">
                <a:solidFill>
                  <a:srgbClr val="38BDF8"/>
                </a:solidFill>
                <a:latin typeface="Consolas" panose="020B0609020204030204"/>
              </a:defRPr>
            </a:pPr>
            <a:r>
              <a:t>      const { done, value } = await reader.read();</a:t>
            </a:r>
          </a:p>
          <a:p>
            <a:pPr>
              <a:defRPr sz="880">
                <a:solidFill>
                  <a:srgbClr val="38BDF8"/>
                </a:solidFill>
                <a:latin typeface="Consolas" panose="020B0609020204030204"/>
              </a:defRPr>
            </a:pPr>
            <a:r>
              <a:t>      if (done) break;</a:t>
            </a:r>
          </a:p>
          <a:p>
            <a:pPr>
              <a:defRPr sz="880">
                <a:solidFill>
                  <a:srgbClr val="38BDF8"/>
                </a:solidFill>
                <a:latin typeface="Consolas" panose="020B0609020204030204"/>
              </a:defRPr>
            </a:pPr>
            <a:r>
              <a:t>      const chunk = decoder.decode(value);</a:t>
            </a:r>
          </a:p>
          <a:p>
            <a:pPr>
              <a:defRPr sz="880">
                <a:solidFill>
                  <a:srgbClr val="E2E8F0"/>
                </a:solidFill>
                <a:latin typeface="Consolas" panose="020B0609020204030204"/>
              </a:defRPr>
            </a:pPr>
            <a:r>
              <a:t>      setMessages(prev =&gt; prev.map(m =&gt; m.id === assistantId ? { ...m, text: m.text + chunk } : m));</a:t>
            </a:r>
          </a:p>
          <a:p>
            <a:pPr>
              <a:defRPr sz="880">
                <a:solidFill>
                  <a:srgbClr val="E2E8F0"/>
                </a:solidFill>
                <a:latin typeface="Consolas" panose="020B0609020204030204"/>
              </a:defRPr>
            </a:pPr>
            <a:r>
              <a:t>    }</a:t>
            </a:r>
          </a:p>
          <a:p>
            <a:pPr>
              <a:defRPr sz="880">
                <a:solidFill>
                  <a:srgbClr val="E2E8F0"/>
                </a:solidFill>
                <a:latin typeface="Consolas" panose="020B0609020204030204"/>
              </a:defRPr>
            </a:pPr>
            <a:r>
              <a:t>    setIsStreaming(false);</a:t>
            </a:r>
          </a:p>
          <a:p>
            <a:pPr>
              <a:defRPr sz="880">
                <a:solidFill>
                  <a:srgbClr val="E2E8F0"/>
                </a:solidFill>
                <a:latin typeface="Consolas" panose="020B0609020204030204"/>
              </a:defRPr>
            </a:pPr>
            <a:r>
              <a:t>  };</a:t>
            </a:r>
          </a:p>
          <a:p>
            <a:pPr>
              <a:defRPr sz="880">
                <a:solidFill>
                  <a:srgbClr val="E2E8F0"/>
                </a:solidFill>
                <a:latin typeface="Consolas" panose="020B0609020204030204"/>
              </a:defRPr>
            </a:pPr>
          </a:p>
          <a:p>
            <a:pPr>
              <a:defRPr sz="880">
                <a:solidFill>
                  <a:srgbClr val="38BDF8"/>
                </a:solidFill>
                <a:latin typeface="Consolas" panose="020B0609020204030204"/>
              </a:defRPr>
            </a:pPr>
            <a:r>
              <a:t>  const stop = () =&gt; abortRef.current?.abort();</a:t>
            </a:r>
          </a:p>
          <a:p>
            <a:pPr>
              <a:defRPr sz="880">
                <a:solidFill>
                  <a:srgbClr val="38BDF8"/>
                </a:solidFill>
                <a:latin typeface="Consolas" panose="020B0609020204030204"/>
              </a:defRPr>
            </a:pPr>
            <a:r>
              <a:t>  return { messages, isStreaming, sendMessage, stop };</a:t>
            </a:r>
          </a:p>
          <a:p>
            <a:pPr>
              <a:defRPr sz="880">
                <a:solidFill>
                  <a:srgbClr val="E2E8F0"/>
                </a:solidFill>
                <a:latin typeface="Consolas" panose="020B0609020204030204"/>
              </a:defRPr>
            </a:pPr>
            <a:r>
              <a: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5.28 · UTILITIES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Custom Hooks: useDebounce &amp; useLocalStorage</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Debouncing vector semantic searches saves API costs; local storage persistence preserves user API keys.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31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4297680"/>
          </a:xfrm>
          <a:prstGeom prst="rect">
            <a:avLst/>
          </a:prstGeom>
          <a:noFill/>
        </p:spPr>
        <p:txBody>
          <a:bodyPr wrap="square" lIns="0" tIns="0" rIns="0" bIns="0">
            <a:spAutoFit/>
          </a:bodyPr>
          <a:lstStyle/>
          <a:p>
            <a:pPr>
              <a:spcAft>
                <a:spcPts val="400"/>
              </a:spcAft>
              <a:defRPr sz="1200" b="1">
                <a:solidFill>
                  <a:srgbClr val="0B5C9E"/>
                </a:solidFill>
                <a:latin typeface="Segoe UI" panose="020B0502040204020203"/>
              </a:defRPr>
            </a:pPr>
            <a:r>
              <a:t>1. useDebounce: Vector Search Throttling</a:t>
            </a:r>
          </a:p>
          <a:p>
            <a:pPr>
              <a:defRPr sz="850">
                <a:solidFill>
                  <a:srgbClr val="94A3B8"/>
                </a:solidFill>
                <a:latin typeface="Consolas" panose="020B0609020204030204"/>
              </a:defRPr>
            </a:pPr>
            <a:r>
              <a:t>// Waits until user stops typing for 400ms before querying vector DB</a:t>
            </a:r>
          </a:p>
          <a:p>
            <a:pPr>
              <a:defRPr sz="850">
                <a:solidFill>
                  <a:srgbClr val="38BDF8"/>
                </a:solidFill>
                <a:latin typeface="Consolas" panose="020B0609020204030204"/>
              </a:defRPr>
            </a:pPr>
            <a:r>
              <a:t>function useDebounce(value, delay = 400) {</a:t>
            </a:r>
          </a:p>
          <a:p>
            <a:pPr>
              <a:defRPr sz="850">
                <a:solidFill>
                  <a:srgbClr val="0F172A"/>
                </a:solidFill>
                <a:latin typeface="Consolas" panose="020B0609020204030204"/>
              </a:defRPr>
            </a:pPr>
            <a:r>
              <a:t>  const [debouncedValue, setDebouncedValue] = useState(value);</a:t>
            </a:r>
          </a:p>
          <a:p>
            <a:pPr>
              <a:defRPr sz="850">
                <a:solidFill>
                  <a:srgbClr val="0F172A"/>
                </a:solidFill>
                <a:latin typeface="Consolas" panose="020B0609020204030204"/>
              </a:defRPr>
            </a:pPr>
          </a:p>
          <a:p>
            <a:pPr>
              <a:defRPr sz="850">
                <a:solidFill>
                  <a:srgbClr val="0F172A"/>
                </a:solidFill>
                <a:latin typeface="Consolas" panose="020B0609020204030204"/>
              </a:defRPr>
            </a:pPr>
            <a:r>
              <a:t>  useEffect(() =&gt; {</a:t>
            </a:r>
          </a:p>
          <a:p>
            <a:pPr>
              <a:defRPr sz="850">
                <a:solidFill>
                  <a:srgbClr val="0F172A"/>
                </a:solidFill>
                <a:latin typeface="Consolas" panose="020B0609020204030204"/>
              </a:defRPr>
            </a:pPr>
            <a:r>
              <a:t>    const timer = setTimeout(() =&gt; {</a:t>
            </a:r>
          </a:p>
          <a:p>
            <a:pPr>
              <a:defRPr sz="850">
                <a:solidFill>
                  <a:srgbClr val="0F172A"/>
                </a:solidFill>
                <a:latin typeface="Consolas" panose="020B0609020204030204"/>
              </a:defRPr>
            </a:pPr>
            <a:r>
              <a:t>      setDebouncedValue(value);</a:t>
            </a:r>
          </a:p>
          <a:p>
            <a:pPr>
              <a:defRPr sz="850">
                <a:solidFill>
                  <a:srgbClr val="0F172A"/>
                </a:solidFill>
                <a:latin typeface="Consolas" panose="020B0609020204030204"/>
              </a:defRPr>
            </a:pPr>
            <a:r>
              <a:t>    }, delay);</a:t>
            </a:r>
          </a:p>
          <a:p>
            <a:pPr>
              <a:defRPr sz="850">
                <a:solidFill>
                  <a:srgbClr val="0F172A"/>
                </a:solidFill>
                <a:latin typeface="Consolas" panose="020B0609020204030204"/>
              </a:defRPr>
            </a:pPr>
          </a:p>
          <a:p>
            <a:pPr>
              <a:defRPr sz="850">
                <a:solidFill>
                  <a:srgbClr val="38BDF8"/>
                </a:solidFill>
                <a:latin typeface="Consolas" panose="020B0609020204030204"/>
              </a:defRPr>
            </a:pPr>
            <a:r>
              <a:t>    return () =&gt; clearTimeout(timer); // Cancel on new keystroke!</a:t>
            </a:r>
          </a:p>
          <a:p>
            <a:pPr>
              <a:defRPr sz="850">
                <a:solidFill>
                  <a:srgbClr val="0F172A"/>
                </a:solidFill>
                <a:latin typeface="Consolas" panose="020B0609020204030204"/>
              </a:defRPr>
            </a:pPr>
            <a:r>
              <a:t>  }, [value, delay]);</a:t>
            </a:r>
          </a:p>
          <a:p>
            <a:pPr>
              <a:defRPr sz="850">
                <a:solidFill>
                  <a:srgbClr val="0F172A"/>
                </a:solidFill>
                <a:latin typeface="Consolas" panose="020B0609020204030204"/>
              </a:defRPr>
            </a:pPr>
          </a:p>
          <a:p>
            <a:pPr>
              <a:defRPr sz="850">
                <a:solidFill>
                  <a:srgbClr val="38BDF8"/>
                </a:solidFill>
                <a:latin typeface="Consolas" panose="020B0609020204030204"/>
              </a:defRPr>
            </a:pPr>
            <a:r>
              <a:t>  return debouncedValue;</a:t>
            </a:r>
          </a:p>
          <a:p>
            <a:pPr>
              <a:defRPr sz="850">
                <a:solidFill>
                  <a:srgbClr val="0F172A"/>
                </a:solidFill>
                <a:latin typeface="Consolas" panose="020B0609020204030204"/>
              </a:defRPr>
            </a:pPr>
            <a:r>
              <a:t>}</a:t>
            </a:r>
          </a:p>
          <a:p>
            <a:pPr>
              <a:defRPr sz="850">
                <a:solidFill>
                  <a:srgbClr val="0F172A"/>
                </a:solidFill>
                <a:latin typeface="Consolas" panose="020B0609020204030204"/>
              </a:defRPr>
            </a:pPr>
          </a:p>
          <a:p>
            <a:pPr>
              <a:defRPr sz="850">
                <a:solidFill>
                  <a:srgbClr val="94A3B8"/>
                </a:solidFill>
                <a:latin typeface="Consolas" panose="020B0609020204030204"/>
              </a:defRPr>
            </a:pPr>
            <a:r>
              <a:t>// Usage in Semantic Search Input:</a:t>
            </a:r>
          </a:p>
          <a:p>
            <a:pPr>
              <a:defRPr sz="850">
                <a:solidFill>
                  <a:srgbClr val="0F172A"/>
                </a:solidFill>
                <a:latin typeface="Consolas" panose="020B0609020204030204"/>
              </a:defRPr>
            </a:pPr>
            <a:r>
              <a:t>const debouncedQuery = useDebounce(searchQuery, 400);</a:t>
            </a:r>
          </a:p>
          <a:p>
            <a:pPr>
              <a:defRPr sz="850">
                <a:solidFill>
                  <a:srgbClr val="0F172A"/>
                </a:solidFill>
                <a:latin typeface="Consolas" panose="020B0609020204030204"/>
              </a:defRPr>
            </a:pPr>
            <a:r>
              <a:t>useEffect(() =&gt; {</a:t>
            </a:r>
          </a:p>
          <a:p>
            <a:pPr>
              <a:defRPr sz="850">
                <a:solidFill>
                  <a:srgbClr val="0F172A"/>
                </a:solidFill>
                <a:latin typeface="Consolas" panose="020B0609020204030204"/>
              </a:defRPr>
            </a:pPr>
            <a:r>
              <a:t>  if (debouncedQuery) queryVectorDB(debouncedQuery);</a:t>
            </a:r>
          </a:p>
          <a:p>
            <a:pPr>
              <a:defRPr sz="850">
                <a:solidFill>
                  <a:srgbClr val="0F172A"/>
                </a:solidFill>
                <a:latin typeface="Consolas" panose="020B0609020204030204"/>
              </a:defRPr>
            </a:pPr>
            <a:r>
              <a:t>}, [debouncedQuery]);</a:t>
            </a:r>
          </a:p>
        </p:txBody>
      </p:sp>
      <p:sp>
        <p:nvSpPr>
          <p:cNvPr id="10" name="Rounded Rectangle 9"/>
          <p:cNvSpPr/>
          <p:nvPr/>
        </p:nvSpPr>
        <p:spPr>
          <a:xfrm>
            <a:off x="6217920" y="1554480"/>
            <a:ext cx="5242255"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4297680"/>
          </a:xfrm>
          <a:prstGeom prst="rect">
            <a:avLst/>
          </a:prstGeom>
          <a:noFill/>
        </p:spPr>
        <p:txBody>
          <a:bodyPr wrap="square" lIns="0" tIns="0" rIns="0" bIns="0">
            <a:spAutoFit/>
          </a:bodyPr>
          <a:lstStyle/>
          <a:p>
            <a:pPr>
              <a:spcAft>
                <a:spcPts val="400"/>
              </a:spcAft>
              <a:defRPr sz="1200" b="1">
                <a:solidFill>
                  <a:srgbClr val="0B5C9E"/>
                </a:solidFill>
                <a:latin typeface="Segoe UI" panose="020B0502040204020203"/>
              </a:defRPr>
            </a:pPr>
            <a:r>
              <a:t>2. useLocalStorage: Persisting Model Keys</a:t>
            </a:r>
          </a:p>
          <a:p>
            <a:pPr>
              <a:defRPr sz="850">
                <a:solidFill>
                  <a:srgbClr val="94A3B8"/>
                </a:solidFill>
                <a:latin typeface="Consolas" panose="020B0609020204030204"/>
              </a:defRPr>
            </a:pPr>
            <a:r>
              <a:t>// Synchronizes React state with browser localStorage</a:t>
            </a:r>
          </a:p>
          <a:p>
            <a:pPr>
              <a:defRPr sz="850">
                <a:solidFill>
                  <a:srgbClr val="38BDF8"/>
                </a:solidFill>
                <a:latin typeface="Consolas" panose="020B0609020204030204"/>
              </a:defRPr>
            </a:pPr>
            <a:r>
              <a:t>function useLocalStorage(key, initialValue) {</a:t>
            </a:r>
          </a:p>
          <a:p>
            <a:pPr>
              <a:defRPr sz="850">
                <a:solidFill>
                  <a:srgbClr val="0F172A"/>
                </a:solidFill>
                <a:latin typeface="Consolas" panose="020B0609020204030204"/>
              </a:defRPr>
            </a:pPr>
            <a:r>
              <a:t>  const [storedValue, setStoredValue] = useState(() =&gt; {</a:t>
            </a:r>
          </a:p>
          <a:p>
            <a:pPr>
              <a:defRPr sz="850">
                <a:solidFill>
                  <a:srgbClr val="0F172A"/>
                </a:solidFill>
                <a:latin typeface="Consolas" panose="020B0609020204030204"/>
              </a:defRPr>
            </a:pPr>
            <a:r>
              <a:t>    try {</a:t>
            </a:r>
          </a:p>
          <a:p>
            <a:pPr>
              <a:defRPr sz="850">
                <a:solidFill>
                  <a:srgbClr val="0F172A"/>
                </a:solidFill>
                <a:latin typeface="Consolas" panose="020B0609020204030204"/>
              </a:defRPr>
            </a:pPr>
            <a:r>
              <a:t>      const item = window.localStorage.getItem(key);</a:t>
            </a:r>
          </a:p>
          <a:p>
            <a:pPr>
              <a:defRPr sz="850">
                <a:solidFill>
                  <a:srgbClr val="38BDF8"/>
                </a:solidFill>
                <a:latin typeface="Consolas" panose="020B0609020204030204"/>
              </a:defRPr>
            </a:pPr>
            <a:r>
              <a:t>      return item ? JSON.parse(item) : initialValue;</a:t>
            </a:r>
          </a:p>
          <a:p>
            <a:pPr>
              <a:defRPr sz="850">
                <a:solidFill>
                  <a:srgbClr val="0F172A"/>
                </a:solidFill>
                <a:latin typeface="Consolas" panose="020B0609020204030204"/>
              </a:defRPr>
            </a:pPr>
            <a:r>
              <a:t>    } catch (error) {</a:t>
            </a:r>
          </a:p>
          <a:p>
            <a:pPr>
              <a:defRPr sz="850">
                <a:solidFill>
                  <a:srgbClr val="38BDF8"/>
                </a:solidFill>
                <a:latin typeface="Consolas" panose="020B0609020204030204"/>
              </a:defRPr>
            </a:pPr>
            <a:r>
              <a:t>      return initialValue;</a:t>
            </a:r>
          </a:p>
          <a:p>
            <a:pPr>
              <a:defRPr sz="850">
                <a:solidFill>
                  <a:srgbClr val="0F172A"/>
                </a:solidFill>
                <a:latin typeface="Consolas" panose="020B0609020204030204"/>
              </a:defRPr>
            </a:pPr>
            <a:r>
              <a:t>    }</a:t>
            </a:r>
          </a:p>
          <a:p>
            <a:pPr>
              <a:defRPr sz="850">
                <a:solidFill>
                  <a:srgbClr val="0F172A"/>
                </a:solidFill>
                <a:latin typeface="Consolas" panose="020B0609020204030204"/>
              </a:defRPr>
            </a:pPr>
            <a:r>
              <a:t>  });</a:t>
            </a:r>
          </a:p>
          <a:p>
            <a:pPr>
              <a:defRPr sz="850">
                <a:solidFill>
                  <a:srgbClr val="0F172A"/>
                </a:solidFill>
                <a:latin typeface="Consolas" panose="020B0609020204030204"/>
              </a:defRPr>
            </a:pPr>
          </a:p>
          <a:p>
            <a:pPr>
              <a:defRPr sz="850">
                <a:solidFill>
                  <a:srgbClr val="0F172A"/>
                </a:solidFill>
                <a:latin typeface="Consolas" panose="020B0609020204030204"/>
              </a:defRPr>
            </a:pPr>
            <a:r>
              <a:t>  const setValue = (value) =&gt; {</a:t>
            </a:r>
          </a:p>
          <a:p>
            <a:pPr>
              <a:defRPr sz="850">
                <a:solidFill>
                  <a:srgbClr val="0F172A"/>
                </a:solidFill>
                <a:latin typeface="Consolas" panose="020B0609020204030204"/>
              </a:defRPr>
            </a:pPr>
            <a:r>
              <a:t>    const valueToStore = value instanceof Function ? value(storedValue) : value;</a:t>
            </a:r>
          </a:p>
          <a:p>
            <a:pPr>
              <a:defRPr sz="850">
                <a:solidFill>
                  <a:srgbClr val="0F172A"/>
                </a:solidFill>
                <a:latin typeface="Consolas" panose="020B0609020204030204"/>
              </a:defRPr>
            </a:pPr>
            <a:r>
              <a:t>    setStoredValue(valueToStore);</a:t>
            </a:r>
          </a:p>
          <a:p>
            <a:pPr>
              <a:defRPr sz="850">
                <a:solidFill>
                  <a:srgbClr val="0F172A"/>
                </a:solidFill>
                <a:latin typeface="Consolas" panose="020B0609020204030204"/>
              </a:defRPr>
            </a:pPr>
            <a:r>
              <a:t>    window.localStorage.setItem(key, JSON.stringify(valueToStore));</a:t>
            </a:r>
          </a:p>
          <a:p>
            <a:pPr>
              <a:defRPr sz="850">
                <a:solidFill>
                  <a:srgbClr val="0F172A"/>
                </a:solidFill>
                <a:latin typeface="Consolas" panose="020B0609020204030204"/>
              </a:defRPr>
            </a:pPr>
            <a:r>
              <a:t>  };</a:t>
            </a:r>
          </a:p>
          <a:p>
            <a:pPr>
              <a:defRPr sz="850">
                <a:solidFill>
                  <a:srgbClr val="0F172A"/>
                </a:solidFill>
                <a:latin typeface="Consolas" panose="020B0609020204030204"/>
              </a:defRPr>
            </a:pPr>
          </a:p>
          <a:p>
            <a:pPr>
              <a:defRPr sz="850">
                <a:solidFill>
                  <a:srgbClr val="38BDF8"/>
                </a:solidFill>
                <a:latin typeface="Consolas" panose="020B0609020204030204"/>
              </a:defRPr>
            </a:pPr>
            <a:r>
              <a:t>  return [storedValue, setValue];</a:t>
            </a:r>
          </a:p>
          <a:p>
            <a:pPr>
              <a:defRPr sz="850">
                <a:solidFill>
                  <a:srgbClr val="0F172A"/>
                </a:solidFill>
                <a:latin typeface="Consolas" panose="020B0609020204030204"/>
              </a:defRPr>
            </a:pPr>
            <a:r>
              <a:t>}</a:t>
            </a:r>
          </a:p>
          <a:p>
            <a:pPr>
              <a:defRPr sz="850">
                <a:solidFill>
                  <a:srgbClr val="0F172A"/>
                </a:solidFill>
                <a:latin typeface="Consolas" panose="020B0609020204030204"/>
              </a:defRPr>
            </a:pPr>
          </a:p>
          <a:p>
            <a:pPr>
              <a:defRPr sz="850">
                <a:solidFill>
                  <a:srgbClr val="94A3B8"/>
                </a:solidFill>
                <a:latin typeface="Consolas" panose="020B0609020204030204"/>
              </a:defRPr>
            </a:pPr>
            <a:r>
              <a:t>// Usage for Gemini/OpenAI API Key persistence:</a:t>
            </a:r>
          </a:p>
          <a:p>
            <a:pPr>
              <a:defRPr sz="850">
                <a:solidFill>
                  <a:srgbClr val="0F172A"/>
                </a:solidFill>
                <a:latin typeface="Consolas" panose="020B0609020204030204"/>
              </a:defRPr>
            </a:pPr>
            <a:r>
              <a:t>const [apiKey, setApiKey] = useLocalStorage('gemini_api_key',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5.29 · ENTERPRISE STATE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Global State Management: Redux Toolkit vs Zustand</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When React Context is not enough: Scaling complex multi-agent execution graphs, citation drawers, and token metrics.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32 of 35</a:t>
            </a:r>
          </a:p>
        </p:txBody>
      </p:sp>
      <p:sp>
        <p:nvSpPr>
          <p:cNvPr id="8" name="Rounded Rectangle 7"/>
          <p:cNvSpPr/>
          <p:nvPr/>
        </p:nvSpPr>
        <p:spPr>
          <a:xfrm>
            <a:off x="731520" y="1554480"/>
            <a:ext cx="5120640" cy="393192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754880" cy="3657600"/>
          </a:xfrm>
          <a:prstGeom prst="rect">
            <a:avLst/>
          </a:prstGeom>
          <a:noFill/>
        </p:spPr>
        <p:txBody>
          <a:bodyPr wrap="square" lIns="0" tIns="0" rIns="0" bIns="0">
            <a:spAutoFit/>
          </a:bodyPr>
          <a:lstStyle/>
          <a:p>
            <a:pPr>
              <a:spcAft>
                <a:spcPts val="600"/>
              </a:spcAft>
              <a:defRPr sz="1300" b="1">
                <a:solidFill>
                  <a:srgbClr val="7C3AED"/>
                </a:solidFill>
                <a:latin typeface="Segoe UI" panose="020B0502040204020203"/>
              </a:defRPr>
            </a:pPr>
            <a:r>
              <a:t>Redux Toolkit (RTK): Enterprise Standard</a:t>
            </a:r>
          </a:p>
          <a:p>
            <a:pPr>
              <a:spcAft>
                <a:spcPts val="800"/>
              </a:spcAft>
            </a:pPr>
            <a:r>
              <a:rPr sz="950" b="1">
                <a:solidFill>
                  <a:srgbClr val="0F172A"/>
                </a:solidFill>
                <a:latin typeface="Segoe UI" panose="020B0502040204020203"/>
              </a:rPr>
              <a:t>• Unidirectional Data Architecture: </a:t>
            </a:r>
            <a:r>
              <a:rPr sz="920">
                <a:solidFill>
                  <a:srgbClr val="334155"/>
                </a:solidFill>
                <a:latin typeface="Segoe UI" panose="020B0502040204020203"/>
              </a:rPr>
              <a:t>Actions -&gt; Reducers -&gt; Store -&gt; Selectors. Strict predictability for mission-critical enterprise workflows.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Redux DevTools Time-Travel: </a:t>
            </a:r>
            <a:r>
              <a:rPr sz="920">
                <a:solidFill>
                  <a:srgbClr val="334155"/>
                </a:solidFill>
                <a:latin typeface="Segoe UI" panose="020B0502040204020203"/>
              </a:rPr>
              <a:t>Step backward and forward through multi-agent tool execution steps. Invaluable for debugging complex AI agent loops.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RTK Query: </a:t>
            </a:r>
            <a:r>
              <a:rPr sz="920">
                <a:solidFill>
                  <a:srgbClr val="334155"/>
                </a:solidFill>
                <a:latin typeface="Segoe UI" panose="020B0502040204020203"/>
              </a:rPr>
              <a:t>Built-in automated caching, request deduplication, and polling for background LLM fine-tuning jobs.</a:t>
            </a:r>
            <a:endParaRPr sz="920">
              <a:solidFill>
                <a:srgbClr val="334155"/>
              </a:solidFill>
              <a:latin typeface="Segoe UI" panose="020B0502040204020203"/>
            </a:endParaRPr>
          </a:p>
        </p:txBody>
      </p:sp>
      <p:sp>
        <p:nvSpPr>
          <p:cNvPr id="10" name="Rounded Rectangle 9"/>
          <p:cNvSpPr/>
          <p:nvPr/>
        </p:nvSpPr>
        <p:spPr>
          <a:xfrm>
            <a:off x="6217920" y="1554480"/>
            <a:ext cx="5242255" cy="393192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3657600"/>
          </a:xfrm>
          <a:prstGeom prst="rect">
            <a:avLst/>
          </a:prstGeom>
          <a:noFill/>
        </p:spPr>
        <p:txBody>
          <a:bodyPr wrap="square" lIns="0" tIns="0" rIns="0" bIns="0">
            <a:spAutoFit/>
          </a:bodyPr>
          <a:lstStyle/>
          <a:p>
            <a:pPr>
              <a:spcAft>
                <a:spcPts val="600"/>
              </a:spcAft>
              <a:defRPr sz="1300" b="1">
                <a:solidFill>
                  <a:srgbClr val="16A34A"/>
                </a:solidFill>
                <a:latin typeface="Segoe UI" panose="020B0502040204020203"/>
              </a:defRPr>
            </a:pPr>
            <a:r>
              <a:t>Zustand: Lightweight Modern Favorite</a:t>
            </a:r>
          </a:p>
          <a:p>
            <a:pPr>
              <a:spcAft>
                <a:spcPts val="800"/>
              </a:spcAft>
            </a:pPr>
            <a:r>
              <a:rPr sz="950" b="1">
                <a:solidFill>
                  <a:srgbClr val="0F172A"/>
                </a:solidFill>
                <a:latin typeface="Segoe UI" panose="020B0502040204020203"/>
              </a:rPr>
              <a:t>• Zero Boilerplate: </a:t>
            </a:r>
            <a:r>
              <a:rPr sz="920">
                <a:solidFill>
                  <a:srgbClr val="334155"/>
                </a:solidFill>
                <a:latin typeface="Segoe UI" panose="020B0502040204020203"/>
              </a:rPr>
              <a:t>Create a global store in 5 lines of code without Context Providers, reducers, or complex action types.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Selective Re-rendering: </a:t>
            </a:r>
            <a:r>
              <a:rPr sz="920">
                <a:solidFill>
                  <a:srgbClr val="334155"/>
                </a:solidFill>
                <a:latin typeface="Segoe UI" panose="020B0502040204020203"/>
              </a:rPr>
              <a:t>Components only re-render if the specific selected slice changes: const tokens = useStore(s =&gt; s.tokens).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Works Outside React: </a:t>
            </a:r>
            <a:r>
              <a:rPr sz="920">
                <a:solidFill>
                  <a:srgbClr val="334155"/>
                </a:solidFill>
                <a:latin typeface="Segoe UI" panose="020B0502040204020203"/>
              </a:rPr>
              <a:t>Read or mutate state directly from vanilla JS utility scripts or WebSocket callbacks via useStore.getState().</a:t>
            </a:r>
            <a:endParaRPr sz="920">
              <a:solidFill>
                <a:srgbClr val="334155"/>
              </a:solidFill>
              <a:latin typeface="Segoe UI" panose="020B0502040204020203"/>
            </a:endParaRPr>
          </a:p>
        </p:txBody>
      </p:sp>
      <p:sp>
        <p:nvSpPr>
          <p:cNvPr id="12" name="Rounded Rectangle 11"/>
          <p:cNvSpPr/>
          <p:nvPr/>
        </p:nvSpPr>
        <p:spPr>
          <a:xfrm>
            <a:off x="731520" y="5623560"/>
            <a:ext cx="10728655"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62895" cy="530352"/>
          </a:xfrm>
          <a:prstGeom prst="rect">
            <a:avLst/>
          </a:prstGeom>
          <a:noFill/>
        </p:spPr>
        <p:txBody>
          <a:bodyPr wrap="square" anchor="ctr">
            <a:spAutoFit/>
          </a:bodyPr>
          <a:lstStyle/>
          <a:p>
            <a:pPr algn="ctr">
              <a:defRPr sz="1050" b="1">
                <a:solidFill>
                  <a:srgbClr val="0B5C9E"/>
                </a:solidFill>
                <a:latin typeface="Segoe UI" panose="020B0502040204020203"/>
              </a:defRPr>
            </a:pPr>
            <a:r>
              <a:t>Kitchen Analogy: The 500-Guest Banquet Whiteboard. Manages multi-agent execution graphs, tool logs, and Head Chef Quality Control (Human-in-the-Loop approval gates).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5.30 · FULL-STACK ARCHITECTURE</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Real-World AI UI Blueprint: RAG &amp; Multi-Agent Dashboard</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How all React concepts fuse together into a production-grade generative AI interface.</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33 of 35</a:t>
            </a:r>
          </a:p>
        </p:txBody>
      </p:sp>
      <p:sp>
        <p:nvSpPr>
          <p:cNvPr id="8" name="Rounded Rectangle 7"/>
          <p:cNvSpPr/>
          <p:nvPr/>
        </p:nvSpPr>
        <p:spPr>
          <a:xfrm>
            <a:off x="731520" y="1645920"/>
            <a:ext cx="2487168" cy="429768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10512"/>
            <a:ext cx="2157984" cy="3968496"/>
          </a:xfrm>
          <a:prstGeom prst="rect">
            <a:avLst/>
          </a:prstGeom>
          <a:noFill/>
        </p:spPr>
        <p:txBody>
          <a:bodyPr wrap="square" lIns="0" tIns="0" rIns="0" bIns="0">
            <a:spAutoFit/>
          </a:bodyPr>
          <a:lstStyle/>
          <a:p>
            <a:pPr>
              <a:defRPr sz="1300" b="1">
                <a:solidFill>
                  <a:srgbClr val="0B5C9E"/>
                </a:solidFill>
                <a:latin typeface="Segoe UI" panose="020B0502040204020203"/>
              </a:defRPr>
            </a:pPr>
            <a:r>
              <a:t>1. Sidebar Controls</a:t>
            </a:r>
          </a:p>
          <a:p>
            <a:pPr>
              <a:spcAft>
                <a:spcPts val="1200"/>
              </a:spcAft>
              <a:defRPr sz="950">
                <a:solidFill>
                  <a:srgbClr val="64748B"/>
                </a:solidFill>
                <a:latin typeface="Segoe UI" panose="020B0502040204020203"/>
              </a:defRPr>
            </a:pPr>
            <a:r>
              <a:t>&lt;aside&gt; Navigation</a:t>
            </a:r>
          </a:p>
          <a:p>
            <a:pPr>
              <a:spcAft>
                <a:spcPts val="800"/>
              </a:spcAft>
            </a:pPr>
            <a:r>
              <a:rPr sz="950" b="1">
                <a:solidFill>
                  <a:srgbClr val="0F172A"/>
                </a:solidFill>
                <a:latin typeface="Segoe UI" panose="020B0502040204020203"/>
              </a:rPr>
              <a:t>• Controlled Forms: </a:t>
            </a:r>
            <a:r>
              <a:rPr sz="920">
                <a:solidFill>
                  <a:srgbClr val="334155"/>
                </a:solidFill>
                <a:latin typeface="Segoe UI" panose="020B0502040204020203"/>
              </a:rPr>
              <a:t>Model selection dropdown (Gemini 1.5, Claude 3.5, GPT-4o).</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Custom Sliders: </a:t>
            </a:r>
            <a:r>
              <a:rPr sz="920">
                <a:solidFill>
                  <a:srgbClr val="334155"/>
                </a:solidFill>
                <a:latin typeface="Segoe UI" panose="020B0502040204020203"/>
              </a:rPr>
              <a:t>Temperature (0.0-1.0), Top-P, Max Tokens.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Session History: </a:t>
            </a:r>
            <a:r>
              <a:rPr sz="920">
                <a:solidFill>
                  <a:srgbClr val="334155"/>
                </a:solidFill>
                <a:latin typeface="Segoe UI" panose="020B0502040204020203"/>
              </a:rPr>
              <a:t>List rendered with .map() and unique UUID keys.</a:t>
            </a:r>
            <a:endParaRPr sz="920">
              <a:solidFill>
                <a:srgbClr val="334155"/>
              </a:solidFill>
              <a:latin typeface="Segoe UI" panose="020B0502040204020203"/>
            </a:endParaRPr>
          </a:p>
        </p:txBody>
      </p:sp>
      <p:sp>
        <p:nvSpPr>
          <p:cNvPr id="10" name="Rounded Rectangle 9"/>
          <p:cNvSpPr/>
          <p:nvPr/>
        </p:nvSpPr>
        <p:spPr>
          <a:xfrm>
            <a:off x="3474720" y="1645920"/>
            <a:ext cx="2487168" cy="429768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810512"/>
            <a:ext cx="2157984" cy="3968496"/>
          </a:xfrm>
          <a:prstGeom prst="rect">
            <a:avLst/>
          </a:prstGeom>
          <a:noFill/>
        </p:spPr>
        <p:txBody>
          <a:bodyPr wrap="square" lIns="0" tIns="0" rIns="0" bIns="0">
            <a:spAutoFit/>
          </a:bodyPr>
          <a:lstStyle/>
          <a:p>
            <a:pPr>
              <a:defRPr sz="1300" b="1">
                <a:solidFill>
                  <a:srgbClr val="16A34A"/>
                </a:solidFill>
                <a:latin typeface="Segoe UI" panose="020B0502040204020203"/>
              </a:defRPr>
            </a:pPr>
            <a:r>
              <a:t>2. Streaming Viewport</a:t>
            </a:r>
          </a:p>
          <a:p>
            <a:pPr>
              <a:spcAft>
                <a:spcPts val="1200"/>
              </a:spcAft>
              <a:defRPr sz="950">
                <a:solidFill>
                  <a:srgbClr val="64748B"/>
                </a:solidFill>
                <a:latin typeface="Segoe UI" panose="020B0502040204020203"/>
              </a:defRPr>
            </a:pPr>
            <a:r>
              <a:t>&lt;main&gt; Chat Thread</a:t>
            </a:r>
          </a:p>
          <a:p>
            <a:pPr>
              <a:spcAft>
                <a:spcPts val="800"/>
              </a:spcAft>
            </a:pPr>
            <a:r>
              <a:rPr sz="950" b="1">
                <a:solidFill>
                  <a:srgbClr val="0F172A"/>
                </a:solidFill>
                <a:latin typeface="Segoe UI" panose="020B0502040204020203"/>
              </a:rPr>
              <a:t>• useRef Auto-Scroll: </a:t>
            </a:r>
            <a:r>
              <a:rPr sz="920">
                <a:solidFill>
                  <a:srgbClr val="334155"/>
                </a:solidFill>
                <a:latin typeface="Segoe UI" panose="020B0502040204020203"/>
              </a:rPr>
              <a:t>Pinning viewport to bottom as tokens stream at 60 FPS.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Conditional Skeletons: </a:t>
            </a:r>
            <a:r>
              <a:rPr sz="920">
                <a:solidFill>
                  <a:srgbClr val="334155"/>
                </a:solidFill>
                <a:latin typeface="Segoe UI" panose="020B0502040204020203"/>
              </a:rPr>
              <a:t>Animated pulse placeholders while RAG retrieves chunks.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Token Decoders: </a:t>
            </a:r>
            <a:r>
              <a:rPr sz="920">
                <a:solidFill>
                  <a:srgbClr val="334155"/>
                </a:solidFill>
                <a:latin typeface="Segoe UI" panose="020B0502040204020203"/>
              </a:rPr>
              <a:t>TextDecoder + ReadableStream inside useStreamingChat hook.</a:t>
            </a:r>
            <a:endParaRPr sz="920">
              <a:solidFill>
                <a:srgbClr val="334155"/>
              </a:solidFill>
              <a:latin typeface="Segoe UI" panose="020B0502040204020203"/>
            </a:endParaRPr>
          </a:p>
        </p:txBody>
      </p:sp>
      <p:sp>
        <p:nvSpPr>
          <p:cNvPr id="12" name="Rounded Rectangle 11"/>
          <p:cNvSpPr/>
          <p:nvPr/>
        </p:nvSpPr>
        <p:spPr>
          <a:xfrm>
            <a:off x="6217920" y="1645920"/>
            <a:ext cx="2487168" cy="429768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10512"/>
            <a:ext cx="2157984" cy="3968496"/>
          </a:xfrm>
          <a:prstGeom prst="rect">
            <a:avLst/>
          </a:prstGeom>
          <a:noFill/>
        </p:spPr>
        <p:txBody>
          <a:bodyPr wrap="square" lIns="0" tIns="0" rIns="0" bIns="0">
            <a:spAutoFit/>
          </a:bodyPr>
          <a:lstStyle/>
          <a:p>
            <a:pPr>
              <a:defRPr sz="1300" b="1">
                <a:solidFill>
                  <a:srgbClr val="7C3AED"/>
                </a:solidFill>
                <a:latin typeface="Segoe UI" panose="020B0502040204020203"/>
              </a:defRPr>
            </a:pPr>
            <a:r>
              <a:t>3. Citations Drawer</a:t>
            </a:r>
          </a:p>
          <a:p>
            <a:pPr>
              <a:spcAft>
                <a:spcPts val="1200"/>
              </a:spcAft>
              <a:defRPr sz="950">
                <a:solidFill>
                  <a:srgbClr val="64748B"/>
                </a:solidFill>
                <a:latin typeface="Segoe UI" panose="020B0502040204020203"/>
              </a:defRPr>
            </a:pPr>
            <a:r>
              <a:t>RAG Observability</a:t>
            </a:r>
          </a:p>
          <a:p>
            <a:pPr>
              <a:spcAft>
                <a:spcPts val="800"/>
              </a:spcAft>
            </a:pPr>
            <a:r>
              <a:rPr sz="950" b="1">
                <a:solidFill>
                  <a:srgbClr val="0F172A"/>
                </a:solidFill>
                <a:latin typeface="Segoe UI" panose="020B0502040204020203"/>
              </a:rPr>
              <a:t>• useContext / Zustand: </a:t>
            </a:r>
            <a:r>
              <a:rPr sz="920">
                <a:solidFill>
                  <a:srgbClr val="334155"/>
                </a:solidFill>
                <a:latin typeface="Segoe UI" panose="020B0502040204020203"/>
              </a:rPr>
              <a:t>Global citation store populated by retrieval events.</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Chunk Modal Previews: </a:t>
            </a:r>
            <a:r>
              <a:rPr sz="920">
                <a:solidFill>
                  <a:srgbClr val="334155"/>
                </a:solidFill>
                <a:latin typeface="Segoe UI" panose="020B0502040204020203"/>
              </a:rPr>
              <a:t>Clicking citation badges opens original source PDF snippet.</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Similarity Meters: </a:t>
            </a:r>
            <a:r>
              <a:rPr sz="920">
                <a:solidFill>
                  <a:srgbClr val="334155"/>
                </a:solidFill>
                <a:latin typeface="Segoe UI" panose="020B0502040204020203"/>
              </a:rPr>
              <a:t>Cosine similarity score bars (e.g. 0.89 Match).</a:t>
            </a:r>
            <a:endParaRPr sz="920">
              <a:solidFill>
                <a:srgbClr val="334155"/>
              </a:solidFill>
              <a:latin typeface="Segoe UI" panose="020B0502040204020203"/>
            </a:endParaRPr>
          </a:p>
        </p:txBody>
      </p:sp>
      <p:sp>
        <p:nvSpPr>
          <p:cNvPr id="14" name="Rounded Rectangle 13"/>
          <p:cNvSpPr/>
          <p:nvPr/>
        </p:nvSpPr>
        <p:spPr>
          <a:xfrm>
            <a:off x="8961120" y="1645920"/>
            <a:ext cx="2487168" cy="429768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1810512"/>
            <a:ext cx="2157984" cy="3968496"/>
          </a:xfrm>
          <a:prstGeom prst="rect">
            <a:avLst/>
          </a:prstGeom>
          <a:noFill/>
        </p:spPr>
        <p:txBody>
          <a:bodyPr wrap="square" lIns="0" tIns="0" rIns="0" bIns="0">
            <a:spAutoFit/>
          </a:bodyPr>
          <a:lstStyle/>
          <a:p>
            <a:pPr>
              <a:defRPr sz="1300" b="1">
                <a:solidFill>
                  <a:srgbClr val="EA580C"/>
                </a:solidFill>
                <a:latin typeface="Segoe UI" panose="020B0502040204020203"/>
              </a:defRPr>
            </a:pPr>
            <a:r>
              <a:t>4. Agent Reasoning Trace</a:t>
            </a:r>
          </a:p>
          <a:p>
            <a:pPr>
              <a:spcAft>
                <a:spcPts val="1200"/>
              </a:spcAft>
              <a:defRPr sz="950">
                <a:solidFill>
                  <a:srgbClr val="64748B"/>
                </a:solidFill>
                <a:latin typeface="Segoe UI" panose="020B0502040204020203"/>
              </a:defRPr>
            </a:pPr>
            <a:r>
              <a:t>HITL Observability</a:t>
            </a:r>
          </a:p>
          <a:p>
            <a:pPr>
              <a:spcAft>
                <a:spcPts val="800"/>
              </a:spcAft>
            </a:pPr>
            <a:r>
              <a:rPr sz="950" b="1">
                <a:solidFill>
                  <a:srgbClr val="0F172A"/>
                </a:solidFill>
                <a:latin typeface="Segoe UI" panose="020B0502040204020203"/>
              </a:rPr>
              <a:t>• Accordion Trees: </a:t>
            </a:r>
            <a:r>
              <a:rPr sz="920">
                <a:solidFill>
                  <a:srgbClr val="334155"/>
                </a:solidFill>
                <a:latin typeface="Segoe UI" panose="020B0502040204020203"/>
              </a:rPr>
              <a:t>Collapsible steps for ReAct Thought -&gt; Action -&gt; Observation.</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Approval Modals: </a:t>
            </a:r>
            <a:r>
              <a:rPr sz="920">
                <a:solidFill>
                  <a:srgbClr val="334155"/>
                </a:solidFill>
                <a:latin typeface="Segoe UI" panose="020B0502040204020203"/>
              </a:rPr>
              <a:t>Confirm dialogs for tool invocations (SQL mutation, Send Email).</a:t>
            </a:r>
            <a:endParaRPr sz="920">
              <a:solidFill>
                <a:srgbClr val="334155"/>
              </a:solidFill>
              <a:latin typeface="Segoe UI" panose="020B0502040204020203"/>
            </a:endParaRPr>
          </a:p>
          <a:p>
            <a:pPr>
              <a:spcAft>
                <a:spcPts val="800"/>
              </a:spcAft>
            </a:pPr>
            <a:r>
              <a:rPr sz="950" b="1">
                <a:solidFill>
                  <a:srgbClr val="0F172A"/>
                </a:solidFill>
                <a:latin typeface="Segoe UI" panose="020B0502040204020203"/>
              </a:rPr>
              <a:t>• Live Token Counters: </a:t>
            </a:r>
            <a:r>
              <a:rPr sz="920">
                <a:solidFill>
                  <a:srgbClr val="334155"/>
                </a:solidFill>
                <a:latin typeface="Segoe UI" panose="020B0502040204020203"/>
              </a:rPr>
              <a:t>Real-time cost &amp; latency meter via useMemo aggregation.</a:t>
            </a:r>
            <a:endParaRPr sz="920">
              <a:solidFill>
                <a:srgbClr val="334155"/>
              </a:solidFill>
              <a:latin typeface="Segoe UI" panose="020B0502040204020203"/>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5.31 · PRACTICAL MAPPING</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Master Matrix: React Concept to AI Engineering Usecase</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The complete translation guide between frontend React theory and production AI systems.</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34 of 35</a:t>
            </a:r>
          </a:p>
        </p:txBody>
      </p:sp>
      <p:graphicFrame>
        <p:nvGraphicFramePr>
          <p:cNvPr id="8" name="Table 7"/>
          <p:cNvGraphicFramePr>
            <a:graphicFrameLocks noGrp="1"/>
          </p:cNvGraphicFramePr>
          <p:nvPr/>
        </p:nvGraphicFramePr>
        <p:xfrm>
          <a:off x="731520" y="1554480"/>
          <a:ext cx="10728655" cy="4389120"/>
        </p:xfrm>
        <a:graphic>
          <a:graphicData uri="http://schemas.openxmlformats.org/drawingml/2006/table">
            <a:tbl>
              <a:tblPr firstRow="1" bandRow="1">
                <a:tableStyleId>{5C22544A-7EE6-4342-B048-85BDC9FD1C3A}</a:tableStyleId>
              </a:tblPr>
              <a:tblGrid>
                <a:gridCol w="2926080"/>
                <a:gridCol w="7802575"/>
              </a:tblGrid>
              <a:tr h="292608">
                <a:tc>
                  <a:txBody>
                    <a:bodyPr/>
                    <a:lstStyle/>
                    <a:p>
                      <a:pPr>
                        <a:defRPr sz="1000" b="1">
                          <a:solidFill>
                            <a:srgbClr val="FFFFFF"/>
                          </a:solidFill>
                          <a:latin typeface="Segoe UI" panose="020B0502040204020203"/>
                        </a:defRPr>
                      </a:pPr>
                      <a:r>
                        <a:t>React Concept</a:t>
                      </a:r>
                    </a:p>
                  </a:txBody>
                  <a:tcPr marL="109728" marT="36576">
                    <a:solidFill>
                      <a:srgbClr val="004B87"/>
                    </a:solidFill>
                  </a:tcPr>
                </a:tc>
                <a:tc>
                  <a:txBody>
                    <a:bodyPr/>
                    <a:lstStyle/>
                    <a:p>
                      <a:pPr>
                        <a:defRPr sz="1000" b="1">
                          <a:solidFill>
                            <a:srgbClr val="FFFFFF"/>
                          </a:solidFill>
                          <a:latin typeface="Segoe UI" panose="020B0502040204020203"/>
                        </a:defRPr>
                      </a:pPr>
                      <a:r>
                        <a:t>Exact AI Engineer Usecase &amp; Application</a:t>
                      </a:r>
                    </a:p>
                  </a:txBody>
                  <a:tcPr marL="109728" marT="36576">
                    <a:solidFill>
                      <a:srgbClr val="004B87"/>
                    </a:solidFill>
                  </a:tcPr>
                </a:tc>
              </a:tr>
              <a:tr h="292608">
                <a:tc>
                  <a:txBody>
                    <a:bodyPr/>
                    <a:lstStyle/>
                    <a:p>
                      <a:pPr>
                        <a:defRPr sz="850" b="1">
                          <a:solidFill>
                            <a:srgbClr val="0B5C9E"/>
                          </a:solidFill>
                          <a:latin typeface="Segoe UI" panose="020B0502040204020203"/>
                        </a:defRPr>
                      </a:pPr>
                      <a:r>
                        <a:t>DOM &amp; Nodes (C++)</a:t>
                      </a:r>
                    </a:p>
                  </a:txBody>
                  <a:tcPr marL="109728" marT="18288">
                    <a:solidFill>
                      <a:srgbClr val="FFFFFF"/>
                    </a:solidFill>
                  </a:tcPr>
                </a:tc>
                <a:tc>
                  <a:txBody>
                    <a:bodyPr/>
                    <a:lstStyle/>
                    <a:p>
                      <a:pPr>
                        <a:defRPr sz="850">
                          <a:solidFill>
                            <a:srgbClr val="334155"/>
                          </a:solidFill>
                          <a:latin typeface="Segoe UI" panose="020B0502040204020203"/>
                        </a:defRPr>
                      </a:pPr>
                      <a:r>
                        <a:t>The live tree in browser RAM; targets of real browser reflows and user interactions.</a:t>
                      </a:r>
                    </a:p>
                  </a:txBody>
                  <a:tcPr marL="109728" marT="18288">
                    <a:solidFill>
                      <a:srgbClr val="FFFFFF"/>
                    </a:solidFill>
                  </a:tcPr>
                </a:tc>
              </a:tr>
              <a:tr h="292608">
                <a:tc>
                  <a:txBody>
                    <a:bodyPr/>
                    <a:lstStyle/>
                    <a:p>
                      <a:pPr>
                        <a:defRPr sz="850" b="1">
                          <a:solidFill>
                            <a:srgbClr val="0B5C9E"/>
                          </a:solidFill>
                          <a:latin typeface="Segoe UI" panose="020B0502040204020203"/>
                        </a:defRPr>
                      </a:pPr>
                      <a:r>
                        <a:t>JSX &amp; Expressions {}</a:t>
                      </a:r>
                    </a:p>
                  </a:txBody>
                  <a:tcPr marL="109728" marT="18288">
                    <a:solidFill>
                      <a:srgbClr val="F8FAFC"/>
                    </a:solidFill>
                  </a:tcPr>
                </a:tc>
                <a:tc>
                  <a:txBody>
                    <a:bodyPr/>
                    <a:lstStyle/>
                    <a:p>
                      <a:pPr>
                        <a:defRPr sz="850">
                          <a:solidFill>
                            <a:srgbClr val="334155"/>
                          </a:solidFill>
                          <a:latin typeface="Segoe UI" panose="020B0502040204020203"/>
                        </a:defRPr>
                      </a:pPr>
                      <a:r>
                        <a:t>Rendering dynamic LLM responses, formatting token counts, and safe HTML escaping.</a:t>
                      </a:r>
                    </a:p>
                  </a:txBody>
                  <a:tcPr marL="109728" marT="18288">
                    <a:solidFill>
                      <a:srgbClr val="F8FAFC"/>
                    </a:solidFill>
                  </a:tcPr>
                </a:tc>
              </a:tr>
              <a:tr h="292608">
                <a:tc>
                  <a:txBody>
                    <a:bodyPr/>
                    <a:lstStyle/>
                    <a:p>
                      <a:pPr>
                        <a:defRPr sz="850" b="1">
                          <a:solidFill>
                            <a:srgbClr val="0B5C9E"/>
                          </a:solidFill>
                          <a:latin typeface="Segoe UI" panose="020B0502040204020203"/>
                        </a:defRPr>
                      </a:pPr>
                      <a:r>
                        <a:t>Props &amp; Children</a:t>
                      </a:r>
                    </a:p>
                  </a:txBody>
                  <a:tcPr marL="109728" marT="18288">
                    <a:solidFill>
                      <a:srgbClr val="FFFFFF"/>
                    </a:solidFill>
                  </a:tcPr>
                </a:tc>
                <a:tc>
                  <a:txBody>
                    <a:bodyPr/>
                    <a:lstStyle/>
                    <a:p>
                      <a:pPr>
                        <a:defRPr sz="850">
                          <a:solidFill>
                            <a:srgbClr val="334155"/>
                          </a:solidFill>
                          <a:latin typeface="Segoe UI" panose="020B0502040204020203"/>
                        </a:defRPr>
                      </a:pPr>
                      <a:r>
                        <a:t>Reusable UI widgets: ParameterSlider, ChatBubble, ToolBadge, DocumentCard.</a:t>
                      </a:r>
                    </a:p>
                  </a:txBody>
                  <a:tcPr marL="109728" marT="18288">
                    <a:solidFill>
                      <a:srgbClr val="FFFFFF"/>
                    </a:solidFill>
                  </a:tcPr>
                </a:tc>
              </a:tr>
              <a:tr h="292608">
                <a:tc>
                  <a:txBody>
                    <a:bodyPr/>
                    <a:lstStyle/>
                    <a:p>
                      <a:pPr>
                        <a:defRPr sz="850" b="1">
                          <a:solidFill>
                            <a:srgbClr val="0B5C9E"/>
                          </a:solidFill>
                          <a:latin typeface="Segoe UI" panose="020B0502040204020203"/>
                        </a:defRPr>
                      </a:pPr>
                      <a:r>
                        <a:t>useState</a:t>
                      </a:r>
                    </a:p>
                  </a:txBody>
                  <a:tcPr marL="109728" marT="18288">
                    <a:solidFill>
                      <a:srgbClr val="F8FAFC"/>
                    </a:solidFill>
                  </a:tcPr>
                </a:tc>
                <a:tc>
                  <a:txBody>
                    <a:bodyPr/>
                    <a:lstStyle/>
                    <a:p>
                      <a:pPr>
                        <a:defRPr sz="850">
                          <a:solidFill>
                            <a:srgbClr val="334155"/>
                          </a:solidFill>
                          <a:latin typeface="Segoe UI" panose="020B0502040204020203"/>
                        </a:defRPr>
                      </a:pPr>
                      <a:r>
                        <a:t>Local component state: prompt input text, active model name, temperature value.</a:t>
                      </a:r>
                    </a:p>
                  </a:txBody>
                  <a:tcPr marL="109728" marT="18288">
                    <a:solidFill>
                      <a:srgbClr val="F8FAFC"/>
                    </a:solidFill>
                  </a:tcPr>
                </a:tc>
              </a:tr>
              <a:tr h="292608">
                <a:tc>
                  <a:txBody>
                    <a:bodyPr/>
                    <a:lstStyle/>
                    <a:p>
                      <a:pPr>
                        <a:defRPr sz="850" b="1">
                          <a:solidFill>
                            <a:srgbClr val="0B5C9E"/>
                          </a:solidFill>
                          <a:latin typeface="Segoe UI" panose="020B0502040204020203"/>
                        </a:defRPr>
                      </a:pPr>
                      <a:r>
                        <a:t>Synthetic Events</a:t>
                      </a:r>
                    </a:p>
                  </a:txBody>
                  <a:tcPr marL="109728" marT="18288">
                    <a:solidFill>
                      <a:srgbClr val="FFFFFF"/>
                    </a:solidFill>
                  </a:tcPr>
                </a:tc>
                <a:tc>
                  <a:txBody>
                    <a:bodyPr/>
                    <a:lstStyle/>
                    <a:p>
                      <a:pPr>
                        <a:defRPr sz="850">
                          <a:solidFill>
                            <a:srgbClr val="334155"/>
                          </a:solidFill>
                          <a:latin typeface="Segoe UI" panose="020B0502040204020203"/>
                        </a:defRPr>
                      </a:pPr>
                      <a:r>
                        <a:t>Capturing Enter-key prompt submissions, model switching clicks, and copy buttons.</a:t>
                      </a:r>
                    </a:p>
                  </a:txBody>
                  <a:tcPr marL="109728" marT="18288">
                    <a:solidFill>
                      <a:srgbClr val="FFFFFF"/>
                    </a:solidFill>
                  </a:tcPr>
                </a:tc>
              </a:tr>
              <a:tr h="292608">
                <a:tc>
                  <a:txBody>
                    <a:bodyPr/>
                    <a:lstStyle/>
                    <a:p>
                      <a:pPr>
                        <a:defRPr sz="850" b="1">
                          <a:solidFill>
                            <a:srgbClr val="0B5C9E"/>
                          </a:solidFill>
                          <a:latin typeface="Segoe UI" panose="020B0502040204020203"/>
                        </a:defRPr>
                      </a:pPr>
                      <a:r>
                        <a:t>Conditional Rendering</a:t>
                      </a:r>
                    </a:p>
                  </a:txBody>
                  <a:tcPr marL="109728" marT="18288">
                    <a:solidFill>
                      <a:srgbClr val="F8FAFC"/>
                    </a:solidFill>
                  </a:tcPr>
                </a:tc>
                <a:tc>
                  <a:txBody>
                    <a:bodyPr/>
                    <a:lstStyle/>
                    <a:p>
                      <a:pPr>
                        <a:defRPr sz="850">
                          <a:solidFill>
                            <a:srgbClr val="334155"/>
                          </a:solidFill>
                          <a:latin typeface="Segoe UI" panose="020B0502040204020203"/>
                        </a:defRPr>
                      </a:pPr>
                      <a:r>
                        <a:t>Toggling streaming loaders, error banners, tool badges, and citation drawers.</a:t>
                      </a:r>
                    </a:p>
                  </a:txBody>
                  <a:tcPr marL="109728" marT="18288">
                    <a:solidFill>
                      <a:srgbClr val="F8FAFC"/>
                    </a:solidFill>
                  </a:tcPr>
                </a:tc>
              </a:tr>
              <a:tr h="292608">
                <a:tc>
                  <a:txBody>
                    <a:bodyPr/>
                    <a:lstStyle/>
                    <a:p>
                      <a:pPr>
                        <a:defRPr sz="850" b="1">
                          <a:solidFill>
                            <a:srgbClr val="0B5C9E"/>
                          </a:solidFill>
                          <a:latin typeface="Segoe UI" panose="020B0502040204020203"/>
                        </a:defRPr>
                      </a:pPr>
                      <a:r>
                        <a:t>Lists &amp; Unique Keys</a:t>
                      </a:r>
                    </a:p>
                  </a:txBody>
                  <a:tcPr marL="109728" marT="18288">
                    <a:solidFill>
                      <a:srgbClr val="FFFFFF"/>
                    </a:solidFill>
                  </a:tcPr>
                </a:tc>
                <a:tc>
                  <a:txBody>
                    <a:bodyPr/>
                    <a:lstStyle/>
                    <a:p>
                      <a:pPr>
                        <a:defRPr sz="850">
                          <a:solidFill>
                            <a:srgbClr val="334155"/>
                          </a:solidFill>
                          <a:latin typeface="Segoe UI" panose="020B0502040204020203"/>
                        </a:defRPr>
                      </a:pPr>
                      <a:r>
                        <a:t>Rendering streaming chat message threads with unique crypto.randomUUID() keys.</a:t>
                      </a:r>
                    </a:p>
                  </a:txBody>
                  <a:tcPr marL="109728" marT="18288">
                    <a:solidFill>
                      <a:srgbClr val="FFFFFF"/>
                    </a:solidFill>
                  </a:tcPr>
                </a:tc>
              </a:tr>
              <a:tr h="292608">
                <a:tc>
                  <a:txBody>
                    <a:bodyPr/>
                    <a:lstStyle/>
                    <a:p>
                      <a:pPr>
                        <a:defRPr sz="850" b="1">
                          <a:solidFill>
                            <a:srgbClr val="0B5C9E"/>
                          </a:solidFill>
                          <a:latin typeface="Segoe UI" panose="020B0502040204020203"/>
                        </a:defRPr>
                      </a:pPr>
                      <a:r>
                        <a:t>Controlled Forms</a:t>
                      </a:r>
                    </a:p>
                  </a:txBody>
                  <a:tcPr marL="109728" marT="18288">
                    <a:solidFill>
                      <a:srgbClr val="F8FAFC"/>
                    </a:solidFill>
                  </a:tcPr>
                </a:tc>
                <a:tc>
                  <a:txBody>
                    <a:bodyPr/>
                    <a:lstStyle/>
                    <a:p>
                      <a:pPr>
                        <a:defRPr sz="850">
                          <a:solidFill>
                            <a:srgbClr val="334155"/>
                          </a:solidFill>
                          <a:latin typeface="Segoe UI" panose="020B0502040204020203"/>
                        </a:defRPr>
                      </a:pPr>
                      <a:r>
                        <a:t>Two-way binding for system prompt textareas, model parameters, and file inputs.</a:t>
                      </a:r>
                    </a:p>
                  </a:txBody>
                  <a:tcPr marL="109728" marT="18288">
                    <a:solidFill>
                      <a:srgbClr val="F8FAFC"/>
                    </a:solidFill>
                  </a:tcPr>
                </a:tc>
              </a:tr>
              <a:tr h="292608">
                <a:tc>
                  <a:txBody>
                    <a:bodyPr/>
                    <a:lstStyle/>
                    <a:p>
                      <a:pPr>
                        <a:defRPr sz="850" b="1">
                          <a:solidFill>
                            <a:srgbClr val="0B5C9E"/>
                          </a:solidFill>
                          <a:latin typeface="Segoe UI" panose="020B0502040204020203"/>
                        </a:defRPr>
                      </a:pPr>
                      <a:r>
                        <a:t>useEffect &amp; Cleanup</a:t>
                      </a:r>
                    </a:p>
                  </a:txBody>
                  <a:tcPr marL="109728" marT="18288">
                    <a:solidFill>
                      <a:srgbClr val="FFFFFF"/>
                    </a:solidFill>
                  </a:tcPr>
                </a:tc>
                <a:tc>
                  <a:txBody>
                    <a:bodyPr/>
                    <a:lstStyle/>
                    <a:p>
                      <a:pPr>
                        <a:defRPr sz="850">
                          <a:solidFill>
                            <a:srgbClr val="334155"/>
                          </a:solidFill>
                          <a:latin typeface="Segoe UI" panose="020B0502040204020203"/>
                        </a:defRPr>
                      </a:pPr>
                      <a:r>
                        <a:t>Connecting to SSE endpoints, cancelling active streams via AbortController.</a:t>
                      </a:r>
                    </a:p>
                  </a:txBody>
                  <a:tcPr marL="109728" marT="18288">
                    <a:solidFill>
                      <a:srgbClr val="FFFFFF"/>
                    </a:solidFill>
                  </a:tcPr>
                </a:tc>
              </a:tr>
              <a:tr h="292608">
                <a:tc>
                  <a:txBody>
                    <a:bodyPr/>
                    <a:lstStyle/>
                    <a:p>
                      <a:pPr>
                        <a:defRPr sz="850" b="1">
                          <a:solidFill>
                            <a:srgbClr val="0B5C9E"/>
                          </a:solidFill>
                          <a:latin typeface="Segoe UI" panose="020B0502040204020203"/>
                        </a:defRPr>
                      </a:pPr>
                      <a:r>
                        <a:t>useContext</a:t>
                      </a:r>
                    </a:p>
                  </a:txBody>
                  <a:tcPr marL="109728" marT="18288">
                    <a:solidFill>
                      <a:srgbClr val="F8FAFC"/>
                    </a:solidFill>
                  </a:tcPr>
                </a:tc>
                <a:tc>
                  <a:txBody>
                    <a:bodyPr/>
                    <a:lstStyle/>
                    <a:p>
                      <a:pPr>
                        <a:defRPr sz="850">
                          <a:solidFill>
                            <a:srgbClr val="334155"/>
                          </a:solidFill>
                          <a:latin typeface="Segoe UI" panose="020B0502040204020203"/>
                        </a:defRPr>
                      </a:pPr>
                      <a:r>
                        <a:t>Broadcasting global AI model config, theme (Dark/Light), and user auth token.</a:t>
                      </a:r>
                    </a:p>
                  </a:txBody>
                  <a:tcPr marL="109728" marT="18288">
                    <a:solidFill>
                      <a:srgbClr val="F8FAFC"/>
                    </a:solidFill>
                  </a:tcPr>
                </a:tc>
              </a:tr>
              <a:tr h="292608">
                <a:tc>
                  <a:txBody>
                    <a:bodyPr/>
                    <a:lstStyle/>
                    <a:p>
                      <a:pPr>
                        <a:defRPr sz="850" b="1">
                          <a:solidFill>
                            <a:srgbClr val="0B5C9E"/>
                          </a:solidFill>
                          <a:latin typeface="Segoe UI" panose="020B0502040204020203"/>
                        </a:defRPr>
                      </a:pPr>
                      <a:r>
                        <a:t>useRef</a:t>
                      </a:r>
                    </a:p>
                  </a:txBody>
                  <a:tcPr marL="109728" marT="18288">
                    <a:solidFill>
                      <a:srgbClr val="FFFFFF"/>
                    </a:solidFill>
                  </a:tcPr>
                </a:tc>
                <a:tc>
                  <a:txBody>
                    <a:bodyPr/>
                    <a:lstStyle/>
                    <a:p>
                      <a:pPr>
                        <a:defRPr sz="850">
                          <a:solidFill>
                            <a:srgbClr val="334155"/>
                          </a:solidFill>
                          <a:latin typeface="Segoe UI" panose="020B0502040204020203"/>
                        </a:defRPr>
                      </a:pPr>
                      <a:r>
                        <a:t>Auto-scrolling message list to bottom during 60 FPS token streams without re-rendering.</a:t>
                      </a:r>
                    </a:p>
                  </a:txBody>
                  <a:tcPr marL="109728" marT="18288">
                    <a:solidFill>
                      <a:srgbClr val="FFFFFF"/>
                    </a:solidFill>
                  </a:tcPr>
                </a:tc>
              </a:tr>
              <a:tr h="292608">
                <a:tc>
                  <a:txBody>
                    <a:bodyPr/>
                    <a:lstStyle/>
                    <a:p>
                      <a:pPr>
                        <a:defRPr sz="850" b="1">
                          <a:solidFill>
                            <a:srgbClr val="0B5C9E"/>
                          </a:solidFill>
                          <a:latin typeface="Segoe UI" panose="020B0502040204020203"/>
                        </a:defRPr>
                      </a:pPr>
                      <a:r>
                        <a:t>useMemo &amp; useCallback</a:t>
                      </a:r>
                    </a:p>
                  </a:txBody>
                  <a:tcPr marL="109728" marT="18288">
                    <a:solidFill>
                      <a:srgbClr val="F8FAFC"/>
                    </a:solidFill>
                  </a:tcPr>
                </a:tc>
                <a:tc>
                  <a:txBody>
                    <a:bodyPr/>
                    <a:lstStyle/>
                    <a:p>
                      <a:pPr>
                        <a:defRPr sz="850">
                          <a:solidFill>
                            <a:srgbClr val="334155"/>
                          </a:solidFill>
                          <a:latin typeface="Segoe UI" panose="020B0502040204020203"/>
                        </a:defRPr>
                      </a:pPr>
                      <a:r>
                        <a:t>Caching expensive vector cosine distance calculations and stabilizing handler functions.</a:t>
                      </a:r>
                    </a:p>
                  </a:txBody>
                  <a:tcPr marL="109728" marT="18288">
                    <a:solidFill>
                      <a:srgbClr val="F8FAFC"/>
                    </a:solidFill>
                  </a:tcPr>
                </a:tc>
              </a:tr>
              <a:tr h="292608">
                <a:tc>
                  <a:txBody>
                    <a:bodyPr/>
                    <a:lstStyle/>
                    <a:p>
                      <a:pPr>
                        <a:defRPr sz="850" b="1">
                          <a:solidFill>
                            <a:srgbClr val="0B5C9E"/>
                          </a:solidFill>
                          <a:latin typeface="Segoe UI" panose="020B0502040204020203"/>
                        </a:defRPr>
                      </a:pPr>
                      <a:r>
                        <a:t>Custom Hooks</a:t>
                      </a:r>
                    </a:p>
                  </a:txBody>
                  <a:tcPr marL="109728" marT="18288">
                    <a:solidFill>
                      <a:srgbClr val="FFFFFF"/>
                    </a:solidFill>
                  </a:tcPr>
                </a:tc>
                <a:tc>
                  <a:txBody>
                    <a:bodyPr/>
                    <a:lstStyle/>
                    <a:p>
                      <a:pPr>
                        <a:defRPr sz="850">
                          <a:solidFill>
                            <a:srgbClr val="334155"/>
                          </a:solidFill>
                          <a:latin typeface="Segoe UI" panose="020B0502040204020203"/>
                        </a:defRPr>
                      </a:pPr>
                      <a:r>
                        <a:t>Extracting reusable useStreamingChat, useDebounce, and useLocalStorage utilities.</a:t>
                      </a:r>
                    </a:p>
                  </a:txBody>
                  <a:tcPr marL="109728" marT="18288">
                    <a:solidFill>
                      <a:srgbClr val="FFFFFF"/>
                    </a:solidFill>
                  </a:tcPr>
                </a:tc>
              </a:tr>
              <a:tr h="292608">
                <a:tc>
                  <a:txBody>
                    <a:bodyPr/>
                    <a:lstStyle/>
                    <a:p>
                      <a:pPr>
                        <a:defRPr sz="850" b="1">
                          <a:solidFill>
                            <a:srgbClr val="0B5C9E"/>
                          </a:solidFill>
                          <a:latin typeface="Segoe UI" panose="020B0502040204020203"/>
                        </a:defRPr>
                      </a:pPr>
                      <a:r>
                        <a:t>Redux / Zustand</a:t>
                      </a:r>
                    </a:p>
                  </a:txBody>
                  <a:tcPr marL="109728" marT="18288">
                    <a:solidFill>
                      <a:srgbClr val="F8FAFC"/>
                    </a:solidFill>
                  </a:tcPr>
                </a:tc>
                <a:tc>
                  <a:txBody>
                    <a:bodyPr/>
                    <a:lstStyle/>
                    <a:p>
                      <a:pPr>
                        <a:defRPr sz="850">
                          <a:solidFill>
                            <a:srgbClr val="334155"/>
                          </a:solidFill>
                          <a:latin typeface="Segoe UI" panose="020B0502040204020203"/>
                        </a:defRPr>
                      </a:pPr>
                      <a:r>
                        <a:t>Managing complex multi-agent execution graphs, tool logs, and citation drawers.</a:t>
                      </a:r>
                    </a:p>
                  </a:txBody>
                  <a:tcPr marL="109728" marT="18288">
                    <a:solidFill>
                      <a:srgbClr val="F8FAFC"/>
                    </a:solidFill>
                  </a:tcPr>
                </a:tc>
              </a:tr>
            </a:tbl>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01168"/>
            <a:ext cx="9144000" cy="256032"/>
          </a:xfrm>
          <a:prstGeom prst="rect">
            <a:avLst/>
          </a:prstGeom>
          <a:noFill/>
        </p:spPr>
        <p:txBody>
          <a:bodyPr wrap="none" lIns="0" tIns="0" rIns="0" bIns="0">
            <a:spAutoFit/>
          </a:bodyPr>
          <a:lstStyle/>
          <a:p>
            <a:pPr>
              <a:defRPr sz="950" b="1">
                <a:solidFill>
                  <a:srgbClr val="0052CC"/>
                </a:solidFill>
                <a:latin typeface="Segoe UI" panose="020B0502040204020203"/>
              </a:defRPr>
            </a:pPr>
            <a:r>
              <a:t>5.32 · FINAL TAKEAWAYS</a:t>
            </a:r>
          </a:p>
        </p:txBody>
      </p:sp>
      <p:sp>
        <p:nvSpPr>
          <p:cNvPr id="3" name="TextBox 2"/>
          <p:cNvSpPr txBox="1"/>
          <p:nvPr/>
        </p:nvSpPr>
        <p:spPr>
          <a:xfrm>
            <a:off x="731520" y="457200"/>
            <a:ext cx="9326880" cy="640080"/>
          </a:xfrm>
          <a:prstGeom prst="rect">
            <a:avLst/>
          </a:prstGeom>
          <a:noFill/>
        </p:spPr>
        <p:txBody>
          <a:bodyPr wrap="square" lIns="0" tIns="0" rIns="0" bIns="0">
            <a:spAutoFit/>
          </a:bodyPr>
          <a:lstStyle/>
          <a:p>
            <a:pPr>
              <a:defRPr sz="2500" b="1">
                <a:solidFill>
                  <a:srgbClr val="0B5C9E"/>
                </a:solidFill>
                <a:latin typeface="Segoe UI" panose="020B0502040204020203"/>
              </a:defRPr>
            </a:pPr>
            <a:r>
              <a:t>Classroom Summary &amp; The 10 React Commandments</a:t>
            </a:r>
          </a:p>
        </p:txBody>
      </p:sp>
      <p:pic>
        <p:nvPicPr>
          <p:cNvPr id="4" name="Picture 3" descr="fsm_logo.png"/>
          <p:cNvPicPr>
            <a:picLocks noChangeAspect="1"/>
          </p:cNvPicPr>
          <p:nvPr/>
        </p:nvPicPr>
        <p:blipFill>
          <a:blip r:embed="rId1"/>
          <a:stretch>
            <a:fillRect/>
          </a:stretch>
        </p:blipFill>
        <p:spPr>
          <a:xfrm>
            <a:off x="10241280" y="292608"/>
            <a:ext cx="1280160" cy="645846"/>
          </a:xfrm>
          <a:prstGeom prst="rect">
            <a:avLst/>
          </a:prstGeom>
        </p:spPr>
      </p:pic>
      <p:sp>
        <p:nvSpPr>
          <p:cNvPr id="5" name="TextBox 4"/>
          <p:cNvSpPr txBox="1"/>
          <p:nvPr/>
        </p:nvSpPr>
        <p:spPr>
          <a:xfrm>
            <a:off x="731520" y="1078992"/>
            <a:ext cx="10728655" cy="365760"/>
          </a:xfrm>
          <a:prstGeom prst="rect">
            <a:avLst/>
          </a:prstGeom>
          <a:noFill/>
        </p:spPr>
        <p:txBody>
          <a:bodyPr wrap="square" lIns="0" tIns="0" rIns="0" bIns="0">
            <a:spAutoFit/>
          </a:bodyPr>
          <a:lstStyle/>
          <a:p>
            <a:pPr>
              <a:defRPr sz="1150">
                <a:solidFill>
                  <a:srgbClr val="334155"/>
                </a:solidFill>
                <a:latin typeface="Segoe UI" panose="020B0502040204020203"/>
              </a:defRPr>
            </a:pPr>
            <a:r>
              <a:t>Review the foundational laws of React before jumping into our hands-on coding lab.</a:t>
            </a:r>
          </a:p>
        </p:txBody>
      </p:sp>
      <p:sp>
        <p:nvSpPr>
          <p:cNvPr id="6" name="Rectangle 5"/>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5: Modern Web UI &amp; React.js for AI Engineers</a:t>
            </a:r>
          </a:p>
          <a:p>
            <a:pPr algn="r">
              <a:defRPr sz="950" b="1">
                <a:solidFill>
                  <a:srgbClr val="FFFFFF"/>
                </a:solidFill>
                <a:latin typeface="Segoe UI" panose="020B0502040204020203"/>
              </a:defRPr>
            </a:pPr>
            <a:r>
              <a:t>35 of 35</a:t>
            </a:r>
          </a:p>
        </p:txBody>
      </p:sp>
      <p:sp>
        <p:nvSpPr>
          <p:cNvPr id="8" name="Rounded Rectangle 7"/>
          <p:cNvSpPr/>
          <p:nvPr/>
        </p:nvSpPr>
        <p:spPr>
          <a:xfrm>
            <a:off x="731520" y="155448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4754880" cy="4206240"/>
          </a:xfrm>
          <a:prstGeom prst="rect">
            <a:avLst/>
          </a:prstGeom>
          <a:noFill/>
        </p:spPr>
        <p:txBody>
          <a:bodyPr wrap="square" lIns="0" tIns="0" rIns="0" bIns="0">
            <a:spAutoFit/>
          </a:bodyPr>
          <a:lstStyle/>
          <a:p>
            <a:pPr>
              <a:spcAft>
                <a:spcPts val="800"/>
              </a:spcAft>
            </a:pPr>
            <a:r>
              <a:rPr sz="1000" b="1">
                <a:solidFill>
                  <a:srgbClr val="0B5C9E"/>
                </a:solidFill>
                <a:latin typeface="Segoe UI" panose="020B0502040204020203"/>
              </a:rPr>
              <a:t>1. UI = f(State)
</a:t>
            </a:r>
            <a:r>
              <a:rPr sz="920">
                <a:solidFill>
                  <a:srgbClr val="334155"/>
                </a:solidFill>
                <a:latin typeface="Segoe UI" panose="020B0502040204020203"/>
              </a:rPr>
              <a:t>Never touch the DOM with document.getElementById. Modify state and let React render.</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2. State is Immutable
</a:t>
            </a:r>
            <a:r>
              <a:rPr sz="920">
                <a:solidFill>
                  <a:srgbClr val="334155"/>
                </a:solidFill>
                <a:latin typeface="Segoe UI" panose="020B0502040204020203"/>
              </a:rPr>
              <a:t>Never push into arrays or mutate objects. Always spread: [...arr, newItem].</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3. Call Hooks at Top Level
</a:t>
            </a:r>
            <a:r>
              <a:rPr sz="920">
                <a:solidFill>
                  <a:srgbClr val="334155"/>
                </a:solidFill>
                <a:latin typeface="Segoe UI" panose="020B0502040204020203"/>
              </a:rPr>
              <a:t>Never call Hooks inside if-conditions, loops, or nested functions.</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4. Use Unique Keys
</a:t>
            </a:r>
            <a:r>
              <a:rPr sz="920">
                <a:solidFill>
                  <a:srgbClr val="334155"/>
                </a:solidFill>
                <a:latin typeface="Segoe UI" panose="020B0502040204020203"/>
              </a:rPr>
              <a:t>Always use crypto.randomUUID() or backend IDs for lists. Never use array index.</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5. Clean Up Side Effects
</a:t>
            </a:r>
            <a:r>
              <a:rPr sz="920">
                <a:solidFill>
                  <a:srgbClr val="334155"/>
                </a:solidFill>
                <a:latin typeface="Segoe UI" panose="020B0502040204020203"/>
              </a:rPr>
              <a:t>Always return a cleanup function from useEffect to abort active token streams.</a:t>
            </a:r>
            <a:endParaRPr sz="920">
              <a:solidFill>
                <a:srgbClr val="334155"/>
              </a:solidFill>
              <a:latin typeface="Segoe UI" panose="020B0502040204020203"/>
            </a:endParaRPr>
          </a:p>
        </p:txBody>
      </p:sp>
      <p:sp>
        <p:nvSpPr>
          <p:cNvPr id="10" name="Rounded Rectangle 9"/>
          <p:cNvSpPr/>
          <p:nvPr/>
        </p:nvSpPr>
        <p:spPr>
          <a:xfrm>
            <a:off x="6217920" y="1554480"/>
            <a:ext cx="5242255"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76495" cy="4206240"/>
          </a:xfrm>
          <a:prstGeom prst="rect">
            <a:avLst/>
          </a:prstGeom>
          <a:noFill/>
        </p:spPr>
        <p:txBody>
          <a:bodyPr wrap="square" lIns="0" tIns="0" rIns="0" bIns="0">
            <a:spAutoFit/>
          </a:bodyPr>
          <a:lstStyle/>
          <a:p>
            <a:pPr>
              <a:spcAft>
                <a:spcPts val="800"/>
              </a:spcAft>
            </a:pPr>
            <a:r>
              <a:rPr sz="1000" b="1">
                <a:solidFill>
                  <a:srgbClr val="0B5C9E"/>
                </a:solidFill>
                <a:latin typeface="Segoe UI" panose="020B0502040204020203"/>
              </a:rPr>
              <a:t>6. Lift State When Shared
</a:t>
            </a:r>
            <a:r>
              <a:rPr sz="920">
                <a:solidFill>
                  <a:srgbClr val="334155"/>
                </a:solidFill>
                <a:latin typeface="Segoe UI" panose="020B0502040204020203"/>
              </a:rPr>
              <a:t>Move state up to the closest common parent when sibling components need it.</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7. Controlled Inputs Rule
</a:t>
            </a:r>
            <a:r>
              <a:rPr sz="920">
                <a:solidFill>
                  <a:srgbClr val="334155"/>
                </a:solidFill>
                <a:latin typeface="Segoe UI" panose="020B0502040204020203"/>
              </a:rPr>
              <a:t>Bind value and onChange to state for strict form validation and predictability.</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8. Use Context for Globals
</a:t>
            </a:r>
            <a:r>
              <a:rPr sz="920">
                <a:solidFill>
                  <a:srgbClr val="334155"/>
                </a:solidFill>
                <a:latin typeface="Segoe UI" panose="020B0502040204020203"/>
              </a:rPr>
              <a:t>Eliminate prop drilling for Theme, Auth, and Model Configurations.</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9. useRef for Silent Values
</a:t>
            </a:r>
            <a:r>
              <a:rPr sz="920">
                <a:solidFill>
                  <a:srgbClr val="334155"/>
                </a:solidFill>
                <a:latin typeface="Segoe UI" panose="020B0502040204020203"/>
              </a:rPr>
              <a:t>Use refs for DOM measurements, auto-scroll anchors, and interval timers.</a:t>
            </a:r>
            <a:endParaRPr sz="920">
              <a:solidFill>
                <a:srgbClr val="334155"/>
              </a:solidFill>
              <a:latin typeface="Segoe UI" panose="020B0502040204020203"/>
            </a:endParaRPr>
          </a:p>
          <a:p>
            <a:pPr>
              <a:spcAft>
                <a:spcPts val="800"/>
              </a:spcAft>
            </a:pPr>
            <a:r>
              <a:rPr sz="1000" b="1">
                <a:solidFill>
                  <a:srgbClr val="0B5C9E"/>
                </a:solidFill>
                <a:latin typeface="Segoe UI" panose="020B0502040204020203"/>
              </a:rPr>
              <a:t>10. Build Modular LEGOs
</a:t>
            </a:r>
            <a:r>
              <a:rPr sz="920">
                <a:solidFill>
                  <a:srgbClr val="334155"/>
                </a:solidFill>
                <a:latin typeface="Segoe UI" panose="020B0502040204020203"/>
              </a:rPr>
              <a:t>Keep components small (&lt; 150 lines), focused, and reusable.</a:t>
            </a:r>
            <a:endParaRPr sz="920">
              <a:solidFill>
                <a:srgbClr val="334155"/>
              </a:solidFill>
              <a:latin typeface="Segoe UI" panose="020B0502040204020203"/>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48381</Words>
  <Application>WPS Presentation</Application>
  <PresentationFormat>On-screen Show (4:3)</PresentationFormat>
  <Paragraphs>1327</Paragraphs>
  <Slides>35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35</vt:i4>
      </vt:variant>
    </vt:vector>
  </HeadingPairs>
  <TitlesOfParts>
    <vt:vector size="43" baseType="lpstr">
      <vt:lpstr>Arial</vt:lpstr>
      <vt:lpstr>SimSun</vt:lpstr>
      <vt:lpstr>Wingdings</vt:lpstr>
      <vt:lpstr>Arial</vt:lpstr>
      <vt:lpstr>Segoe UI</vt:lpstr>
      <vt:lpstr>Consolas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sundeep</cp:lastModifiedBy>
  <cp:revision>2</cp:revision>
  <dcterms:created xsi:type="dcterms:W3CDTF">2013-01-27T09:14:00Z</dcterms:created>
  <dcterms:modified xsi:type="dcterms:W3CDTF">2026-10-26T07:17:57Z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FF58DDDBC8F6497D9D5C5F82EFCF0460_12</vt:lpwstr>
  </property>
  <property fmtid="{D5CDD505-2E9C-101B-9397-08002B2CF9AE}" pid="3" name="KSOProductBuildVer">
    <vt:lpwstr>1033-12.1.0.29162</vt:lpwstr>
  </property>
</Properties>
</file>