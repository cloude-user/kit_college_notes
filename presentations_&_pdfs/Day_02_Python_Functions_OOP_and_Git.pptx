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to Day 2! Today we take your programming skills to production grade. We cover functions, complete Object-Oriented design modeled around our own KIT College campus using USN numbers, Method Resolution Order, Polymorphism, and crash-proof error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Outline today's roadmap: we start with functions, dive deep into campus OOP with real KIT roles, tackle exceptions and file persistence, and finish with Git collaboration.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functions are the basic building blocks of all software. In AI, functions represent prompt builders, token cost calculators, and tool callbacks.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*args and **kwargs. Explain how decorators allow adding production concerns like execution timing or rate limiting without changing the function's internal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 presentation and switch to Jupyter Notebook 01. Guide students through running the GPA calculator and testing their attendance checker.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Clarify the distinction between class and object. Show that id() gives the heap memory location and __dict__ holds the instance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lookup priority: Python checks instance.__dict__ before Class.__dict__. Demonstrate shadowing: s1.campus = 'North' does not change the class attribute. Warn against mutable class variables like clubs = []. Then break down self vs cls vs @staticmethod with the decision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abstraction. Explain that CollegeMember is an abstract idea; you cannot have a generic human who is neither student, professor, nor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encapsulation. Point out name mangling: Python renames __cgpa to _Student__cgpa. Explain the famous Python quote: 'We are all consenting adults here'.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how @property transforms methods into clean attribute lookups. Show how the setter blocks corrupted data before it touches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complete KIT College OOP architecture diagram. Point out how real campus roles map cleanly into classes and inheritance.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each of the 5 types of inheritance. Emphasize that while Java bans multiple inheritance of classes, Python supports it fully through MRO.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Deep dive into MRO. Emphasize that super() in Python is dynamic and cooperative, following the C3 linearized list rather than hardcoded parent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Showcase the expanded campus hierarchy. Students appreciate seeing that software models real humans in their institute with tailored responsibilities.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Demystify polymorphism. Be clear: Python does NOT have compile-time method overloading by signature like Java. Instead, default arguments, *args, and singledispatch provide idiomatic flexibility.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operator overloading. In Python, operators like +, &gt;, and == map directly to dunder methods. This makes custom classes feel like built-in Python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Compare __str__ and __repr__. Emphasize __str__ for users and UI, and __repr__ for logs and developers. Show how implementing container dunders makes custom classes integrate with Python's syntax.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students through the memory pooling diagram. Point out that 'a' in 'Ganesh' and 'a' in 'Kavya' point to the exact same pre-allocated singleton in CPython's 256-character pool. Explain that without immutability, modifying 'Ganesh' would corrupt 'Kavya'! Then tie this to hash invariance for O(1) dictionary lookups.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Answer the big question: 'Why is Python the king of AI if it is an interpreted language?' Reveal the architecture: Python is the high-level orchestrator, but C/CUDA do the heavy lifting.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 presentation and switch to Notebook 02. Guide students through running all 12 concepts live in Jupyter.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4 stages of try/except/else/finally. Explain why else and finally are critical for production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Contrast built-in exceptions with custom domain exceptions. Emphasize that custom exceptions make AI systems self-documenting and easier to debug.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context managers. Mention that under the hood, with triggers __enter__ and __exit__, which guarantees f.close() runs even on unexpected exceptions.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 CSV and JSON. Emphasize that csv.DictReader is preferred over raw string splitting because it handles commas inside quoted fields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 presentation and switch to Notebook 03. Walk students through executing file I/O safely and catching missing file exceptions.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4 Git zones. Emphasize the difference between git add (staging changes) and git commit (recording a permanent milestone).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branching. Explain that branches allow team members to develop experimental AI models simultaneously without conflicting with stable production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security with .gitignore. Warn students about API key leaks on GitHub. Explain that Pull Requests are how all enterprise software is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 presentation and switch to Notebook 04. Guide students through running Git commands in the terminal and understanding repository states.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Congratulate the students on completing Day 2. They now have professional Object-Oriented design, defensive error handling, and Git collaboration skills. Preview Day 3: NumPy and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188720"/>
            <a:ext cx="109728" cy="3931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F46E5"/>
                </a:solidFill>
              </a:defRPr>
            </a:pPr>
            <a:r>
              <a:t>DAY 2 · MASTER PRESENTATION</a:t>
            </a:r>
          </a:p>
          <a:p>
            <a:pPr>
              <a:spcAft>
                <a:spcPts val="800"/>
              </a:spcAft>
              <a:defRPr sz="3200" b="1">
                <a:solidFill>
                  <a:srgbClr val="0F172A"/>
                </a:solidFill>
              </a:defRPr>
            </a:pPr>
            <a:r>
              <a:t>Functions, College OOP Architecture, Error Resilience &amp; Git</a:t>
            </a:r>
          </a:p>
          <a:p>
            <a:pPr>
              <a:spcAft>
                <a:spcPts val="2000"/>
              </a:spcAft>
              <a:defRPr sz="1400">
                <a:solidFill>
                  <a:srgbClr val="64748B"/>
                </a:solidFill>
              </a:defRPr>
            </a:pPr>
            <a:r>
              <a:t>Building Reusable Functions, Simulating KIT College with Advanced OOP (USN, MRO, Polymorphism, Abstraction) &amp; Version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291840"/>
            <a:ext cx="10332720" cy="2103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784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Welcome to Day 2! Here is What You and I Will Master Today: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• Section 3: Functions as reusable machines, *args/**kwargs, execution time decorators, and lambdas.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• Section 4: Advanced OOP simulated around KIT College: USN standard, Abstraction (ABC), Encapsulation (@property), and Name Mangling.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• Section 4: 5 Types of Inheritance, MRO (C3 Linearization), Campus Hierarchy (Management, Support, Faculty), Polymorphism &amp; Operator Overloading.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• Section 4 &amp; 6: Defensive Error Handling (try/except/else/finally), leak-proof file streams, and Git/GitHub collaboration.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• Interactive Lab: 4 comprehensive Day-2 Jupyter Notebooks (.ipynb) with live runnable code!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1 of 30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DAY 2 FLIGHT PLAN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The 4 Power Pillars of Today's Journey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From writing modular functions to simulating our college campus and sharing code on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2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4389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F46E5"/>
                </a:solidFill>
              </a:defRPr>
            </a:pPr>
            <a:r>
              <a:t>PILLAR 1</a:t>
            </a:r>
          </a:p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Modular Functions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Anatomy: Inputs, body, return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Dynamic *args &amp; **kwargs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Stopwatch @decorators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Fast anonymous lambdas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Built-in Python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3864" y="1554480"/>
            <a:ext cx="2468880" cy="4389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66744" y="169164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</a:defRPr>
            </a:pPr>
            <a:r>
              <a:t>PILLAR 2</a:t>
            </a:r>
          </a:p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KIT College OOP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Class (blueprint) vs Object (heap)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Abstraction with abc.ABC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Encapsulation &amp; private __cgpa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@property getter &amp; setter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USN collegiate standard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554480"/>
            <a:ext cx="2468880" cy="438912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69164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7C3AED"/>
                </a:solidFill>
              </a:defRPr>
            </a:pPr>
            <a:r>
              <a:t>PILLAR 3</a:t>
            </a:r>
          </a:p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Advanced OOP &amp; MRO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5 Types of Inheritance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MRO &amp; C3 Linearization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Management &amp; Support staff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Dynamic Polymorphism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Operator Overloading (+, &gt;, ==)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88552" y="1554480"/>
            <a:ext cx="2468880" cy="4389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71432" y="169164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97706"/>
                </a:solidFill>
              </a:defRPr>
            </a:pPr>
            <a:r>
              <a:t>PILLAR 4</a:t>
            </a:r>
          </a:p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Errors &amp; Git Highway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4-stage try/except/else/finally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Safe with open() file streams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Reading &amp; writing CSV rosters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Git 4 zones: Add, Commit, Push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AI .gitignore &amp; Pull Requests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3.1A · MODULAR PYTHON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Anatomy of a Function: The Reusable Machine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Functions take inputs, perform operations, and return outputs — keeping your code DRY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3 of 30</a:t>
            </a:r>
          </a:p>
        </p:txBody>
      </p:sp>
      <p:pic>
        <p:nvPicPr>
          <p:cNvPr id="4" name="Picture 3" descr="day2_functions_anatom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6858000" cy="3108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9164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Key Function Concepts: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</a:defRPr>
            </a:pPr>
            <a:r>
              <a:t>1. def keyword: Signals to Python that you are defining a reusable function.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</a:defRPr>
            </a:pPr>
            <a:r>
              <a:t>2. Parameters: Variables listed inside parentheses that receive values from caller.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</a:defRPr>
            </a:pPr>
            <a:r>
              <a:t>3. Indented Body: 4 spaces define the scope of what the function executes.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</a:defRPr>
            </a:pPr>
            <a:r>
              <a:t>4. return statement: Sends computed results back; without return, Python gives back None!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</a:defRPr>
            </a:pPr>
            <a:r>
              <a:t>5. Docstrings: Triple quotes """ explain what your function does for team documentation.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6858000" cy="10972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6492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0B981"/>
                </a:solidFill>
              </a:defRPr>
            </a:pPr>
            <a:r>
              <a:t>Default Arguments Rule: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You can provide sensible default values (e.g., def calc_fee(amount, college='KIT'):). If callers don't pass the college, it automatically uses 'KIT'!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3.1A · ADVANCED PARAMETERS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Dynamic Arguments (*args, **kwargs) &amp; Decorators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Handling arbitrary electives and wrapping functions with timing stopwatches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4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1. Positional *args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Packs into a Tuple: *args gathers extra unnamed parameters.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Variable Electives: enroll_student('Sundeep', 'AI', 'NLP', 'Robotics')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Unpacking: *my_list expands items into function arguments effortlessly.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2. Keyword **kwargs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Packs into a Dict: **kwargs gathers named keyword parameters.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Flexible Profiles: register(hostel='Block A', scholarship=50)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Forwarding: Passes unknown hyperparameters directly to underlying AI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</a:defRPr>
            </a:pPr>
            <a:r>
              <a:t>3. The @ Decorator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The Campus Guard: Wraps around your function to add logging or timing.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@track_time: Starts a stopwatch before the function runs and reports milliseconds after it finishes!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@wraps: Preserves original function name and docstrings.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HANDS-ON PRACTICE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Let's Open Notebook 01: Functions &amp; Modules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Time to run campus GPA calculations, decorators, and leaderboard sorting live!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5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389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4F46E5"/>
                </a:solidFill>
              </a:defRPr>
            </a:pPr>
            <a:r>
              <a:t>📓 Open: notebooks/day_02/01_day2_functions_and_modules.ipynb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1. Open Notebook 01 and run the calculate_gpa() semester grade function.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2. Test register_kit_student() using *electives and **extra_details with USN 1KT23AI042.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3. Run the @track_execution_time stopwatch decorator on an AI training simulation.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4. Use a 1-line lambda function to rank KIT student exam scores descending.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5. Complete the attendance eligibility challenge and verify your result!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4.3A · CORE FOUNDATIONS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What is a Class &amp; Object? The Memory Model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Understanding the blueprint vs the living instance allocated in heap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6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1. Class vs Object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The Blueprint (Class): Code defining attributes and methods. Cost = 0 bytes in heap until instantiated.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The Instance (Object): Real entity loaded in RAM: s1 = Student('Sundeep', '1KT23AI001').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Analogy: Class is the blank KIT admission form. Object is YOU enrolled!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2. Memory Inspection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id(obj): Unique RAM address in heap (e.g. 0x0000021A5).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type(obj): Points to the blueprint class definition.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obj.__dict__: Python stores every object's instance state in a native hashmap dictionary!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</a:defRPr>
            </a:pPr>
            <a:r>
              <a:t>3. Class vs Instance Scope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Class Attributes: institute_name = 'KIT College Institute'. Shared across all 2,000 students!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Instance Attributes: self.name and self.usn are unique to each student.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Memory Efficiency: Shared methods and class variables save megabytes of RAM.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4.3A · DEEP OOP MECHANICS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Class vs Instance Scope: Lookup Priority &amp; Methods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Understanding attribute shadowing in __dict__, the mutable trap, and self vs cls vs @staticmethod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7 of 30</a:t>
            </a:r>
          </a:p>
        </p:txBody>
      </p:sp>
      <p:pic>
        <p:nvPicPr>
          <p:cNvPr id="4" name="Picture 3" descr="day2_class_vs_instance_and_method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6858000" cy="3429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9164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Attribute Priority &amp; Taxonomy:</a:t>
            </a:r>
          </a:p>
          <a:p>
            <a:pPr>
              <a:spcAft>
                <a:spcPts val="400"/>
              </a:spcAft>
              <a:defRPr sz="920">
                <a:solidFill>
                  <a:srgbClr val="334155"/>
                </a:solidFill>
              </a:defRPr>
            </a:pPr>
            <a:r>
              <a:t>• Priority 1 (Instance): Python checks instance.__dict__ first. If present, it returns immediately!</a:t>
            </a:r>
          </a:p>
          <a:p>
            <a:pPr>
              <a:spcAft>
                <a:spcPts val="400"/>
              </a:spcAft>
              <a:defRPr sz="920">
                <a:solidFill>
                  <a:srgbClr val="334155"/>
                </a:solidFill>
              </a:defRPr>
            </a:pPr>
            <a:r>
              <a:t>• Priority 2 (Class): If not in instance, Python checks Class.__dict__, then MRO parent classes.</a:t>
            </a:r>
          </a:p>
          <a:p>
            <a:pPr>
              <a:spcAft>
                <a:spcPts val="400"/>
              </a:spcAft>
              <a:defRPr sz="920">
                <a:solidFill>
                  <a:srgbClr val="334155"/>
                </a:solidFill>
              </a:defRPr>
            </a:pPr>
            <a:r>
              <a:t>• Shadowing Trap: s1.campus = 'North' writes to s1.__dict__. It NEVER modifies KITStudent.campus!</a:t>
            </a:r>
          </a:p>
          <a:p>
            <a:pPr>
              <a:spcAft>
                <a:spcPts val="400"/>
              </a:spcAft>
              <a:defRPr sz="920">
                <a:solidFill>
                  <a:srgbClr val="334155"/>
                </a:solidFill>
              </a:defRPr>
            </a:pPr>
            <a:r>
              <a:t>• Mutable Class Trap: clubs = [] at class level is shared by ALL students! Always initialize inside __init__.</a:t>
            </a:r>
          </a:p>
          <a:p>
            <a:pPr>
              <a:spcAft>
                <a:spcPts val="400"/>
              </a:spcAft>
              <a:defRPr sz="920">
                <a:solidFill>
                  <a:srgbClr val="334155"/>
                </a:solidFill>
              </a:defRPr>
            </a:pPr>
            <a:r>
              <a:t>• Instance Method: Takes self. Accesses unique instance state (e.g. s1.record_exam_score()).</a:t>
            </a:r>
          </a:p>
          <a:p>
            <a:pPr>
              <a:spcAft>
                <a:spcPts val="400"/>
              </a:spcAft>
              <a:defRPr sz="920">
                <a:solidFill>
                  <a:srgbClr val="334155"/>
                </a:solidFill>
              </a:defRPr>
            </a:pPr>
            <a:r>
              <a:t>• Class Method: Takes cls. Modifies class state or acts as factory constructor (from_csv).</a:t>
            </a:r>
          </a:p>
          <a:p>
            <a:pPr>
              <a:spcAft>
                <a:spcPts val="400"/>
              </a:spcAft>
              <a:defRPr sz="920">
                <a:solidFill>
                  <a:srgbClr val="334155"/>
                </a:solidFill>
              </a:defRPr>
            </a:pPr>
            <a:r>
              <a:t>• Static Method: Takes no self/cls. Pure isolated utility function (validate_usn).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6858000" cy="8229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66360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</a:defRPr>
            </a:pPr>
            <a:r>
              <a:t>IITian Rule of Thumb — Where to Use What: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If state belongs to one entity -&gt; Instance. If state belongs to the blueprint -&gt; Class. If logic needs no state -&gt; Static utility.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4.3A · ARCHITECTURAL CONTRACTS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Abstraction: Enforcing Mandatory Campus Interfaces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Using abc.ABC and @abstractmethod to guarantee that incomplete entities cannot exist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8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C3AED"/>
                </a:solidFill>
              </a:defRPr>
            </a:pPr>
            <a:r>
              <a:t>1. What is Abstraction?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Hiding Complexity: Users only see WHAT an object does, not HOW it works internally.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Campus Contract: The governing board declares: every campus member MUST have a role summary and payout formula!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Design First: Architects define blueprints before engineers build concrete subclasses.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2. abc.ABC &amp; @abstractmethod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from abc import ABC: Inherit from ABC to mark class as an abstract base.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@abstractmethod: Decorate methods that subclasses are legally REQUIRED to implement.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Contract Enforcement: If a subclass forgets to implement an abstract method, Python blocks it!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11D48"/>
                </a:solidFill>
              </a:defRPr>
            </a:pPr>
            <a:r>
              <a:t>3. Direct Instantiation Shield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Can't Instantiate Ghost: CollegeMember('Ghost') raises TypeError immediately.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Error Message: "Can't instantiate abstract class with abstract methods get_role_summary"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Bug Elimination: Eliminates half-baked objects before your app ever reaches production.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4.3A · DATA PROTECTION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Encapsulation &amp; Access Modifiers: Public, Protected &amp; Private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How Python protects sensitive grades and why 'We are all consenting adults'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9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1. Public &amp; Protected (_)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Public (self.usn): Freely accessible anywhere across campus programs.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Protected (self._conduct): Single underscore prefix. Developer convention: 'Internal use only; do not tamper!'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Subclass Friendly: Protected variables are easily inherited by child classes.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11D48"/>
                </a:solidFill>
              </a:defRPr>
            </a:pPr>
            <a:r>
              <a:t>2. Private (__) &amp; Name Mangling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Double Underscore: __cgpa and __salary trigger Name Mangling.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Accidental Block: student.__cgpa from outside raises AttributeError.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Behind the Scenes: Python renames it to _Student__cgpa in RAM to prevent accidental overrides!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</a:defRPr>
            </a:pPr>
            <a:r>
              <a:t>3. 'Consenting Adults' Rule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Guido's Philosophy: Python does not build impenetrable C++ walls.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Trust the Developer: You CAN access student._Student__cgpa, but it violates the API contract!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Standard Practice: Use @property getters and setters for all controlled data.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4.3A · PYTHONIC ATTRIBUTES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The Gatekeeper: @property Getter, Setter &amp; Deleter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Writing clean attribute access while strictly validating grades and sensitive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10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1. @property Getter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Clean Syntax: Write print(student.cgpa) without ugly parentheses .get_cgpa()!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Read-Only Shield: Omit the setter to make any attribute permanently immutable.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Computed Fields: Can compute student standing or honors status dynamically on read.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2. @cgpa.setter Guardrail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Strict Validation: if 0.0 &lt;= new_grade &lt;= 10.0: save it!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Crash Prevention: Raises ValueError if someone inputs negative or impossible marks (e.g. 15.0).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Enterprise Standard: Identical to how Pydantic and PyTorch validate inputs.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</a:defRPr>
            </a:pPr>
            <a:r>
              <a:t>3. @cgpa.deleter Action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del student.cgpa: Controls what happens when an attribute deletion is attempted.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Safe Reset: Instead of deleting records, resets grade to 0.0 with a security log!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Audit Trail: Logs who triggered the deletion and when.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4.3A · CAMPUS ARCHITECTURE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The KIT College Model: Complete Entity Hierarchy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Modeling our campus: Abstract Base, Student (USN), Faculty, Management &amp; Support Staff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11 of 30</a:t>
            </a:r>
          </a:p>
        </p:txBody>
      </p:sp>
      <p:pic>
        <p:nvPicPr>
          <p:cNvPr id="4" name="Picture 3" descr="day2_college_oops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685800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9164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Campus Hierarchy Overview: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CollegeMember(ABC): Abstract base class requiring get_role_summary() &amp; calculate_payout().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Student: Has USN (e.g. '1KT23AI001'), branch, private __cgpa, and merit payouts.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TeachingStaff: Professors conducting lectures and research.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ManagementStaff: Principal &amp; Deans approving departmental budgets.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SupportStaff: AI Lab Attendants servicing GPU racks.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TeachingAssistant: Multiple inheritance: Student + TeachingStaff!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6858000" cy="960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6492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</a:defRPr>
            </a:pPr>
            <a:r>
              <a:t>The USN Standard at KIT: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In college, roll numbers are replaced by official University Seat Numbers (USN: 1KT23AI001). Every student record is uniquely mapped to their USN!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4.3A · OBJECT-ORIENTED POWER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The 5 Types of Inheritance in Python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Single, Multilevel, Hierarchical, Multiple, and Hybrid (Diamond) 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12 of 30</a:t>
            </a:r>
          </a:p>
        </p:txBody>
      </p:sp>
      <p:pic>
        <p:nvPicPr>
          <p:cNvPr id="4" name="Picture 3" descr="day2_inheritance_types_and_mr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685800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9164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Real Campus Examples: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1. Single: Person -&gt; Student (One parent to one child).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2. Multilevel: CollegeMember -&gt; Staff -&gt; TeachingStaff (A chain of inheritance).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3. Hierarchical: CollegeMember -&gt; Student, Staff, Management (One parent, many siblings).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4. Multiple: TeachingAssistant(Student, TeachingStaff) (Two parents!).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5. Hybrid / Diamond: TA connects back to CollegeMember via two separate branches!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6858000" cy="96012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6492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7C3AED"/>
                </a:solidFill>
              </a:defRPr>
            </a:pPr>
            <a:r>
              <a:t>Why Multiple Inheritance Matters: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In Python, a Teaching Assistant is genuinely both a Student (takes exams) and an Employee (grades lab sessions). Multiple inheritance captures this duality!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4.3A · DIAMOND RESOLUTION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MRO (Method Resolution Order) &amp; C3 Linearization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How Python resolves diamond inheritance without duplicate method calls or ambiguities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13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11D48"/>
                </a:solidFill>
              </a:defRPr>
            </a:pPr>
            <a:r>
              <a:t>1. The Diamond Problem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Two Parent Paths: Both Student and Staff inherit from CollegeMember.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Ambiguity Hazard: If both override get_role(), which one should TA execute?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C++ Flaw: In naive languages, the base constructor runs twice! Python solves this.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2. C3 Linearization Algorithm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Strict Ordering: Children appear before parents; parent order in class def is preserved.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No Duplicates: Guarantees every base class in the tree is visited exactly once!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Inspection: Check any class with TeachingAssistant.__mro__ or .mro().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3. Cooperative super()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Not Just Parent: super() doesn't call the immediate parent—it follows the MRO chain!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Chain Order: [TA -&gt; Student -&gt; TeachingStaff -&gt; Staff -&gt; CollegeMember -&gt; object]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Seamless Coordination: Ensures all initializers and methods coordinate harmoniously.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4.3A · CAMPUS OPERATIONS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Campus Roles: Management Staff &amp; Support Staff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Empowering the entire institution: Leadership, Professors, Lab Technicians &amp; Attendants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14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C3AED"/>
                </a:solidFill>
              </a:defRPr>
            </a:pPr>
            <a:r>
              <a:t>1. Management Staff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Campus Leadership: Principal, Deans, Registrar running administration.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Specific Methods: approve_budget('AI Lab', 850000.0) and set_academic_calendar().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Governance: Ensures college accreditation and institutional operations run smoothly.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</a:defRPr>
            </a:pPr>
            <a:r>
              <a:t>2. Support Staff &amp; Workers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Department Backbone: AI Lab Attendants, GPU Engineers, Network Techs.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Specific Methods: perform_maintenance('NVIDIA RTX 4090 Rack') and lab_inventory_audit().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Operational Health: Keeps high-performance AI compute clusters running 24/7.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ECFE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284C7"/>
                </a:solidFill>
              </a:defRPr>
            </a:pPr>
            <a:r>
              <a:t>3. Teaching Assistant (TA)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Hybrid Scholar: Senior student who studies and instructs lab sections.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Dual Role: Enjoys student merit scholarships + employee monthly stipend.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Lab Leadership: ta_meera.conduct_lecture('YOLOv8 Computer Vision Lab')!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4.3A · POLYMORPHISM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Polymorphism: Dynamic Duck Typing vs Static Overloading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Why Python has no method signature overloading and how we solve it with modern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15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1. Dynamic Polymorphism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Duck Typing: 'If it walks like a duck and quacks like a duck, it's a duck!'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Unified Loop: for m in campus: print(m.get_role_summary())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No Type Checks: Zero need for ugly if isinstance(...) checks; Python dispatches at runtime automatically!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11D48"/>
                </a:solidFill>
              </a:defRPr>
            </a:pPr>
            <a:r>
              <a:t>2. Static Overloading Truth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No Signature Overloading: In Java, you can have 2 methods with different parameter types.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Python Overwrite: In Python, defining def foo() a second time completely REPLACES the first!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Why?: Python is dynamically typed; signatures are checked at call time, not compile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3. Python's Overloading Solutions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Default Arguments: def register(usn, hostel=None, scholarship=0)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Arbitrary Arguments: Use *args and **kwargs to handle variable parameters.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@singledispatch: Built-in functools module dispatches based on the type of the first argument!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4.3A · OPERATOR MAGIC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Operator Overloading: Custom Math &amp; Logic Operators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Teaching +, &gt;, &lt;, and == to interact seamlessly with our custom campus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16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1. Arithmetic: __add__ (+)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Math on Objects: Enables writing student1 + student2!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Summing Credits: Combines exam marks or team project credit scores.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Fallback: Return NotImplemented if the other operand type is unsupported.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</a:defRPr>
            </a:pPr>
            <a:r>
              <a:t>2. Comparisons: __gt__ &amp; __lt__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Direct Ranking: Enables s1 &gt; s2 based on academic CGPA.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sorted() Integration: Implementing __lt__ allows Python's sorted(students) to work automatically!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Clean Analytics: Sort thousands of student records in 1 line of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3. Equality: __eq__ (==)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By Value, Not Pointer: Default == checks if memory addresses match. That's usually not what we want!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USN Matching: __eq__ checks if self.usn == other.usn.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Duplicate Detection: Identifies duplicate student entries across campus databases instantly.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4.3A · MAGIC PYTHON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Dunder Methods: __str__ vs __repr__ &amp; Container Protocols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Making custom classes native: Human report cards, developer debugging, and department containers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17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1. __str__ vs __repr__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__str__ (Human): Clean, friendly view for students &amp; parents: '🎓 KIT Student: Sundeep | USN: 1KT23AI001'.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__repr__ (Dev Debug): Unambiguous developer view: Student(name='Sundeep', usn='1KT23AI001', cgpa=9.6).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Golden Rule: __repr__ should ideally produce a string that can recreate the object in code!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2. __len__ &amp; __getitem__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len(department): Returns enrolled student count without writing dept.get_count().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department[0]: Accesses first student by integer index.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department['1KT23AI001']: Accesses student directly by USN string through bracket syntax!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</a:defRPr>
            </a:pPr>
            <a:r>
              <a:t>3. __contains__ &amp; __iter__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'1KT23AI001' in dept: Enables lightning-fast membership checking using the 'in' keyword!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for student in dept: __iter__ makes the department iterable in standard for loops.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PyTorch Connection: This exact container protocol powers PyTorch Dataset and DataLoader!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4.3A · DEEP MEMORY MECHANICS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String Internals, Immutability &amp; The Hash Contract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Why strings are immutable, how hash tables achieve O(1) speed, and CPython string interning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18 of 30</a:t>
            </a:r>
          </a:p>
        </p:txBody>
      </p:sp>
      <p:pic>
        <p:nvPicPr>
          <p:cNvPr id="4" name="Picture 3" descr="day2_string_internals_and_memory_pool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6858000" cy="3429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9164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Character Pooling &amp; Hash Invariance:</a:t>
            </a:r>
          </a:p>
          <a:p>
            <a:pPr>
              <a:spcAft>
                <a:spcPts val="400"/>
              </a:spcAft>
              <a:defRPr sz="920">
                <a:solidFill>
                  <a:srgbClr val="334155"/>
                </a:solidFill>
              </a:defRPr>
            </a:pPr>
            <a:r>
              <a:t>• Singleton Pooling: 'Ganesh'[1] and 'Kavya'[1] share the EXACT same heap pointer (0x7FFE2FD9A8F8) in the 256 Latin-1 singleton pool!</a:t>
            </a:r>
          </a:p>
          <a:p>
            <a:pPr>
              <a:spcAft>
                <a:spcPts val="400"/>
              </a:spcAft>
              <a:defRPr sz="920">
                <a:solidFill>
                  <a:srgbClr val="334155"/>
                </a:solidFill>
              </a:defRPr>
            </a:pPr>
            <a:r>
              <a:t>• Hash Contract: a == b =&gt; hash(a) == hash(b). Overriding __eq__ disables __hash__. Explicitly implement __hash__ on classes to enable set() and dict keys.</a:t>
            </a:r>
          </a:p>
          <a:p>
            <a:pPr>
              <a:spcAft>
                <a:spcPts val="400"/>
              </a:spcAft>
              <a:defRPr sz="920">
                <a:solidFill>
                  <a:srgbClr val="334155"/>
                </a:solidFill>
              </a:defRPr>
            </a:pPr>
            <a:r>
              <a:t>• String Interning: sys.intern() ensures identical identifiers share 1 RAM address. Dictionary lookups become 1-cycle pointer equality checks!</a:t>
            </a:r>
          </a:p>
          <a:p>
            <a:pPr>
              <a:spcAft>
                <a:spcPts val="400"/>
              </a:spcAft>
              <a:defRPr sz="920">
                <a:solidFill>
                  <a:srgbClr val="334155"/>
                </a:solidFill>
              </a:defRPr>
            </a:pPr>
            <a:r>
              <a:t>• Why Immutability?: If 'a' could mutate to 'o', 'Ganesh' would mutate to 'Gonesh' AND 'Kavya' would mutate to 'Kovyo'! Plus, hash changes break dict buckets permanently.</a:t>
            </a:r>
          </a:p>
          <a:p>
            <a:pPr>
              <a:spcAft>
                <a:spcPts val="400"/>
              </a:spcAft>
              <a:defRPr sz="920">
                <a:solidFill>
                  <a:srgbClr val="334155"/>
                </a:solidFill>
              </a:defRPr>
            </a:pPr>
            <a:r>
              <a:t>• SipHash-2-4 Defense: Random PYTHONHASHSEED salting eliminates HashDoS algorithmic complexity attacks on web servers.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6858000" cy="8229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66360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</a:defRPr>
            </a:pPr>
            <a:r>
              <a:t>Python Live Memory Verification: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('Ganesh'[1] is 'Kavya'[1]) == True  |  id('Ganesh'[1]) == id('Kavya'[1]) == 0x7FFE2FD9A8F8  |  Singletons shared across RAM!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INDUSTRY INSIGHTS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Why Python Rules AI: Developer Velocity + C/CUDA Engines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High-level English readability on top, powered by blistering C and NVIDIA CUDA kernels below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19 of 30</a:t>
            </a:r>
          </a:p>
        </p:txBody>
      </p:sp>
      <p:pic>
        <p:nvPicPr>
          <p:cNvPr id="4" name="Picture 3" descr="day2_python_efficiency_and_librari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685800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9164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The AI Developer Advantage: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• Developer Velocity: Human engineering time is expensive; cloud GPU time is cheap. Python writes in 10 lines what takes 100 in Java.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• C Engine Secret: PyTorch, NumPy, and TensorFlow execute in compiled C/C++ and CUDA.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• Best of Both Worlds: Python serves as the steering wheel for high-performance C++ Formula 1 engines!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• Batteries Included: Built-in math, json, os, datetime, and collections.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• PyPI Ecosystem: 500,000+ packages: HuggingFace, LangChain, Transformers, OpenCV.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6858000" cy="960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6492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</a:defRPr>
            </a:pPr>
            <a:r>
              <a:t>Vectorization Speedup Benchmark: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In Notebook 02, we benchmark 1,000,000 score calculations: Pure Python takes ~85 ms, while NumPy takes ~0.8 ms (100x speedup!) due to underlying C vectorization.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HANDS-ON PRACTICE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Let's Open Notebook 02: KIT College OOP Master Simulation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Instantiate yourself with a USN, test MRO, override operators, and manage your department!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20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389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0B981"/>
                </a:solidFill>
              </a:defRPr>
            </a:pPr>
            <a:r>
              <a:t>📓 Open: notebooks/day_02/02_day2_college_oops_kit_institute.ipynb</a:t>
            </a:r>
          </a:p>
          <a:p>
            <a:pPr>
              <a:spcAft>
                <a:spcPts val="700"/>
              </a:spcAft>
              <a:defRPr sz="1250">
                <a:solidFill>
                  <a:srgbClr val="334155"/>
                </a:solidFill>
              </a:defRPr>
            </a:pPr>
            <a:r>
              <a:t>1. Open Notebook 02 and verify that instantiating CollegeMember(ABC) directly raises TypeError.</a:t>
            </a:r>
          </a:p>
          <a:p>
            <a:pPr>
              <a:spcAft>
                <a:spcPts val="700"/>
              </a:spcAft>
              <a:defRPr sz="1250">
                <a:solidFill>
                  <a:srgbClr val="334155"/>
                </a:solidFill>
              </a:defRPr>
            </a:pPr>
            <a:r>
              <a:t>2. Create Student Sundeep with USN '1KT23AI001' and test private __cgpa guardrails.</a:t>
            </a:r>
          </a:p>
          <a:p>
            <a:pPr>
              <a:spcAft>
                <a:spcPts val="700"/>
              </a:spcAft>
              <a:defRPr sz="1250">
                <a:solidFill>
                  <a:srgbClr val="334155"/>
                </a:solidFill>
              </a:defRPr>
            </a:pPr>
            <a:r>
              <a:t>3. Inspect TeachingAssistant.__mro__ and watch C3 Linearization resolve diamond inheritance.</a:t>
            </a:r>
          </a:p>
          <a:p>
            <a:pPr>
              <a:spcAft>
                <a:spcPts val="700"/>
              </a:spcAft>
              <a:defRPr sz="1250">
                <a:solidFill>
                  <a:srgbClr val="334155"/>
                </a:solidFill>
              </a:defRPr>
            </a:pPr>
            <a:r>
              <a:t>4. Test operator overloading: Add marks with +, sort students with &gt;, and check USN equality with ==.</a:t>
            </a:r>
          </a:p>
          <a:p>
            <a:pPr>
              <a:spcAft>
                <a:spcPts val="700"/>
              </a:spcAft>
              <a:defRPr sz="1250">
                <a:solidFill>
                  <a:srgbClr val="334155"/>
                </a:solidFill>
              </a:defRPr>
            </a:pPr>
            <a:r>
              <a:t>5. Populate KITDepartment and access students via index and USN string (ai_dept['1KT23AI001'])!</a:t>
            </a:r>
          </a:p>
          <a:p>
            <a:pPr>
              <a:spcAft>
                <a:spcPts val="700"/>
              </a:spcAft>
              <a:defRPr sz="1250">
                <a:solidFill>
                  <a:srgbClr val="334155"/>
                </a:solidFill>
              </a:defRPr>
            </a:pPr>
            <a:r>
              <a:t>6. Run the live NumPy vs Pure Python benchmark to witness the 100x C-vectorization speedup!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4.1A · CRASH-PROOF CODE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The 4-Stage Defensive Exception Lifecycle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How we ensure our software never crashes when bad inputs, missing files, or network timeouts happen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21 of 30</a:t>
            </a:r>
          </a:p>
        </p:txBody>
      </p:sp>
      <p:pic>
        <p:nvPicPr>
          <p:cNvPr id="4" name="Picture 3" descr="day2_exception_handling_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6858000" cy="2926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9164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The 4 Golden Stages: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1. try: Place only the risky code here (opening files, network requests, math division).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2. except ErrorType: Catches specific problems gracefully. Never use bare except:!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3. else: Runs ONLY if the try block completed with zero errors. Keeps success logic clean.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4. finally: Runs ALWAYS, whether an error occurred or not! Perfect for closing database connections.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09160"/>
            <a:ext cx="6858000" cy="12344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6492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</a:defRPr>
            </a:pPr>
            <a:r>
              <a:t>Production Exception Rule: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Never silence errors with 'except: pass'. That creates invisible bugs that corrupt databases and AI pipelines. Always log the error or re-raise with context!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4.1A · ERROR TAXONOMY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Built-In vs Custom Domain Exceptions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Catching specific errors and defining college business rule exceptions like AttendanceShortageError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22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11D48"/>
                </a:solidFill>
              </a:defRPr>
            </a:pPr>
            <a:r>
              <a:t>1. Common Built-In Errors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ValueError: Right data type, but illegal value (e.g., CGPA = 15.0).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FileNotFoundError: Trying to read a dataset that doesn't exist on disk.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ZeroDivisionError: Dividing by zero in average calculation.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KeyError: Searching for a student USN missing from dictionary.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2. Custom Domain Exceptions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class AttendanceShortageError(Exception): Subclass from Python's base Exception.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Domain Clarity: Signals domain-specific business rules to callers.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raise keyword: raise AttendanceShortageError(f'{usn} has only {pct}% attendance!')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3. Defensive AI Engineering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API Rate Limits: Catch 429 TooManyRequests and retry with exponential backoff.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Context Length: Catch TokenLimitExceeded and automatically truncate prompt history.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Model Failovers: Fall back to a local model if the cloud API times out.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4.2A · DATA PERSISTENCE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Safe File Handling: The 'with open()' Context Manager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Automatic resource acquisition and cleanup that eliminates file handle leaks permanently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23 of 30</a:t>
            </a:r>
          </a:p>
        </p:txBody>
      </p:sp>
      <p:pic>
        <p:nvPicPr>
          <p:cNvPr id="4" name="Picture 3" descr="day2_file_handling_lifecyc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6858000" cy="2926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9164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File Modes Guide: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'r' (Read): Default mode. Raises FileNotFoundError if file is missing.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'w' (Write): Overwrites existing file completely or creates a new one.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'a' (Append): Adds new lines at the end without erasing previous data.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encoding='utf-8': Always specify utf-8 to avoid international encoding bugs!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line streaming: for line in file: streams massive gigabyte files with O(1) RAM!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09160"/>
            <a:ext cx="6858000" cy="123444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6492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</a:defRPr>
            </a:pPr>
            <a:r>
              <a:t>The Golden Rule of File I/O: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Never write manual 'f = open(...)' and 'f.close()'. If an error happens before close(), the OS file lock leaks. 'with open()' guarantees cleanup 100% of the time!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4.2B · REAL-WORLD DATA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Processing Tabular Data: CSV &amp; JSON Streams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Reading student records, serializing model configurations, and managing AI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24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1. Writing CSVs with csv.writer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import csv: Python's standard library module for tabular spreadsheets.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writer.writerow([headers]): Writes USN, Name, Branch, CGPA.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writer.writerows(rows): Dumps complete student batches in one shot with automatic escaping.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2. Reading with csv.DictReader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Dict Mapping: Turns every CSV row into a clean dictionary {'USN': '1KT23AI001'}!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Header Resilient: Code doesn't break if column order in the CSV changes.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Flat Memory Usage: Streams row-by-row without loading the whole file into RAM.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</a:defRPr>
            </a:pPr>
            <a:r>
              <a:t>3. JSON Configurations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json.dump(data, file): Saves Python dicts directly as structured JSON files.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json.load(file): Loads hyperparameters and student profiles back into Python.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Universal Standard: The universal format for REST APIs, LLM prompts, and tool calling.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HANDS-ON PRACTICE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Let's Open Notebook 03: Errors &amp; Safe File Handling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Test defensive error recovery and generate student CSV rosters on disk!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25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389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D97706"/>
                </a:solidFill>
              </a:defRPr>
            </a:pPr>
            <a:r>
              <a:t>📓 Open: notebooks/day_02/03_day2_errors_and_file_handling.ipynb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1. Open Notebook 03 and run the exam score parser with valid, invalid, and string inputs.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2. Observe how the finally block executes every single time for audit telemetry.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3. Write a batch of KIT student records to 'kit_students_roster.csv' using USN.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4. Stream the CSV records back using csv.DictReader and filter for honors students (CGPA &gt;= 9.0).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5. Complete the missing file error recovery challenge and verify that your script doesn't crash!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6.1A · COLLABORATION HIGHWAY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The Git &amp; GitHub Workflow Highway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How modern developers track milestones locally and collaborate across teams globally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26 of 30</a:t>
            </a:r>
          </a:p>
        </p:txBody>
      </p:sp>
      <p:pic>
        <p:nvPicPr>
          <p:cNvPr id="4" name="Picture 3" descr="day2_git_workflow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6858000" cy="2926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554480"/>
            <a:ext cx="35661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9164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The 4 Git Zones: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1. Working Directory: Your active folder where you edit Python code.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2. Staging Area: The packaging zone (git add .). Choose exactly what to include.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3. Local Repository: Permanent snapshot with author &amp; message (git commit -m).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4. Remote GitHub: Cloud repository for team collaboration and backup (git push).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09160"/>
            <a:ext cx="6858000" cy="12344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6492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</a:defRPr>
            </a:pPr>
            <a:r>
              <a:t>Git Mental Model: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Git is not just backup; it is a time machine! Every commit is a checkpoint you can return to if a new experiment breaks your model.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6.1A · PROFESSIONAL WORKFLOW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The Daily Git Cycle &amp; Feature Branching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Writing clean commit messages, inspecting changes, and creating safe development branches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27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1. Daily Command Cycle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git status: Checks modified files in your working directory.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git add .: Stages all modified files for the next commit.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git commit -m 'feat': Creates permanent snapshot with a descriptive message.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git push origin main: Uploads local commits to GitHub cloud.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2. Safe Feature Branching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Never code on main: Production code lives on main; new features get their own branch.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git checkout -b feat/ai: Creates and switches to a new feature branch.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git branch -a: Lists all local and remote branches.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git merge feat/ai: Merges tested feature into main.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</a:defRPr>
            </a:pPr>
            <a:r>
              <a:t>3. Inspection &amp; History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git log --oneline: Compact visual view of commit history.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git diff: Shows exact line-by-line additions and deletions.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git restore file.py: Discards unwanted uncommitted local changes instantly.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6.1B · OPEN SOURCE STANDARDS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Production .gitignore &amp; The Pull Request (PR) Highway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Protecting API secrets, preventing multi-gigabyte model commits, and collaborating on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28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38912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11D48"/>
                </a:solidFill>
              </a:defRPr>
            </a:pPr>
            <a:r>
              <a:t>1. Essential AI .gitignore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.env (CRITICAL): Never commit API keys or database passwords!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*.pt / *.onnx / *.safetensors: Large model weights belong on HuggingFace or S3, not in Git!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__pycache__/ &amp; *.pyc: Compiled Python bytecodes.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.venv/ &amp; env/: Virtual environments.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554480"/>
            <a:ext cx="3337560" cy="4389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F46E5"/>
                </a:solidFill>
              </a:defRPr>
            </a:pPr>
            <a:r>
              <a:t>2. The Pull Request (PR)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Propose Changes: Push feature branch to GitHub and open a Pull Request.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Peer Review: Teammates review code diffs, comment on lines, and request tweaks.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CI/CD Automation: Automated GitHub Actions run pytest test suites on every PR.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554480"/>
            <a:ext cx="3337560" cy="4389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916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3. Open Source Collaboration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Forking: Create your personal copy of an open source repo on GitHub.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Upstream Sync: Keep your fork updated with the main project.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Merge &amp; Deploy: Once approved, PR merges into main and triggers automatic deployment!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HANDS-ON PRACTICE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Let's Open Notebook 04: Git &amp; GitHub Live Repo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Initialize a Git repository, write an AI .gitignore, make commits, and simulate branches!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29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389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4F46E5"/>
                </a:solidFill>
              </a:defRPr>
            </a:pPr>
            <a:r>
              <a:t>📓 Open: notebooks/day_02/04_day2_git_and_github_essentials.ipynb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1. Open Notebook 04 and initialize a test Git repository using Python's subprocess.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2. Create a production .gitignore file blocking .env, large model weights, and __pycache__.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3. Stage student scripts and make a clean semantic commit: 'feat: add kit college student model'.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4. Create a feature branch 'feat/rag-pipeline' and verify its isolation from main.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5. Inspect git log --oneline to view your permanent repository timeline!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F46E5"/>
                </a:solidFill>
                <a:latin typeface="Segoe UI" panose="020B0502040204020203"/>
              </a:defRPr>
            </a:pPr>
            <a:r>
              <a:t>DAY 2 GRADUATION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 panose="020B0502040204020203"/>
              </a:defRPr>
            </a:pPr>
            <a:r>
              <a:t>Master Summary: You are Now an Object-Oriented AI Developer!</a:t>
            </a:r>
          </a:p>
          <a:p>
            <a:pPr>
              <a:defRPr sz="1100">
                <a:solidFill>
                  <a:srgbClr val="64748B"/>
                </a:solidFill>
                <a:latin typeface="Segoe UI" panose="020B0502040204020203"/>
              </a:defRPr>
            </a:pPr>
            <a:r>
              <a:t>Congratulations on mastering functions, campus architecture, MRO, errors, and Git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Python for AI Developers · Day 2: Functions, KIT College OOP, Errors &amp; Git</a:t>
            </a:r>
          </a:p>
          <a:p>
            <a:pPr algn="r">
              <a:defRPr sz="850">
                <a:solidFill>
                  <a:srgbClr val="94A3B8"/>
                </a:solidFill>
                <a:latin typeface="Segoe UI" panose="020B0502040204020203"/>
              </a:defRPr>
            </a:pPr>
            <a:r>
              <a:t>Slide 30 of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32918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F46E5"/>
                </a:solidFill>
              </a:defRPr>
            </a:pPr>
            <a:r>
              <a:t>Functions &amp; Modules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Modular reusable logic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*args &amp; **kwargs flexibility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Stopwatch @decorators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1-line lambda 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3864" y="1554480"/>
            <a:ext cx="2468880" cy="329184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66744" y="1691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KIT College OOP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Classes vs Objects in RAM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Abstraction (abc.ABC)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Encapsulation &amp; private __cgpa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USN: 1KT23AI001 standard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554480"/>
            <a:ext cx="2468880" cy="329184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691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7C3AED"/>
                </a:solidFill>
              </a:defRPr>
            </a:pPr>
            <a:r>
              <a:t>Advanced OOP &amp; MRO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5 Types of Inheritance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MRO C3 Linearization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Campus Hierarchy (Management)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Dynamic Polymorphism &amp; + &gt; ==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88552" y="1554480"/>
            <a:ext cx="2468880" cy="32918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71432" y="1691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97706"/>
                </a:solidFill>
              </a:defRPr>
            </a:pPr>
            <a:r>
              <a:t>Errors &amp; Git Highway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4-stage try/except/else/finally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with open() context manager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Git add, commit, push</a:t>
            </a:r>
          </a:p>
          <a:p>
            <a:pPr>
              <a:spcAft>
                <a:spcPts val="500"/>
              </a:spcAft>
              <a:defRPr sz="1050">
                <a:solidFill>
                  <a:srgbClr val="334155"/>
                </a:solidFill>
              </a:defRPr>
            </a:pPr>
            <a:r>
              <a:t>• PRs &amp; AI .gitignore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0728655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4F46E5"/>
                </a:solidFill>
              </a:defRPr>
            </a:pPr>
            <a:r>
              <a:t>🎉 What Comes Next in Day 3: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Tomorrow we enter Data Analysis &amp; Numerical Computing with NumPy and Pandas! You will leverage your OOP, error handling, and Git skills to build production data pipelines for Generative AI models.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28273</Words>
  <Application>WPS Presentation</Application>
  <PresentationFormat>On-screen Show (4:3)</PresentationFormat>
  <Paragraphs>610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7" baseType="lpstr">
      <vt:lpstr>Arial</vt:lpstr>
      <vt:lpstr>SimSun</vt:lpstr>
      <vt:lpstr>Wingdings</vt:lpstr>
      <vt:lpstr>Arial</vt:lpstr>
      <vt:lpstr>Segoe UI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Vikas Hiremat</cp:lastModifiedBy>
  <cp:revision>2</cp:revision>
  <dcterms:created xsi:type="dcterms:W3CDTF">2013-01-27T09:14:00Z</dcterms:created>
  <dcterms:modified xsi:type="dcterms:W3CDTF">2026-10-16T02:28:43Z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6A8077D66C644EF1B6F48F5C8639D7FA_12</vt:lpwstr>
  </property>
  <property fmtid="{D5CDD505-2E9C-101B-9397-08002B2CF9AE}" pid="3" name="KSOProductBuildVer">
    <vt:lpwstr>1033-12.1.0.28485</vt:lpwstr>
  </property>
</Properties>
</file>