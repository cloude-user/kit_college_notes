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11532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E40AF"/>
                </a:solidFill>
                <a:latin typeface="Segoe UI"/>
              </a:defRPr>
            </a:pPr>
            <a:r>
              <a:t>Day 06: Advanced RAG &amp; Workflow Orchestration</a:t>
            </a:r>
          </a:p>
          <a:p>
            <a:pPr>
              <a:spcAft>
                <a:spcPts val="1800"/>
              </a:spcAft>
              <a:defRPr sz="1800" b="0">
                <a:solidFill>
                  <a:srgbClr val="0052CC"/>
                </a:solidFill>
                <a:latin typeface="Segoe UI"/>
              </a:defRPr>
            </a:pPr>
            <a:r>
              <a:t>Adaptive Routing, Query Fusion, 3-Tier Confidence, LangChain vs LangGraph &amp; Self-Correcting Loops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Python AI Developer Curriculum · Enterprise Engineering Track · Udaan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 of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ARCHITECTURAL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Evolution of RAG: From Static to Self-Correcting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ARCHITECTURAL PROGRESSION: Naive pipelines fail on ambiguous real-world queries. Production demands dynamic routing, multiple data modalities, and bounded self-correction.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1. Naive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Fixed Pipeline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Query -&gt; Embed -&gt; Vector ANN -&gt; Top-K Chunks -&gt; Prompt -&gt; LLM</a:t>
            </a:r>
            <a:br/>
            <a:br/>
            <a:r>
              <a:t>Fails when: Chunks are irrelevant, query is multi-part, or answer requires structured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011680"/>
            <a:ext cx="2560320" cy="4114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9312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2. Advanced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Pre/Post Processing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Query Rewrite -&gt; Hybrid Search (BM25+HNSW) -&gt; Cross-Encoder Rerank -&gt; LLM</a:t>
            </a:r>
            <a:br/>
            <a:br/>
            <a:r>
              <a:t>Improves: Retrieval precision, but still follows a static linear path without retries.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11680"/>
            <a:ext cx="25603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3. Adaptive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Dynamic Routing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Query Classification -&gt; Route to Vector / SQL / Graph -&gt; Evaluate Evidence -&gt; Recover</a:t>
            </a:r>
            <a:br/>
            <a:br/>
            <a:r>
              <a:t>Powers: Custom retrieval strategy tailored to exact user intent and entity types.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011680"/>
            <a:ext cx="25603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4. Agentic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Autonomous Execution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LLM decides tool usage, inspects intermediate outputs, decomposes queries, and retries</a:t>
            </a:r>
            <a:br/>
            <a:br/>
            <a:r>
              <a:t>Tradeoff: Highest capability, but requires strict bounding to prevent runaway cost &amp; latency.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 of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FAILURE MODE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Why Naive RAG Fails in Production: The 4 Critical Failure Modes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PRODUCTION LESSON: High vector similarity score does NOT guarantee that the retrieved chunk answers the user's specific factual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Failure 1: Semantic Drift / High Noise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Query 'Rahul diabetes medication' pulls general diabetes care manuals with 0.89 cosine similarity, but Rahul's actual EHR prescription is completely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Failure 2: Lost in the Middle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When Top-K is bloated to 20 chunks hoping to capture missing facts, LLM attention degrades in the center of the prompt, ignoring critical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Failure 3: Schema Blindspots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Relational questions ('List all patients prescribed Metformin in October') fail in vector search because similarity cannot aggregate or filter table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Failure 4: Hallucinated Synthesis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When retrieved evidence is incomplete, LLM fills factual gaps from parametric memory, inventing medication dosages or policy rules.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 of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QUERY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Query Transformation: Multi-Query, Sub-Query &amp; Step-Back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 TRANSFORMATION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Multi-Query Expansion: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Generate 3-5 paraphrased variations of the user prompt to overcome keyword bias and embedding blindspots in vector search.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Sub-Query Decomposition: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Break compound questions ('Prescription for Rahul AND hospital policy on monitoring') into distinct independent sub-queries.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Step-Back Prompting: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Formulate a more abstract, high-level question to retrieve broad conceptual background before answering specific edge cases.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Query Disambiguation: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Extract implicit temporal constraints ('latest visit' -&gt; 2026-10-24) and resolve ambiguous pronouns ('his medication' -&gt; Rahul's prescription).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LANGCHAIN MULTI-QUERY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Multi-Query Expansion via Structured Output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class QueryVariations(BaseModel):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queries: list[str] = Field(..., max_length=4)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prompt = ChatPromptTemplate.from_messages([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('system', 'Generate 3 search variations:'),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('user', '{query}')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])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expansion_chain = prompt | llm.with_structured_output(QueryVariations)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Results feed into parallel retrieval &amp; RRF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sub_queries = expansion_chain.invoke({'query': q})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for sq in sub_queries.queries: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candidates.extend(vector_store.similarity_search(sq))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 of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MATHEMATICAL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Reciprocal Rank Fusion (RRF): The Mathematics of Hybrid Search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RRF FORMULA:  Score_RRF(d) = Σ  1 / ( k + rank_m(d) )  where k ≈ 60. RRF eliminates the need for score calibration across dense cosine similarities (0 to 1) and sparse BM25 scores (0 to ∞).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WHY RRF IS SUPERIOR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Rank Invariance: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Only the relative position (rank) matters, not the raw score. A BM25 score of 18.4 and cosine score of 0.82 don't need scaling.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Constant k = 60: </a:t>
            </a:r>
            <a:r>
              <a:rPr b="0" sz="1000">
                <a:solidFill>
                  <a:srgbClr val="334155"/>
                </a:solidFill>
                <a:latin typeface="Segoe UI"/>
              </a:rPr>
              <a:t>The smoothing constant k=60 prevents high-ranking outliers from dominating the blended score, ensuring balanced fusion.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Multi-List Merging: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Seamlessly merges rankings from 2, 5, or 10 parallel search passes (e.g. 3 paraphrased queries across both Dense + Sparse).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Deduplication Built-in: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Documents appearing in multiple lists receive additive score boosts, prioritizing high-consensus chunks.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PURE PYTHON RRF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reciprocal_rank_fusion(results_lists, k=60):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rrf_scores = defaultdict(float)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doc_lookup = {}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for r_list in results_lists: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for rank, doc in enumerate(r_list, start=1):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    doc_id = doc.metadata['id']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    doc_lookup[doc_id] = doc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    rrf_scores[doc_id] += 1.0 / (k + rank)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Sort by descending RRF score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sorted_ids = sorted(rrf_scores, key=rrf_scores.get, reverse=True)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[doc_lookup[d_id] for d_id in sorted_ids]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5 of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VECTOR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Dense (HNSW) vs Sparse (BM25): When and Why Each Wins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DENSE VECTOR (ANN / HNSW)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Mechanism: </a:t>
            </a:r>
            <a:r>
              <a:rPr b="0" sz="1000">
                <a:solidFill>
                  <a:srgbClr val="334155"/>
                </a:solidFill>
                <a:latin typeface="Segoe UI"/>
              </a:rPr>
              <a:t>Approximate Nearest Neighbors in high-dimensional embedding space (e.g., 768 or 1536 dims).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Conceptual, semantic matching, thematic inquiries, cross-lingual and paraphrased questions.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Weakness: </a:t>
            </a:r>
            <a:r>
              <a:rPr b="0" sz="1000">
                <a:solidFill>
                  <a:srgbClr val="334155"/>
                </a:solidFill>
                <a:latin typeface="Segoe UI"/>
              </a:rPr>
              <a:t>Blind to exact alphanumeric tokens (MRN-9021, ICD-10 codes, Drug Lot numbers, rare gene names).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Latency / Memory: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Requires high RAM for index graphs (HNSW) and GPU/CPU inference for query vectorization.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9260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SPARSE LEXICAL (BM25 / SPLADE)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Mechanism: </a:t>
            </a:r>
            <a:r>
              <a:rPr b="0" sz="1000">
                <a:solidFill>
                  <a:srgbClr val="334155"/>
                </a:solidFill>
                <a:latin typeface="Segoe UI"/>
              </a:rPr>
              <a:t>Term Frequency - Inverse Document Frequency (TF-IDF) with document length normalization.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Exact keyword match, part numbers, medical record IDs, specific drug brands, error codes.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Weakness: </a:t>
            </a:r>
            <a:r>
              <a:rPr b="0" sz="1000">
                <a:solidFill>
                  <a:srgbClr val="334155"/>
                </a:solidFill>
                <a:latin typeface="Segoe UI"/>
              </a:rPr>
              <a:t>Zero semantic understanding; misses synonyms ('myocardial infarction' vs 'heart attack').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Production Verdict: </a:t>
            </a:r>
            <a:r>
              <a:rPr b="0" sz="1000">
                <a:solidFill>
                  <a:srgbClr val="334155"/>
                </a:solidFill>
                <a:latin typeface="Segoe UI"/>
              </a:rPr>
              <a:t>Hybrid search with RRF or weighted convex combination gives 15-25% higher recall than either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6 of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EVALUATION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What Does Confidence Actually Mean? The 3 Disjoint Tiers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CRITICAL DISTINCTION: Do not conflate retrieval match with truth. Confidence must be audited across 3 distinct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A: Retrieval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Query-Candidate Match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Measures how strongly retrieved chunks match the query tokens.</a:t>
            </a:r>
            <a:br/>
            <a:br/>
            <a:r>
              <a:t>Metrics: Cross-encoder reranker score (0.0 - 1.0), top-1 to top-k score margin.</a:t>
            </a:r>
            <a:br/>
            <a:br/>
            <a:r>
              <a:t>Action if Low: Query rewrite, BM25 fallback, multi-query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4114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B: Evidence Sufficiency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Information Completeness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Checks whether chunks contain the necessary factual payload.</a:t>
            </a:r>
            <a:br/>
            <a:br/>
            <a:r>
              <a:t>Example: A chunk discusses diabetes treatments, but lacks Rahul's prescription.</a:t>
            </a:r>
            <a:br/>
            <a:br/>
            <a:r>
              <a:t>Action if Low: Reroute to SQL database or clinical EHR lookup.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4747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C: Answer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Faithfulness &amp; Grounding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Verifies whether every sentence in the generated answer is backed by citations.</a:t>
            </a:r>
            <a:br/>
            <a:br/>
            <a:r>
              <a:t>Checks: Deterministic entity checks, NLI entailment, hallucination detectors.</a:t>
            </a:r>
            <a:br/>
            <a:br/>
            <a:r>
              <a:t>Action if Low: Constrain temperature, retry generation, or flag for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7 of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CONFIDENCE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Tier A: Retrieval Confidence &amp; Cross-Encoder Reranking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RERANKER SCORING &amp;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Cross-Encoder Full Attention: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Unlike bi-encoders which embed query and document independently, cross-encoders pass (Query, Doc) jointly through transformer self-attention layers.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Relevance Score Calibration: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Outputs a true probability P(Relevant | Query, Doc). Chunks scoring below 0.65 are discarded as noise.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Score Gap Analysis: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Rank 1 = 0.92 and Rank 2 = 0.40, confidence is high. If Rank 1 = 0.61 and Rank 2 = 0.60, the retriever is uncertain.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Cost vs Precision Tradeoff: </a:t>
            </a:r>
            <a:r>
              <a:rPr b="0" sz="1000">
                <a:solidFill>
                  <a:srgbClr val="334155"/>
                </a:solidFill>
                <a:latin typeface="Segoe UI"/>
              </a:rPr>
              <a:t>Cross-encoders are compute-heavy. Standard practice: Bi-encoder pulls Top-50 candidates, Cross-encoder reranks Top-5 for prompt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CROSS-ENCODER CONFIDENCE EVALUATOR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sentence_transformers import CrossEncoder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reranker = CrossEncoder('cross-encoder/ms-marco-MiniLM-L-6-v2')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evaluate_retrieval_confidence(query, candidate_docs, threshold=0.70):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pairs = [[query, d.page_content] for d in candidate_docs]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scores = reranker.predict(pairs)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Attach scores and sort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for doc, score in zip(candidate_docs, scores):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doc.metadata['rerank_score'] = float(score)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reranked = sorted(candidate_docs, key=lambda x: x.metadata['rerank_score'], reverse=True)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top_score = reranked[0].metadata['rerank_score'] if reranked else 0.0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reranked, top_score &gt;=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8 of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CONFIDENCE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Tier B: Evidence Sufficiency (Entity &amp; Slot Completeness)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THE PRESCRIPTION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The Diagnostic Question: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Does the retrieved text actually contain the specific fact requested, or merely surrounding background?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High Relevance != Sufficient Evidence: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A 5-page clinical guide on Type-2 Diabetes scores 0.95 relevance on 'Rahul diabetes prescription' but contains zero patient records.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Deterministic Slot Extraction: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Verify essential schema slots before generation: Patient ID, Doctor Name, Medication Name, Dosage, Date.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The Decision Boundary: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required slots == missing, flag evidence_sufficient = False and trigger a recovery branch (SQL / EHR query) rather than hallucinating.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EVIDENCE SUFFICIENCY EVALUATOR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class EvidenceCheck(BaseModel):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contains_patient_prescription: bool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extracted_medication: Optional[str]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extracted_dosage: Optional[str]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evidence_sufficient: bool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missing_information: list[str]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evaluate_evidence(state: RAGState) -&gt; dict: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prompt = EVIDENCE_PROMPT.format(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query=state['question'],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docs='\n'.join([d.page_content for d in state['documents']])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result = evaluator_llm.with_structured_output(EvidenceCheck).invoke(prompt)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'evidence_sufficient': result.evidence_sufficient,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'missing_slots': result.missing_information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9 of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CONFIDENCE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Tier C: Answer Support, Faithfulness &amp; Citation Auditing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GROUNDING &amp; FAITHFULNESS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Faithfulness Definition: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Are all claims made in the generated answer strictly entailed by the retrieved evidence chunks?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Citation Verification: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Every clinical statement must map directly to an auditable document ID or database primary key [Doc-ID: 412].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Deterministic Fact Checking: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the answer mentions 'Metformin 500mg BD', verify via regex that '500mg' and 'BD' appear in the authorized context chunk.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The Abstention Principle: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the model cannot substantiate a claim from the provided context, the system must abstain ('I do not have access to that record') rather than guess.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SENTENCE-LEVEL GROUNDING 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validate_answer_support(state: RAGState) -&gt; dict: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answer = state['answer']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context = '\n'.join([d.page_content for d in state['documents']])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Sentence-level entailment verification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claims = split_into_claims(answer)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unsupported_claims = []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for claim in claims: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if not check_nli_entailment(premise=context, hypothesis=claim):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    unsupported_claims.append(claim)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    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is_grounded = (len(unsupported_claims) == 0)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{'is_grounded': is_grounded, 'unsupported': unsupported_claims}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10 of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ROUTING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Query Routing: Deterministic vs LLM-Based vs Hybrid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ROUTING STRATEGY: Selecting the right data source before retrieval saves 80% latency and prevents cross-domain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Strategy A: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Regex / Rules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Exact pattern matching for recognized identifiers.</a:t>
            </a:r>
            <a:br/>
            <a:br/>
            <a:r>
              <a:t>Examples: MRN12345 -&gt; SQL; 'ICD-10' -&gt; Medical ontology; 'policy' -&gt; Vector store.</a:t>
            </a:r>
            <a:br/>
            <a:br/>
            <a:r>
              <a:t>Pros: 0ms LLM latency, zero token cost, 100% predictable.</a:t>
            </a:r>
            <a:br/>
            <a:r>
              <a:t>Cons: Brittle on ambiguous natural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41148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Strategy B: LLM-Based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Semantic Classifier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LLM classifies user query into structured route enums.</a:t>
            </a:r>
            <a:br/>
            <a:br/>
            <a:r>
              <a:t>Examples: Complex multi-part intent, colloquial phrasing.</a:t>
            </a:r>
            <a:br/>
            <a:br/>
            <a:r>
              <a:t>Pros: Handles nuance and edge cases.</a:t>
            </a:r>
            <a:br/>
            <a:r>
              <a:t>Cons: Adds 200-500ms latency, costs tokens, can hallucinate unknown routes if not validated.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4747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Strategy C: Hybrid (Production)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Fast-Path + Fallback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Deterministic rules run first on incoming query.</a:t>
            </a:r>
            <a:br/>
            <a:br/>
            <a:r>
              <a:t>If regex/keyword matches: execute fixed route immediately.</a:t>
            </a:r>
            <a:br/>
            <a:r>
              <a:t>If ambiguous: invoke LLM classifier with strict Pydantic validation.</a:t>
            </a:r>
            <a:br/>
            <a:br/>
            <a:r>
              <a:t>Result: 70% of enterprise queries skip LLM classifier.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11 of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ROUTING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Strategy A: Rule-Based Deterministic Fast-Path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PATTERNS &amp; ZERO-COST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Recognizable Entity IDs: </a:t>
            </a:r>
            <a:r>
              <a:rPr b="0" sz="1000">
                <a:solidFill>
                  <a:srgbClr val="334155"/>
                </a:solidFill>
                <a:latin typeface="Segoe UI"/>
              </a:rPr>
              <a:t>Patient Medical Record Numbers (MRN[0-9]{6}), Order IDs, Insurance Claim codes.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Specific Document Codes: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Standard Operating Procedures (SOP-DIAB-04), Hospital Bylaws, ISO numbers.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Keyword Triggers: </a:t>
            </a:r>
            <a:r>
              <a:rPr b="0" sz="1000">
                <a:solidFill>
                  <a:srgbClr val="334155"/>
                </a:solidFill>
                <a:latin typeface="Segoe UI"/>
              </a:rPr>
              <a:t>'Which patients took...', 'Count prescriptions in October' -&gt; SQL Aggregation directly.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Zero Latency Overhead: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Executes in &lt; 1ms in Python memory. No API calls, no network round-trip, no rate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REGEX DETERMINISTIC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import re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MRN_PATTERN = re.compile(r'MRN[0-9]{6}', re.IGNORECASE)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POLICY_KEYWORDS = {'policy', 'guideline', 'sop', 'protocol'}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SQL_KEYWORDS = {'count', 'how many', 'total', 'average', 'list all'}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route_deterministic(query: str) -&gt; Optional[str]: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q_lower = query.lower()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if MRN_PATTERN.search(query):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'sql_clinical_record'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if any(k in q_lower for k in SQL_KEYWORDS) and 'patient' in q_lower: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'sql_clinical_record'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if any(k in q_lower for k in POLICY_KEYWORDS):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'vector_policy_search'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None  # Unambiguous fallback to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12 of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ROUTING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Strategy B: LLM-Based Semantic Routing &amp; Schema Guardrails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CONSTRAINED INTENT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Structured Output Enums: </a:t>
            </a:r>
            <a:r>
              <a:rPr b="0" sz="1000">
                <a:solidFill>
                  <a:srgbClr val="334155"/>
                </a:solidFill>
                <a:latin typeface="Segoe UI"/>
              </a:rPr>
              <a:t>The LLM must output an intent strictly chosen from a Literal / Enum (e.g. `sql`, `vector`, `graph`, `web`).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Entity Extraction in Parallel: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Extracts structured patient name, doctor name, and time ranges in the same classification call.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Route Whitelisting: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Never let the model invent arbitrary route strings like 'execute_root_bash'. The application strictly validates against allowed routes.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Sub-Query Plan: </a:t>
            </a:r>
            <a:r>
              <a:rPr b="0" sz="1000">
                <a:solidFill>
                  <a:srgbClr val="334155"/>
                </a:solidFill>
                <a:latin typeface="Segoe UI"/>
              </a:rPr>
              <a:t>Can identify queries requiring multiple sources (e.g., Prescription -&gt; SQL AND Monitoring -&gt; Policy Doc).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STRUCTURED PYDANTIC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pydantic import BaseModel, Field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typing import Literal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class RouteDecision(BaseModel):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intent: Literal['clinical_sql', 'policy_vector', 'hybrid_dual', 'general_faq']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patient_name: Optional[str] = None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doctor_name: Optional[str] = None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requires_multiple_sources: bool = False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reasoning: str = Field(..., max_length=120)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router_llm = llm.with_structured_output(RouteDecision)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decision = router_llm.invoke(f'Classify query: {user_query}')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Application validates and maps to authorized graph node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assert decision.intent in ['clinical_sql', 'policy_vector', 'hybrid_dual']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13 of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PRODUCTION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Strategy C: The Production Hybrid Router Architecture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PRODUCTION METRIC: Fast-path rules resolve 65-75% of queries in &lt;1ms. Ambiguous queries pass to LLM router. Unvalidated routes are safely aborted.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9260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OPERATIONAL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Massive Latency Reduction: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Eliminates 300-600ms LLM overhead on structured lookups, ticket lookups, and clear document inquiries.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Cost Optimization: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Saves hundreds of thousands of classification tokens per month in high-traffic enterprise deployments.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Deterministic Compliance: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HIPAA and regulated compliance queries (e.g. audit logs) follow audited code paths without LLM stochasticity.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Safe Fallback: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the deterministic rule matches, use it. If not, invoke LLM. If LLM fails or is ambiguous, route to safe clarification or vector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PRODUCTION HYBRID ROUTER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route_query_production(state: RAGState) -&gt; dict: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q = state['question']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1. Fast-Path: Deterministic Check (&lt; 1ms)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fast_route = route_deterministic(q)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if fast_route is not None: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{'route': fast_route, 'router_type': 'deterministic'}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2. Slow-Path: LLM Semantic Classifier (~350ms)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decision = router_llm.invoke(q)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validated_route = map_and_validate(decision.intent)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{'route': validated_route, 'router_type': 'llm_semantic'}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14 of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FRAMEWORK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LangChain vs LangGraph: The Fundamental Difference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LANGCHAIN (TOOLKIT &amp; PIPELINES)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Core Abstraction: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Runnables, Chains, Prompt Templates, Output Parsers, Document Loaders, Vector Stores.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Execution Topology: </a:t>
            </a:r>
            <a:r>
              <a:rPr b="0" sz="1000">
                <a:solidFill>
                  <a:srgbClr val="334155"/>
                </a:solidFill>
                <a:latin typeface="Segoe UI"/>
              </a:rPr>
              <a:t>Directed Acyclic Graphs (DAGs) and linear chains (A -&gt; B -&gt; C).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State Handling: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Transient per-execution context. Hard to manage complex state transitions or cyclic retries.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Suited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Standard linear RAG pipelines, simple tool wrappers, structured output extraction,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LANGGRAPH (ORCHESTRATION ENGINE)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Core Abstraction: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State, Nodes (functions), Edges (transitions), Conditional Edges, Checkpointers.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Execution Topology: </a:t>
            </a:r>
            <a:r>
              <a:rPr b="0" sz="1000">
                <a:solidFill>
                  <a:srgbClr val="334155"/>
                </a:solidFill>
                <a:latin typeface="Segoe UI"/>
              </a:rPr>
              <a:t>Cyclic graphs with loops, recovery paths, branches, and parallel executions.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State Handling: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Explicit centralized Graph State (TypedDict / Pydantic) with defined reducers.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Suited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Adaptive RAG, self-correcting loops, human-in-the-loop approvals, multi-agent workflows.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15 of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LANGCHAIN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LangChain as the Component Toolkit: Building Blocks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SENIOR INSIGHT: LangChain provides the lego bricks (Document, Retriever, Embeddings, LLM). LangGraph builds the 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KEY LANGCHAIN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Chat Models: </a:t>
            </a:r>
            <a:r>
              <a:rPr b="0" sz="1000">
                <a:solidFill>
                  <a:srgbClr val="334155"/>
                </a:solidFill>
                <a:latin typeface="Segoe UI"/>
              </a:rPr>
              <a:t>Unified API across OpenAI, Anthropic, Gemini, Ollama with .invoke() and .stream().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Embeddings: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Standardized vector generation interfaces (OpenAIEmbeddings, HuggingFaceEmbeddings).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VectorStore Retrievers: </a:t>
            </a:r>
            <a:r>
              <a:rPr b="0" sz="1000">
                <a:solidFill>
                  <a:srgbClr val="334155"/>
                </a:solidFill>
                <a:latin typeface="Segoe UI"/>
              </a:rPr>
              <a:t>Abstracts pgvector, Qdrant, Chroma into standard `.get_relevant_documents()` methods.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LCEL (Expression Language): </a:t>
            </a:r>
            <a:r>
              <a:rPr b="0" sz="1000">
                <a:solidFill>
                  <a:srgbClr val="334155"/>
                </a:solidFill>
                <a:latin typeface="Segoe UI"/>
              </a:rPr>
              <a:t>Pipe operator `prompt | llm | StrOutputParser()` for clean functional composition.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LANGCHAIN LCEL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A Standard LangChain LCEL Retrieval Chain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langchain_core.prompts import ChatPromptTemplate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langchain_core.output_parsers import StrOutputParser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langchain_core.runnables import RunnablePassthrough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prompt = ChatPromptTemplate.from_template(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'Context: {context}\n\nQuestion: {question}'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chain = 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{'context': retriever, 'question': RunnablePassthrough()}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| prompt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| chat_model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| StrOutputParser()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Great for simple lookups, but cannot retry if retriever fails!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16 of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LANGGRAPH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LangGraph: Workflow Orchestration, Nodes &amp; Edges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THE 4 CORE LANGGRAPH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1. State: </a:t>
            </a:r>
            <a:r>
              <a:rPr b="0" sz="1000">
                <a:solidFill>
                  <a:srgbClr val="334155"/>
                </a:solidFill>
                <a:latin typeface="Segoe UI"/>
              </a:rPr>
              <a:t>The single source of truth passed between nodes. Defined via `TypedDict` or Pydantic.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2. Nodes: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Python functions that accept `state` and return partial state updates (diffs), not full state mutations.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3. Edges: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Deterministic transitions connecting node A directly to node B (`graph.add_edge('A', 'B')`).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4. Conditional Edges: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Dynamic routing functions inspecting state to choose between multiple target nodes (`add_conditional_edges`).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LANGGRAPH WORKFLOW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langgraph.graph import StateGraph, START, END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workflow = StateGraph(RAGState)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1. Add Nodes (Pure Functions)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workflow.add_node('understand_query', understand_query)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workflow.add_node('retrieve', retrieve_data)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workflow.add_node('evaluate_evidence', evaluate_evidence)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workflow.add_node('generate_answer', generate_answer)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workflow.add_node('rewrite_query', rewrite_query)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2. Add Edges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workflow.add_edge(START, 'understand_query')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workflow.add_edge('understand_query', 'retrieve')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workflow.add_edge('retrieve', 'evaluate_evidence')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workflow.add_edge('generate_answer', END)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3. Compile Graph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app = workflow.compile()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17 of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STATE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Heart of LangGraph: Typed State &amp; Reducers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STATE RULE: Nodes do not mutate shared dictionaries directly. Nodes return state updates, and LangGraph applies them according to reducer annotations.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STATE FIELDS FOR ADAPTIVE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question (str): </a:t>
            </a:r>
            <a:r>
              <a:rPr b="0" sz="1000">
                <a:solidFill>
                  <a:srgbClr val="334155"/>
                </a:solidFill>
                <a:latin typeface="Segoe UI"/>
              </a:rPr>
              <a:t>The raw or re-written user inquiry driving retrieval.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route (str): </a:t>
            </a:r>
            <a:r>
              <a:rPr b="0" sz="1000">
                <a:solidFill>
                  <a:srgbClr val="334155"/>
                </a:solidFill>
                <a:latin typeface="Segoe UI"/>
              </a:rPr>
              <a:t>Selected data pathway: 'clinical_sql', 'policy_vector', 'web'.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documents (list[Document]):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Retrieved and reranked candidate evidence chunks.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evidence_sufficient (bool): </a:t>
            </a:r>
            <a:r>
              <a:rPr b="0" sz="1000">
                <a:solidFill>
                  <a:srgbClr val="334155"/>
                </a:solidFill>
                <a:latin typeface="Segoe UI"/>
              </a:rPr>
              <a:t>Decision flag emitted by the evaluation node.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retry_count (int):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Execution counter preventing runaway infinite loops.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answer (str): </a:t>
            </a:r>
            <a:r>
              <a:rPr b="0" sz="1000">
                <a:solidFill>
                  <a:srgbClr val="334155"/>
                </a:solidFill>
                <a:latin typeface="Segoe UI"/>
              </a:rPr>
              <a:t>Synthesized grounded answer or safe abstention statement.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TYPED GRAPH STATE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typing import TypedDict, Annotated, Sequence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import operator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langchain_core.documents import Document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class RAGState(TypedDict):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question: str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route: str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operator.add appends new docs across parallel branches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documents: Annotated[Sequence[Document], operator.add]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evidence_sufficient: bool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retry_count: int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max_retries: int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answer: Optional[str]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citations: list[str]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abstain_reason: Optional[str]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18 of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Designing the Complete Adaptive RAG Topology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GRAPH TOPOLOGY: START -&gt; Understand Query -&gt; Route Query -&gt; [Parallel Retrieve] -&gt; Rerank -&gt; Evaluate Evidence -&gt; Conditional 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BRANCHING &amp; DECISION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Multi-Branch Retrieval: </a:t>
            </a:r>
            <a:r>
              <a:rPr b="0" sz="1000">
                <a:solidFill>
                  <a:srgbClr val="334155"/>
                </a:solidFill>
                <a:latin typeface="Segoe UI"/>
              </a:rPr>
              <a:t>Query routing triggers dedicated nodes: `vector_policy_search`, `sql_clinical_lookup`, or both in parallel.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Cross-Encoder Rerank Node: </a:t>
            </a:r>
            <a:r>
              <a:rPr b="0" sz="1000">
                <a:solidFill>
                  <a:srgbClr val="334155"/>
                </a:solidFill>
                <a:latin typeface="Segoe UI"/>
              </a:rPr>
              <a:t>Gathers outputs from all retrievers, runs cross-encoder reranking, and prunes low-confidence candidates.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Evidence Evaluation: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Checks for required entity slots. Emits `sufficient = True` or `sufficient = False`.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The Dynamic Switch: </a:t>
            </a:r>
            <a:r>
              <a:rPr b="0" sz="1000">
                <a:solidFill>
                  <a:srgbClr val="334155"/>
                </a:solidFill>
                <a:latin typeface="Segoe UI"/>
              </a:rPr>
              <a:t>Conditional edge inspects state and branches to `generate_answer`, `rewrite_query`, or `abstain`.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CONDITIONAL RECOVERY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route_after_evaluation(state: RAGState) -&gt; str: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if state['evidence_sufficient']: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'generate_answer'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elif state['retry_count'] &lt; state['max_retries']: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'rewrite_query'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else: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'abstain'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workflow.add_conditional_edges(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'evaluate_evidence',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route_after_evaluation,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'generate_answer': 'generate_answer',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'rewrite_query': 'rewrite_query',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'abstain': 'abstain'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19 of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SELF-CORRECTION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Recovery Loop: Diagnosing Root Cause Before Retrying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SENIOR PRINCIPLE: A retry is ONLY useful if it alters something meaningful. Never repeat an identical query against the same index!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0360152" cy="548640"/>
          </a:xfrm>
          <a:prstGeom prst="roundRect">
            <a:avLst/>
          </a:prstGeom>
          <a:solidFill>
            <a:srgbClr val="F0F9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Observed Failure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860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Architectural Recovery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39"/>
            <a:ext cx="10360152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7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Query contains ambiguous pronoun ('his dosage')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334155"/>
                </a:solidFill>
              </a:defRPr>
            </a:pPr>
            <a:r>
              <a:t>Loss of conversational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92607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Rewrite query incorporating chat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74720"/>
            <a:ext cx="10360152" cy="548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Exact patient record missing in Vector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661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334155"/>
                </a:solidFill>
              </a:defRPr>
            </a:pPr>
            <a:r>
              <a:t>Unstructured embedding blindspot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566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Reroute to SQL database with normalized Patient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10360152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Retrieved documents disagree on dosage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334155"/>
                </a:solidFill>
              </a:defRPr>
            </a:pPr>
            <a:r>
              <a:t>Conflicting policy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2062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Retrieve authoritative version metadata; expose conflict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54879"/>
            <a:ext cx="10360152" cy="548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8463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LLM invents wrong dosage despite correct chunk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84631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Generation hallucination (Stage 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4631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Fix prompt constraints, set temp=0.0; do NOT re-retrieve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94960"/>
            <a:ext cx="10360152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486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Data simply does not exist anywhere in EHR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486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334155"/>
                </a:solidFill>
              </a:defRPr>
            </a:pPr>
            <a:r>
              <a:t>Information absence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4864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Abstain gracefully ('No record found') immediately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20 of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PRODUCTION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Controlled Bounded Execution: The Retry Budget &amp; Abstention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THE RECURSION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Why Unbounded Graphs Crash: </a:t>
            </a:r>
            <a:r>
              <a:rPr b="0" sz="1000">
                <a:solidFill>
                  <a:srgbClr val="334155"/>
                </a:solidFill>
                <a:latin typeface="Segoe UI"/>
              </a:rPr>
              <a:t>Without an explicit `retry_count`, an unsatisfied evaluation node creates an infinite loop, exhausting API quotas and hanging servers.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The Retry Budget: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Strictly limit recovery attempts (typically `max_retries = 2`). Each retry must mutate state (e.g. `retry_count += 1`).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Terminal Fallback Node: </a:t>
            </a:r>
            <a:r>
              <a:rPr b="0" sz="1000">
                <a:solidFill>
                  <a:srgbClr val="334155"/>
                </a:solidFill>
                <a:latin typeface="Segoe UI"/>
              </a:rPr>
              <a:t>When `retry_count &gt;= max_retries`, route deterministically to `abstain` node.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Safe Medical Abstention: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In healthcare, saying 'I cannot confirm the prescription from authorized records' is 1000x safer than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BOUNDED REWRITE &amp; ABSTAIN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rewrite_query(state: RAGState) -&gt; dict: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current_retries = state.get('retry_count', 0)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new_count = current_retries + 1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Reformulate query to target missing slots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reformulated = rewriter_llm.invoke({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'question': state['question'],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'missing_info': state['missing_slots']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'question': reformulated,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'retry_count': new_count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abstain(state: RAGState) -&gt; dict: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'answer': 'Unable to find verified medical records answering your request. Please consult the attending physician.',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'citations': []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21 of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REAL-WORLD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Healthcare Case Study: Multi-Source Dual Query Decomposition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QUERY: 'What medication did Dr. Smith prescribe to Rahul during his latest consultation, and what does our hospital's diabetes policy say about monitoring?'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BRANCH 1: CLINICAL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Target Source: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PostgreSQL Relational EHR / FHIR clinical database.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Retrieval Method: </a:t>
            </a:r>
            <a:r>
              <a:rPr b="0" sz="1000">
                <a:solidFill>
                  <a:srgbClr val="334155"/>
                </a:solidFill>
                <a:latin typeface="Segoe UI"/>
              </a:rPr>
              <a:t>Parameterized SQL query matching Patient = 'Rahul', Doctor = 'Dr. Smith', ORDER BY date DESC LIMIT 1.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Returned Evidence: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Exact structured record: `Metformin 500mg PO BID`, Prescribed: 2026-10-24.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Security Check: </a:t>
            </a:r>
            <a:r>
              <a:rPr b="0" sz="1000">
                <a:solidFill>
                  <a:srgbClr val="334155"/>
                </a:solidFill>
                <a:latin typeface="Segoe UI"/>
              </a:rPr>
              <a:t>Enforce role-based clinician authorization before executing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BRANCH 2: HOSPITAL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Target Source: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Hospital Clinical Guidelines Vector Store (pgvector / Chroma).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Retrieval Method: </a:t>
            </a:r>
            <a:r>
              <a:rPr b="0" sz="1000">
                <a:solidFill>
                  <a:srgbClr val="334155"/>
                </a:solidFill>
                <a:latin typeface="Segoe UI"/>
              </a:rPr>
              <a:t>Hybrid HNSW Dense + BM25 lexical search with Cross-Encoder reranking.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Returned Evidence: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SOP Section 4.2: 'Type-2 Diabetes monitoring requires quarterly HbA1c and bi-weekly glucose logs.'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Final Context Assembly: </a:t>
            </a:r>
            <a:r>
              <a:rPr b="0" sz="1000">
                <a:solidFill>
                  <a:srgbClr val="334155"/>
                </a:solidFill>
                <a:latin typeface="Segoe UI"/>
              </a:rPr>
              <a:t>Merges Branch 1 + Branch 2 for unified, grounded LLM synthesis with auditable citations.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22 of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TOOL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Tool Integration: Connecting Multi-Modal Data Systems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THE ENTERPRISE TOOL BELT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SQL Clinical Tool: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Executes parameterized read-only queries against normalized relational databases. Perfect for aggregations, dates, and exact IDs.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Vector Store Tool: </a:t>
            </a:r>
            <a:r>
              <a:rPr b="0" sz="1000">
                <a:solidFill>
                  <a:srgbClr val="334155"/>
                </a:solidFill>
                <a:latin typeface="Segoe UI"/>
              </a:rPr>
              <a:t>Queries chunked unstructured PDFs, standard guidelines, and medical literature using hybrid search + cross-encoder.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Knowledge Graph Tool: </a:t>
            </a:r>
            <a:r>
              <a:rPr b="0" sz="1000">
                <a:solidFill>
                  <a:srgbClr val="334155"/>
                </a:solidFill>
                <a:latin typeface="Segoe UI"/>
              </a:rPr>
              <a:t>Traverses Neo4j property graphs using Cypher queries to uncover complex multi-hop relationships (e.g. Drug -&gt; InteractsWith -&gt; Food).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Safe Tool Interfaces: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Every tool enforces strict input schemas via Pydantic and returns standardized `Document`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PARAMETERIZED SQL TOOL WRAPPER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@tool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def clinical_sql_lookup(patient_name: str, doctor_name: str) -&gt; str: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'''Fetch authorized prescription records for patient.'''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query = '''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SELECT medication, dosage, date_prescribed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FROM prescriptions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WHERE patient_name = %s AND doctor_name = %s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ORDER BY date_prescribed DESC LIMIT 1;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'''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# Parameterized execution prevents SQL injection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with db_pool.cursor() as cur: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cur.execute(query, (patient_name, doctor_name))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  record = cur.fetchone()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        return f'Medication: {record[0]}, Dose: {record[1]}'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23 of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PRODUCTION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Enterprise Guardrails: HIPAA, RBAC &amp; Prompt Injection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SECURITY MANDATE: A workflow orchestrator does NOT guarantee security automatically. Guardrails must be enforced at tool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1. Role-Based Access (RBAC)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Validate user auth tokens before calling clinical tools. Clinicians access only patients under their assigned 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2. Parameterized Queries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Never allow LLMs to generate raw executable SQL strings. Force query parameters through prepared statements.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3. Anti-Prompt Injection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Sanitize retrieved chunks before prompt insertion. Attackers can hide 'Ignore previous instructions' inside hospital policy docs.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E40AF"/>
                </a:solidFill>
              </a:defRPr>
            </a:pPr>
            <a:r>
              <a:t>4. Audit &amp; Provenance Logs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Maintain an immutable log of every tool call, retrieved document ID, router decision, and user ID for clinical compliance.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24 of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OBSERVABILITY &amp;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Observability &amp; Evaluation: The Production RAG Triad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THE RAG EVALUATION TRIAD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Context Relevance: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Does the retrieved context contain ONLY information needed to answer the question, with minimal irrelevant noise?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Groundedness (Faithfulness): </a:t>
            </a:r>
            <a:r>
              <a:rPr b="0" sz="1000">
                <a:solidFill>
                  <a:srgbClr val="334155"/>
                </a:solidFill>
                <a:latin typeface="Segoe UI"/>
              </a:rPr>
              <a:t>Are all factual statements in the generated response derived directly from the retrieved context?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Answer Relevance: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Does the final response directly and completely answer the original inquiry without drifting?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OpenTelemetry &amp; Tracing: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Log node execution latencies, token consumption, and intermediate route transitions using LangSmith or Arize Phoenix.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LANGGRAPH CHECKPOINTING &amp; 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Production Tracing with LangGraph &amp; OpenTelemetry</a:t>
            </a:r>
          </a:p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from langgraph.checkpoint.memory import MemorySaver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memory = MemorySaver()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app = workflow.compile(checkpointer=memory)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Thread config enables state persistence &amp; auditing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config = {'configurable': {'thread_id': 'session_rahul_99'}}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events = app.stream(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{'question': 'Medication for Rahul?'},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config=config,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stream_mode='values'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for event in events: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log_telemetry(step=event.get('route'), state=event)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25 of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Day 6 Summary: The Adaptive RAG Production Blueprint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MASTER SUMMARY: From rigid naive chains to resilient, stateful, self-correcting graphs. True confidence is multi-tiered and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CORE ENGINEERING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1. Hybrid Fusion (RRF): </a:t>
            </a:r>
            <a:r>
              <a:rPr b="0" sz="1000">
                <a:solidFill>
                  <a:srgbClr val="334155"/>
                </a:solidFill>
                <a:latin typeface="Segoe UI"/>
              </a:rPr>
              <a:t>Always combine Dense ANN + Sparse BM25 via Reciprocal Rank Fusion for resilient candidate retrieval.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2. 3-Tier Confidence: </a:t>
            </a:r>
            <a:r>
              <a:rPr b="0" sz="1000">
                <a:solidFill>
                  <a:srgbClr val="334155"/>
                </a:solidFill>
                <a:latin typeface="Segoe UI"/>
              </a:rPr>
              <a:t>Separately measure Retrieval Match, Evidence Sufficiency, and Answer Grounding.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3. Hybrid Routing: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Fast deterministic rules for recognized patterns; LLM classification with strict enums for ambiguous queries.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4. LangGraph Orchestration: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Use StateGraph to model stateful, cyclic recovery workflows with strict retry bounds and safe abstention.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LOOKING AHEAD: DAY 7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7 Focus: Enterprise Capstone: </a:t>
            </a:r>
            <a:r>
              <a:rPr b="0" sz="1000">
                <a:solidFill>
                  <a:srgbClr val="334155"/>
                </a:solidFill>
                <a:latin typeface="Segoe UI"/>
              </a:rPr>
              <a:t>Full-scale Healthcare RAG + Knowledge Graph with real PostgreSQL + Neo4j integration.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Multi-Agent Collaboration: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Researcher Agent, Evaluator Agent, and Clinician Verifier Agent coordinating in LangGraph.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Streaming UI Integration: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Connecting the LangGraph execution stream to modern React and Vercel AI SDK chat interfaces.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Production Readiness: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Dockerized deployment, HIPAA security audit, and automated Ragas benchmark CI/CD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6: Advanced RAG, Adaptive Routing &amp; Workflow Orchestration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26 of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